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heme/themeOverride1.xml" ContentType="application/vnd.openxmlformats-officedocument.themeOverride+xml"/>
  <Override PartName="/ppt/notesSlides/notesSlide14.xml" ContentType="application/vnd.openxmlformats-officedocument.presentationml.notesSlide+xml"/>
  <Override PartName="/ppt/theme/themeOverride2.xml" ContentType="application/vnd.openxmlformats-officedocument.themeOverr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271" r:id="rId2"/>
    <p:sldId id="263" r:id="rId3"/>
    <p:sldId id="274" r:id="rId4"/>
    <p:sldId id="275" r:id="rId5"/>
    <p:sldId id="276" r:id="rId6"/>
    <p:sldId id="277" r:id="rId7"/>
    <p:sldId id="281" r:id="rId8"/>
    <p:sldId id="283" r:id="rId9"/>
    <p:sldId id="282" r:id="rId10"/>
    <p:sldId id="280" r:id="rId11"/>
    <p:sldId id="278" r:id="rId12"/>
    <p:sldId id="286" r:id="rId13"/>
    <p:sldId id="279" r:id="rId14"/>
    <p:sldId id="285" r:id="rId15"/>
    <p:sldId id="284" r:id="rId16"/>
    <p:sldId id="287" r:id="rId17"/>
    <p:sldId id="288" r:id="rId18"/>
    <p:sldId id="289" r:id="rId19"/>
    <p:sldId id="290" r:id="rId20"/>
    <p:sldId id="291" r:id="rId21"/>
    <p:sldId id="293" r:id="rId22"/>
    <p:sldId id="294" r:id="rId23"/>
    <p:sldId id="292" r:id="rId24"/>
    <p:sldId id="296" r:id="rId25"/>
    <p:sldId id="295" r:id="rId26"/>
    <p:sldId id="273" r:id="rId27"/>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4F6C"/>
    <a:srgbClr val="024E6A"/>
    <a:srgbClr val="B0D261"/>
    <a:srgbClr val="024F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73294" autoAdjust="0"/>
  </p:normalViewPr>
  <p:slideViewPr>
    <p:cSldViewPr snapToGrid="0">
      <p:cViewPr varScale="1">
        <p:scale>
          <a:sx n="83" d="100"/>
          <a:sy n="83" d="100"/>
        </p:scale>
        <p:origin x="1674" y="9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70" d="100"/>
        <a:sy n="7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3B0715-2E07-4B30-82A4-29BE9219FCBD}" type="datetimeFigureOut">
              <a:rPr lang="zh-TW" altLang="en-US" smtClean="0"/>
              <a:t>2026/6/8</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E9BC23-93E8-4651-9E75-C60AC50B8C12}" type="slidenum">
              <a:rPr lang="zh-TW" altLang="en-US" smtClean="0"/>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TW" b="0" i="0" dirty="0">
                <a:solidFill>
                  <a:srgbClr val="303233"/>
                </a:solidFill>
                <a:effectLst/>
                <a:latin typeface="Lato" panose="020F0502020204030203" pitchFamily="34" charset="0"/>
              </a:rPr>
              <a:t>Throwable(</a:t>
            </a:r>
            <a:r>
              <a:rPr lang="zh-TW" altLang="en-US" b="0" i="0" dirty="0">
                <a:solidFill>
                  <a:srgbClr val="303233"/>
                </a:solidFill>
                <a:effectLst/>
                <a:latin typeface="Lato" panose="020F0502020204030203" pitchFamily="34" charset="0"/>
              </a:rPr>
              <a:t>全部例外處理的父類</a:t>
            </a:r>
            <a:r>
              <a:rPr lang="en-US" altLang="zh-TW" b="0" i="0" dirty="0">
                <a:solidFill>
                  <a:srgbClr val="303233"/>
                </a:solidFill>
                <a:effectLst/>
                <a:latin typeface="Lato" panose="020F0502020204030203" pitchFamily="34" charset="0"/>
              </a:rPr>
              <a:t>)</a:t>
            </a:r>
          </a:p>
          <a:p>
            <a:pPr algn="l">
              <a:buFont typeface="Arial" panose="020B0604020202020204" pitchFamily="34" charset="0"/>
              <a:buChar char="•"/>
            </a:pPr>
            <a:endParaRPr lang="en-US" altLang="zh-TW" dirty="0"/>
          </a:p>
          <a:p>
            <a:pPr algn="l">
              <a:buFont typeface="Arial" panose="020B0604020202020204" pitchFamily="34" charset="0"/>
              <a:buChar char="•"/>
            </a:pPr>
            <a:r>
              <a:rPr lang="en-US" altLang="zh-TW" b="0" i="0" dirty="0">
                <a:solidFill>
                  <a:srgbClr val="000000"/>
                </a:solidFill>
                <a:effectLst/>
                <a:latin typeface="Times New Roman" panose="02020603050405020304" pitchFamily="18" charset="0"/>
              </a:rPr>
              <a:t>java</a:t>
            </a:r>
            <a:r>
              <a:rPr lang="zh-TW" altLang="en-US" b="0" i="0" dirty="0">
                <a:solidFill>
                  <a:srgbClr val="000000"/>
                </a:solidFill>
                <a:effectLst/>
                <a:latin typeface="Times New Roman" panose="02020603050405020304" pitchFamily="18" charset="0"/>
              </a:rPr>
              <a:t>產生的例外是一個物件，屬於</a:t>
            </a:r>
            <a:r>
              <a:rPr lang="en-US" altLang="zh-TW" b="0" i="0" dirty="0">
                <a:solidFill>
                  <a:srgbClr val="000000"/>
                </a:solidFill>
                <a:effectLst/>
                <a:latin typeface="Times New Roman" panose="02020603050405020304" pitchFamily="18" charset="0"/>
              </a:rPr>
              <a:t>Throwable</a:t>
            </a:r>
            <a:r>
              <a:rPr lang="zh-TW" altLang="en-US" b="0" i="0" dirty="0">
                <a:solidFill>
                  <a:srgbClr val="000000"/>
                </a:solidFill>
                <a:effectLst/>
                <a:latin typeface="Times New Roman" panose="02020603050405020304" pitchFamily="18" charset="0"/>
              </a:rPr>
              <a:t>類別或其子類別的物件。</a:t>
            </a:r>
            <a:r>
              <a:rPr lang="zh-TW" altLang="en-US" dirty="0"/>
              <a:t/>
            </a:r>
            <a:br>
              <a:rPr lang="zh-TW" altLang="en-US" dirty="0"/>
            </a:br>
            <a:endParaRPr lang="zh-TW" altLang="en-US" dirty="0"/>
          </a:p>
        </p:txBody>
      </p:sp>
      <p:sp>
        <p:nvSpPr>
          <p:cNvPr id="4" name="投影片編號版面配置區 3"/>
          <p:cNvSpPr>
            <a:spLocks noGrp="1"/>
          </p:cNvSpPr>
          <p:nvPr>
            <p:ph type="sldNum" sz="quarter" idx="5"/>
          </p:nvPr>
        </p:nvSpPr>
        <p:spPr/>
        <p:txBody>
          <a:bodyPr/>
          <a:lstStyle/>
          <a:p>
            <a:fld id="{5DE9BC23-93E8-4651-9E75-C60AC50B8C12}" type="slidenum">
              <a:rPr lang="zh-TW" altLang="en-US" smtClean="0"/>
              <a:t>4</a:t>
            </a:fld>
            <a:endParaRPr lang="zh-TW" altLang="en-US"/>
          </a:p>
        </p:txBody>
      </p:sp>
    </p:spTree>
    <p:extLst>
      <p:ext uri="{BB962C8B-B14F-4D97-AF65-F5344CB8AC3E}">
        <p14:creationId xmlns:p14="http://schemas.microsoft.com/office/powerpoint/2010/main" val="40872505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buFont typeface="Arial" panose="020B0604020202020204" pitchFamily="34" charset="0"/>
              <a:buChar char="•"/>
            </a:pPr>
            <a:r>
              <a:rPr lang="en-US" altLang="zh-TW" b="1" i="0" dirty="0">
                <a:solidFill>
                  <a:srgbClr val="000000"/>
                </a:solidFill>
                <a:effectLst/>
                <a:latin typeface="Times New Roman" panose="02020603050405020304" pitchFamily="18" charset="0"/>
              </a:rPr>
              <a:t>Error</a:t>
            </a:r>
            <a:r>
              <a:rPr lang="zh-TW" altLang="en-US" b="1" i="0" dirty="0">
                <a:solidFill>
                  <a:srgbClr val="000000"/>
                </a:solidFill>
                <a:effectLst/>
                <a:latin typeface="Times New Roman" panose="02020603050405020304" pitchFamily="18" charset="0"/>
              </a:rPr>
              <a:t>類別</a:t>
            </a:r>
          </a:p>
          <a:p>
            <a:pPr algn="l">
              <a:buFont typeface="Arial" panose="020B0604020202020204" pitchFamily="34" charset="0"/>
              <a:buChar char="•"/>
            </a:pPr>
            <a:r>
              <a:rPr lang="zh-TW" altLang="en-US" b="0" i="0" dirty="0">
                <a:solidFill>
                  <a:srgbClr val="000000"/>
                </a:solidFill>
                <a:effectLst/>
                <a:latin typeface="Times New Roman" panose="02020603050405020304" pitchFamily="18" charset="0"/>
              </a:rPr>
              <a:t>其子類別屬於</a:t>
            </a:r>
            <a:r>
              <a:rPr lang="en-US" altLang="zh-TW" b="0" i="0" dirty="0">
                <a:solidFill>
                  <a:srgbClr val="000000"/>
                </a:solidFill>
                <a:effectLst/>
                <a:latin typeface="Times New Roman" panose="02020603050405020304" pitchFamily="18" charset="0"/>
              </a:rPr>
              <a:t>JVM</a:t>
            </a:r>
            <a:r>
              <a:rPr lang="zh-TW" altLang="en-US" b="0" i="0" dirty="0">
                <a:solidFill>
                  <a:srgbClr val="000000"/>
                </a:solidFill>
                <a:effectLst/>
                <a:latin typeface="Times New Roman" panose="02020603050405020304" pitchFamily="18" charset="0"/>
              </a:rPr>
              <a:t>嚴重錯誤，程式會直接終止，沒有辦法使用例外處理。</a:t>
            </a:r>
            <a:endParaRPr lang="en-US" altLang="zh-TW" b="0" i="0" dirty="0">
              <a:solidFill>
                <a:srgbClr val="000000"/>
              </a:solidFill>
              <a:effectLst/>
              <a:latin typeface="Times New Roman" panose="02020603050405020304" pitchFamily="18" charset="0"/>
            </a:endParaRPr>
          </a:p>
          <a:p>
            <a:pPr algn="l">
              <a:buFont typeface="Arial" panose="020B0604020202020204" pitchFamily="34" charset="0"/>
              <a:buChar char="•"/>
            </a:pPr>
            <a:r>
              <a:rPr lang="zh-TW" altLang="en-US" dirty="0">
                <a:effectLst/>
              </a:rPr>
              <a:t>常見的有：</a:t>
            </a:r>
            <a:endParaRPr lang="en-US" altLang="zh-TW" dirty="0">
              <a:effectLst/>
            </a:endParaRPr>
          </a:p>
          <a:p>
            <a:pPr algn="l">
              <a:buFont typeface="Arial" panose="020B0604020202020204" pitchFamily="34" charset="0"/>
              <a:buChar char="•"/>
            </a:pPr>
            <a:r>
              <a:rPr lang="en-US" altLang="zh-TW" dirty="0" err="1">
                <a:effectLst/>
              </a:rPr>
              <a:t>OutOfMemoryError</a:t>
            </a:r>
            <a:r>
              <a:rPr lang="zh-TW" altLang="en-US" dirty="0">
                <a:effectLst/>
              </a:rPr>
              <a:t>記憶體不足</a:t>
            </a:r>
            <a:endParaRPr lang="en-US" altLang="zh-TW" dirty="0">
              <a:effectLst/>
            </a:endParaRPr>
          </a:p>
          <a:p>
            <a:pPr algn="l">
              <a:buFont typeface="Arial" panose="020B0604020202020204" pitchFamily="34" charset="0"/>
              <a:buChar char="•"/>
            </a:pPr>
            <a:r>
              <a:rPr lang="en-US" altLang="zh-TW" dirty="0" err="1">
                <a:effectLst/>
              </a:rPr>
              <a:t>StackOverflowError</a:t>
            </a:r>
            <a:r>
              <a:rPr lang="zh-TW" altLang="en-US" dirty="0">
                <a:effectLst/>
              </a:rPr>
              <a:t>重複迴圈數過多</a:t>
            </a:r>
            <a:endParaRPr lang="en-US" altLang="zh-TW" dirty="0">
              <a:effectLst/>
            </a:endParaRPr>
          </a:p>
          <a:p>
            <a:pPr algn="l">
              <a:buFont typeface="Arial" panose="020B0604020202020204" pitchFamily="34" charset="0"/>
              <a:buChar char="•"/>
            </a:pPr>
            <a:r>
              <a:rPr lang="en-US" altLang="zh-TW" dirty="0" err="1">
                <a:effectLst/>
              </a:rPr>
              <a:t>NoClassDefFoundError</a:t>
            </a:r>
            <a:r>
              <a:rPr lang="zh-TW" altLang="en-US" dirty="0">
                <a:effectLst/>
              </a:rPr>
              <a:t>找不到</a:t>
            </a:r>
            <a:r>
              <a:rPr lang="en-US" altLang="zh-TW" dirty="0">
                <a:effectLst/>
              </a:rPr>
              <a:t>class</a:t>
            </a:r>
            <a:r>
              <a:rPr lang="zh-TW" altLang="en-US" dirty="0">
                <a:effectLst/>
              </a:rPr>
              <a:t>檔</a:t>
            </a:r>
            <a:endParaRPr lang="en-US" altLang="zh-TW" b="0" i="0" dirty="0">
              <a:solidFill>
                <a:srgbClr val="000000"/>
              </a:solidFill>
              <a:effectLst/>
              <a:latin typeface="Times New Roman" panose="02020603050405020304" pitchFamily="18" charset="0"/>
            </a:endParaRPr>
          </a:p>
          <a:p>
            <a:pPr algn="l">
              <a:buFont typeface="Arial" panose="020B0604020202020204" pitchFamily="34" charset="0"/>
              <a:buChar char="•"/>
            </a:pPr>
            <a:endParaRPr lang="en-US" altLang="zh-TW" b="0" i="0" dirty="0">
              <a:solidFill>
                <a:srgbClr val="000000"/>
              </a:solidFill>
              <a:effectLst/>
              <a:latin typeface="Times New Roman" panose="02020603050405020304" pitchFamily="18" charset="0"/>
            </a:endParaRPr>
          </a:p>
          <a:p>
            <a:pPr algn="l">
              <a:buFont typeface="Arial" panose="020B0604020202020204" pitchFamily="34" charset="0"/>
              <a:buChar char="•"/>
            </a:pPr>
            <a:endParaRPr lang="zh-TW" altLang="en-US" b="0" i="0" dirty="0">
              <a:solidFill>
                <a:srgbClr val="000000"/>
              </a:solidFill>
              <a:effectLst/>
              <a:latin typeface="Times New Roman" panose="02020603050405020304" pitchFamily="18" charset="0"/>
            </a:endParaRPr>
          </a:p>
          <a:p>
            <a:pPr algn="l">
              <a:buFont typeface="Arial" panose="020B0604020202020204" pitchFamily="34" charset="0"/>
              <a:buChar char="•"/>
            </a:pPr>
            <a:r>
              <a:rPr lang="en-US" altLang="zh-TW" b="1" i="0" dirty="0">
                <a:solidFill>
                  <a:srgbClr val="000000"/>
                </a:solidFill>
                <a:effectLst/>
                <a:latin typeface="Times New Roman" panose="02020603050405020304" pitchFamily="18" charset="0"/>
              </a:rPr>
              <a:t>Exception</a:t>
            </a:r>
            <a:r>
              <a:rPr lang="zh-TW" altLang="en-US" b="1" i="0" dirty="0">
                <a:solidFill>
                  <a:srgbClr val="000000"/>
                </a:solidFill>
                <a:effectLst/>
                <a:latin typeface="Times New Roman" panose="02020603050405020304" pitchFamily="18" charset="0"/>
              </a:rPr>
              <a:t>類別</a:t>
            </a:r>
          </a:p>
          <a:p>
            <a:pPr algn="l">
              <a:buFont typeface="Arial" panose="020B0604020202020204" pitchFamily="34" charset="0"/>
              <a:buChar char="•"/>
            </a:pPr>
            <a:r>
              <a:rPr lang="zh-TW" altLang="en-US" b="0" i="0" dirty="0">
                <a:solidFill>
                  <a:srgbClr val="000000"/>
                </a:solidFill>
                <a:effectLst/>
                <a:latin typeface="Times New Roman" panose="02020603050405020304" pitchFamily="18" charset="0"/>
              </a:rPr>
              <a:t>其子類別為各種例外物件，即例外處理可以處理的部分。以下為常見的例外：</a:t>
            </a:r>
            <a:br>
              <a:rPr lang="zh-TW" altLang="en-US" b="0" i="0" dirty="0">
                <a:solidFill>
                  <a:srgbClr val="000000"/>
                </a:solidFill>
                <a:effectLst/>
                <a:latin typeface="Times New Roman" panose="02020603050405020304" pitchFamily="18" charset="0"/>
              </a:rPr>
            </a:br>
            <a:r>
              <a:rPr lang="zh-TW" altLang="en-US" b="0" i="0" dirty="0">
                <a:solidFill>
                  <a:srgbClr val="000000"/>
                </a:solidFill>
                <a:effectLst/>
                <a:latin typeface="Times New Roman" panose="02020603050405020304" pitchFamily="18" charset="0"/>
              </a:rPr>
              <a:t/>
            </a:r>
            <a:br>
              <a:rPr lang="zh-TW" altLang="en-US" b="0" i="0" dirty="0">
                <a:solidFill>
                  <a:srgbClr val="000000"/>
                </a:solidFill>
                <a:effectLst/>
                <a:latin typeface="Times New Roman" panose="02020603050405020304" pitchFamily="18" charset="0"/>
              </a:rPr>
            </a:br>
            <a:r>
              <a:rPr lang="zh-TW" altLang="en-US" dirty="0">
                <a:effectLst/>
              </a:rPr>
              <a:t>常見的有：</a:t>
            </a:r>
            <a:endParaRPr lang="en-US" altLang="zh-TW" dirty="0">
              <a:effectLst/>
            </a:endParaRPr>
          </a:p>
          <a:p>
            <a:pPr algn="l">
              <a:buFont typeface="Arial" panose="020B0604020202020204" pitchFamily="34" charset="0"/>
              <a:buChar char="•"/>
            </a:pPr>
            <a:r>
              <a:rPr lang="en-US" altLang="zh-TW" b="0" i="0" dirty="0" err="1">
                <a:solidFill>
                  <a:srgbClr val="000000"/>
                </a:solidFill>
                <a:effectLst/>
                <a:latin typeface="Times New Roman" panose="02020603050405020304" pitchFamily="18" charset="0"/>
              </a:rPr>
              <a:t>ArithmeticException</a:t>
            </a:r>
            <a:r>
              <a:rPr lang="zh-TW" altLang="en-US" b="0" i="0" dirty="0">
                <a:solidFill>
                  <a:srgbClr val="000000"/>
                </a:solidFill>
                <a:effectLst/>
                <a:latin typeface="Times New Roman" panose="02020603050405020304" pitchFamily="18" charset="0"/>
              </a:rPr>
              <a:t>數學運算時產生的例外 </a:t>
            </a:r>
            <a:r>
              <a:rPr lang="en-US" altLang="zh-TW" b="0" i="0" dirty="0">
                <a:solidFill>
                  <a:srgbClr val="000000"/>
                </a:solidFill>
                <a:effectLst/>
                <a:latin typeface="Times New Roman" panose="02020603050405020304" pitchFamily="18" charset="0"/>
              </a:rPr>
              <a:t>=&gt;</a:t>
            </a:r>
            <a:r>
              <a:rPr lang="zh-TW" altLang="en-US" b="0" i="0" dirty="0">
                <a:solidFill>
                  <a:srgbClr val="303233"/>
                </a:solidFill>
                <a:effectLst/>
                <a:latin typeface="Lato" panose="020F0502020204030203" pitchFamily="34" charset="0"/>
              </a:rPr>
              <a:t>除數為</a:t>
            </a:r>
            <a:r>
              <a:rPr lang="en-US" altLang="zh-TW" b="0" i="0" dirty="0">
                <a:solidFill>
                  <a:srgbClr val="303233"/>
                </a:solidFill>
                <a:effectLst/>
                <a:latin typeface="Lato" panose="020F0502020204030203" pitchFamily="34" charset="0"/>
              </a:rPr>
              <a:t>0</a:t>
            </a:r>
            <a:endParaRPr lang="en-US" altLang="zh-TW" b="0" i="0" dirty="0">
              <a:solidFill>
                <a:srgbClr val="000000"/>
              </a:solidFill>
              <a:effectLst/>
              <a:latin typeface="Times New Roman" panose="02020603050405020304" pitchFamily="18" charset="0"/>
            </a:endParaRPr>
          </a:p>
          <a:p>
            <a:pPr algn="l">
              <a:buFont typeface="Arial" panose="020B0604020202020204" pitchFamily="34" charset="0"/>
              <a:buChar char="•"/>
            </a:pPr>
            <a:r>
              <a:rPr lang="en-US" altLang="zh-TW" b="0" i="0" dirty="0" err="1">
                <a:solidFill>
                  <a:srgbClr val="000000"/>
                </a:solidFill>
                <a:effectLst/>
                <a:latin typeface="Times New Roman" panose="02020603050405020304" pitchFamily="18" charset="0"/>
              </a:rPr>
              <a:t>ArrayIndexOutOfBoundsException</a:t>
            </a:r>
            <a:r>
              <a:rPr lang="zh-TW" altLang="en-US" b="0" i="0" dirty="0">
                <a:solidFill>
                  <a:srgbClr val="000000"/>
                </a:solidFill>
                <a:effectLst/>
                <a:latin typeface="Times New Roman" panose="02020603050405020304" pitchFamily="18" charset="0"/>
              </a:rPr>
              <a:t>陣列索引值小於</a:t>
            </a:r>
            <a:r>
              <a:rPr lang="en-US" altLang="zh-TW" b="0" i="0" dirty="0">
                <a:solidFill>
                  <a:srgbClr val="000000"/>
                </a:solidFill>
                <a:effectLst/>
                <a:latin typeface="Times New Roman" panose="02020603050405020304" pitchFamily="18" charset="0"/>
              </a:rPr>
              <a:t>0</a:t>
            </a:r>
            <a:r>
              <a:rPr lang="zh-TW" altLang="en-US" b="0" i="0" dirty="0">
                <a:solidFill>
                  <a:srgbClr val="000000"/>
                </a:solidFill>
                <a:effectLst/>
                <a:latin typeface="Times New Roman" panose="02020603050405020304" pitchFamily="18" charset="0"/>
              </a:rPr>
              <a:t>或超過陣列邊界</a:t>
            </a:r>
            <a:endParaRPr lang="en-US" altLang="zh-TW" b="0" i="0" dirty="0">
              <a:solidFill>
                <a:srgbClr val="000000"/>
              </a:solidFill>
              <a:effectLst/>
              <a:latin typeface="Times New Roman" panose="02020603050405020304" pitchFamily="18" charset="0"/>
            </a:endParaRPr>
          </a:p>
          <a:p>
            <a:pPr algn="l">
              <a:buFont typeface="Arial" panose="020B0604020202020204" pitchFamily="34" charset="0"/>
              <a:buChar char="•"/>
            </a:pPr>
            <a:r>
              <a:rPr lang="en-US" altLang="zh-TW" b="0" i="0" dirty="0" err="1">
                <a:solidFill>
                  <a:srgbClr val="000000"/>
                </a:solidFill>
                <a:effectLst/>
                <a:latin typeface="Times New Roman" panose="02020603050405020304" pitchFamily="18" charset="0"/>
              </a:rPr>
              <a:t>ArrayStoreException</a:t>
            </a:r>
            <a:r>
              <a:rPr lang="zh-TW" altLang="en-US" b="0" i="0" dirty="0">
                <a:solidFill>
                  <a:srgbClr val="000000"/>
                </a:solidFill>
                <a:effectLst/>
                <a:latin typeface="Times New Roman" panose="02020603050405020304" pitchFamily="18" charset="0"/>
              </a:rPr>
              <a:t>儲存陣列元素型態不符</a:t>
            </a:r>
            <a:endParaRPr lang="en-US" altLang="zh-TW" b="0" i="0" dirty="0">
              <a:solidFill>
                <a:srgbClr val="000000"/>
              </a:solidFill>
              <a:effectLst/>
              <a:latin typeface="Times New Roman" panose="02020603050405020304" pitchFamily="18" charset="0"/>
            </a:endParaRPr>
          </a:p>
          <a:p>
            <a:pPr algn="l">
              <a:buFont typeface="Arial" panose="020B0604020202020204" pitchFamily="34" charset="0"/>
              <a:buChar char="•"/>
            </a:pPr>
            <a:r>
              <a:rPr lang="en-US" altLang="zh-TW" b="0" i="0" dirty="0" err="1">
                <a:solidFill>
                  <a:srgbClr val="000000"/>
                </a:solidFill>
                <a:effectLst/>
                <a:latin typeface="Times New Roman" panose="02020603050405020304" pitchFamily="18" charset="0"/>
              </a:rPr>
              <a:t>IllegalArgumentException</a:t>
            </a:r>
            <a:r>
              <a:rPr lang="zh-TW" altLang="en-US" b="0" i="0" dirty="0">
                <a:solidFill>
                  <a:srgbClr val="000000"/>
                </a:solidFill>
                <a:effectLst/>
                <a:latin typeface="Times New Roman" panose="02020603050405020304" pitchFamily="18" charset="0"/>
              </a:rPr>
              <a:t>方法呼叫時參數型態不同</a:t>
            </a:r>
            <a:endParaRPr lang="en-US" altLang="zh-TW" b="0" i="0" dirty="0">
              <a:solidFill>
                <a:srgbClr val="000000"/>
              </a:solidFill>
              <a:effectLst/>
              <a:latin typeface="Times New Roman" panose="02020603050405020304" pitchFamily="18" charset="0"/>
            </a:endParaRPr>
          </a:p>
          <a:p>
            <a:pPr algn="l">
              <a:buFont typeface="Arial" panose="020B0604020202020204" pitchFamily="34" charset="0"/>
              <a:buChar char="•"/>
            </a:pPr>
            <a:r>
              <a:rPr lang="en-US" altLang="zh-TW" b="0" i="0" dirty="0" err="1">
                <a:solidFill>
                  <a:srgbClr val="000000"/>
                </a:solidFill>
                <a:effectLst/>
                <a:latin typeface="Times New Roman" panose="02020603050405020304" pitchFamily="18" charset="0"/>
              </a:rPr>
              <a:t>NullPointerException</a:t>
            </a:r>
            <a:r>
              <a:rPr lang="zh-TW" altLang="en-US" b="0" i="0" dirty="0">
                <a:solidFill>
                  <a:srgbClr val="000000"/>
                </a:solidFill>
                <a:effectLst/>
                <a:latin typeface="Times New Roman" panose="02020603050405020304" pitchFamily="18" charset="0"/>
              </a:rPr>
              <a:t>物件值為</a:t>
            </a:r>
            <a:r>
              <a:rPr lang="en-US" altLang="zh-TW" b="0" i="0" dirty="0">
                <a:solidFill>
                  <a:srgbClr val="000000"/>
                </a:solidFill>
                <a:effectLst/>
                <a:latin typeface="Times New Roman" panose="02020603050405020304" pitchFamily="18" charset="0"/>
              </a:rPr>
              <a:t>null</a:t>
            </a:r>
            <a:r>
              <a:rPr lang="zh-TW" altLang="en-US" b="0" i="0" dirty="0">
                <a:solidFill>
                  <a:srgbClr val="000000"/>
                </a:solidFill>
                <a:effectLst/>
                <a:latin typeface="Times New Roman" panose="02020603050405020304" pitchFamily="18" charset="0"/>
              </a:rPr>
              <a:t>產生的例外</a:t>
            </a:r>
          </a:p>
          <a:p>
            <a:r>
              <a:rPr lang="zh-TW" altLang="en-US" dirty="0"/>
              <a:t/>
            </a:r>
            <a:br>
              <a:rPr lang="zh-TW" altLang="en-US" dirty="0"/>
            </a:br>
            <a:endParaRPr lang="zh-TW" altLang="en-US" dirty="0"/>
          </a:p>
          <a:p>
            <a:endParaRPr lang="zh-TW" altLang="en-US" dirty="0"/>
          </a:p>
        </p:txBody>
      </p:sp>
      <p:sp>
        <p:nvSpPr>
          <p:cNvPr id="4" name="投影片編號版面配置區 3"/>
          <p:cNvSpPr>
            <a:spLocks noGrp="1"/>
          </p:cNvSpPr>
          <p:nvPr>
            <p:ph type="sldNum" sz="quarter" idx="5"/>
          </p:nvPr>
        </p:nvSpPr>
        <p:spPr/>
        <p:txBody>
          <a:bodyPr/>
          <a:lstStyle/>
          <a:p>
            <a:fld id="{5DE9BC23-93E8-4651-9E75-C60AC50B8C12}" type="slidenum">
              <a:rPr lang="zh-TW" altLang="en-US" smtClean="0"/>
              <a:t>5</a:t>
            </a:fld>
            <a:endParaRPr lang="zh-TW" altLang="en-US"/>
          </a:p>
        </p:txBody>
      </p:sp>
    </p:spTree>
    <p:extLst>
      <p:ext uri="{BB962C8B-B14F-4D97-AF65-F5344CB8AC3E}">
        <p14:creationId xmlns:p14="http://schemas.microsoft.com/office/powerpoint/2010/main" val="583521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err="1"/>
              <a:t>RuntimeException</a:t>
            </a:r>
            <a:endParaRPr lang="en-US" altLang="zh-TW" dirty="0"/>
          </a:p>
          <a:p>
            <a:r>
              <a:rPr lang="en-US" altLang="zh-TW" sz="1800" dirty="0" err="1">
                <a:solidFill>
                  <a:srgbClr val="000000"/>
                </a:solidFill>
                <a:latin typeface="Consolas" panose="020B0609020204030204" pitchFamily="49" charset="0"/>
              </a:rPr>
              <a:t>NullPointerException</a:t>
            </a:r>
            <a:endParaRPr lang="en-US" altLang="zh-TW" sz="1800" dirty="0">
              <a:solidFill>
                <a:srgbClr val="000000"/>
              </a:solidFill>
              <a:latin typeface="Consolas" panose="020B0609020204030204" pitchFamily="49" charset="0"/>
            </a:endParaRPr>
          </a:p>
          <a:p>
            <a:r>
              <a:rPr lang="en-US" altLang="zh-TW" sz="1800" dirty="0" err="1">
                <a:solidFill>
                  <a:srgbClr val="000000"/>
                </a:solidFill>
                <a:latin typeface="Consolas" panose="020B0609020204030204" pitchFamily="49" charset="0"/>
              </a:rPr>
              <a:t>NumberFormatException</a:t>
            </a:r>
            <a:endParaRPr lang="en-US" altLang="zh-TW" sz="1800" dirty="0">
              <a:solidFill>
                <a:srgbClr val="000000"/>
              </a:solidFill>
              <a:latin typeface="Consolas" panose="020B0609020204030204" pitchFamily="49" charset="0"/>
            </a:endParaRPr>
          </a:p>
          <a:p>
            <a:r>
              <a:rPr lang="en-US" altLang="zh-TW" sz="1800" dirty="0" err="1">
                <a:solidFill>
                  <a:srgbClr val="000000"/>
                </a:solidFill>
                <a:latin typeface="Consolas" panose="020B0609020204030204" pitchFamily="49" charset="0"/>
              </a:rPr>
              <a:t>ArrayIndexOutOfBoundsException</a:t>
            </a:r>
            <a:endParaRPr lang="en-US" altLang="zh-TW" sz="1800" dirty="0">
              <a:solidFill>
                <a:srgbClr val="000000"/>
              </a:solidFill>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800" dirty="0" err="1">
                <a:solidFill>
                  <a:srgbClr val="000000"/>
                </a:solidFill>
                <a:latin typeface="Consolas" panose="020B0609020204030204" pitchFamily="49" charset="0"/>
              </a:rPr>
              <a:t>String</a:t>
            </a:r>
            <a:r>
              <a:rPr lang="en-US" altLang="zh-TW" sz="1200" dirty="0" err="1">
                <a:solidFill>
                  <a:srgbClr val="000000"/>
                </a:solidFill>
                <a:latin typeface="Consolas" panose="020B0609020204030204" pitchFamily="49" charset="0"/>
              </a:rPr>
              <a:t>IndexOutOfBoundsException</a:t>
            </a:r>
            <a:endParaRPr lang="en-US" altLang="zh-TW" sz="1200" dirty="0">
              <a:solidFill>
                <a:srgbClr val="000000"/>
              </a:solidFill>
              <a:latin typeface="Consolas" panose="020B0609020204030204" pitchFamily="49" charset="0"/>
            </a:endParaRPr>
          </a:p>
          <a:p>
            <a:r>
              <a:rPr lang="en-US" altLang="zh-TW" dirty="0" err="1"/>
              <a:t>ClassCastException</a:t>
            </a:r>
            <a:endParaRPr lang="en-US" altLang="zh-TW" dirty="0"/>
          </a:p>
          <a:p>
            <a:r>
              <a:rPr lang="en-US" altLang="zh-TW" dirty="0" err="1"/>
              <a:t>IllegalArgumentException</a:t>
            </a:r>
            <a:endParaRPr lang="zh-TW" altLang="en-US" dirty="0"/>
          </a:p>
        </p:txBody>
      </p:sp>
      <p:sp>
        <p:nvSpPr>
          <p:cNvPr id="4" name="投影片編號版面配置區 3"/>
          <p:cNvSpPr>
            <a:spLocks noGrp="1"/>
          </p:cNvSpPr>
          <p:nvPr>
            <p:ph type="sldNum" sz="quarter" idx="5"/>
          </p:nvPr>
        </p:nvSpPr>
        <p:spPr/>
        <p:txBody>
          <a:bodyPr/>
          <a:lstStyle/>
          <a:p>
            <a:fld id="{5DE9BC23-93E8-4651-9E75-C60AC50B8C12}" type="slidenum">
              <a:rPr lang="zh-TW" altLang="en-US" smtClean="0"/>
              <a:t>6</a:t>
            </a:fld>
            <a:endParaRPr lang="zh-TW" altLang="en-US"/>
          </a:p>
        </p:txBody>
      </p:sp>
    </p:spTree>
    <p:extLst>
      <p:ext uri="{BB962C8B-B14F-4D97-AF65-F5344CB8AC3E}">
        <p14:creationId xmlns:p14="http://schemas.microsoft.com/office/powerpoint/2010/main" val="15593805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0" i="0" dirty="0">
                <a:solidFill>
                  <a:srgbClr val="242424"/>
                </a:solidFill>
                <a:effectLst/>
                <a:latin typeface="source-serif-pro"/>
              </a:rPr>
              <a:t>不要只攔最大的 </a:t>
            </a:r>
            <a:r>
              <a:rPr lang="en-US" altLang="zh-TW" b="0" i="0" dirty="0">
                <a:solidFill>
                  <a:srgbClr val="242424"/>
                </a:solidFill>
                <a:effectLst/>
                <a:latin typeface="source-serif-pro"/>
              </a:rPr>
              <a:t>Exception</a:t>
            </a:r>
          </a:p>
          <a:p>
            <a:r>
              <a:rPr lang="zh-TW" altLang="en-US" b="0" i="0" dirty="0">
                <a:solidFill>
                  <a:srgbClr val="242424"/>
                </a:solidFill>
                <a:effectLst/>
                <a:latin typeface="source-serif-pro"/>
              </a:rPr>
              <a:t>作為一個開發者</a:t>
            </a:r>
            <a:r>
              <a:rPr lang="en-US" altLang="zh-TW" b="0" i="0" dirty="0">
                <a:solidFill>
                  <a:srgbClr val="242424"/>
                </a:solidFill>
                <a:effectLst/>
                <a:latin typeface="source-serif-pro"/>
              </a:rPr>
              <a:t>, </a:t>
            </a:r>
            <a:r>
              <a:rPr lang="zh-TW" altLang="en-US" b="0" i="0" dirty="0">
                <a:solidFill>
                  <a:srgbClr val="242424"/>
                </a:solidFill>
                <a:effectLst/>
                <a:latin typeface="source-serif-pro"/>
              </a:rPr>
              <a:t>我們有義務讓自己的程式能夠盡可能直觀地</a:t>
            </a:r>
            <a:r>
              <a:rPr lang="en-US" altLang="zh-TW" b="0" i="0" dirty="0">
                <a:solidFill>
                  <a:srgbClr val="242424"/>
                </a:solidFill>
                <a:effectLst/>
                <a:latin typeface="source-serif-pro"/>
              </a:rPr>
              <a:t>, </a:t>
            </a:r>
            <a:r>
              <a:rPr lang="zh-TW" altLang="en-US" b="0" i="0" dirty="0">
                <a:solidFill>
                  <a:srgbClr val="242424"/>
                </a:solidFill>
                <a:effectLst/>
                <a:latin typeface="source-serif-pro"/>
              </a:rPr>
              <a:t>簡潔地去傳達出更多的資訊</a:t>
            </a:r>
            <a:endParaRPr lang="en-US" altLang="zh-TW" b="0" i="0" dirty="0">
              <a:solidFill>
                <a:srgbClr val="242424"/>
              </a:solidFill>
              <a:effectLst/>
              <a:latin typeface="source-serif-pro"/>
            </a:endParaRPr>
          </a:p>
          <a:p>
            <a:endParaRPr lang="en-US" altLang="zh-TW" b="0" i="0" dirty="0">
              <a:solidFill>
                <a:srgbClr val="242424"/>
              </a:solidFill>
              <a:effectLst/>
              <a:latin typeface="source-serif-pro"/>
            </a:endParaRPr>
          </a:p>
          <a:p>
            <a:endParaRPr lang="en-US" altLang="zh-TW" b="0" i="0" dirty="0">
              <a:solidFill>
                <a:srgbClr val="242424"/>
              </a:solidFill>
              <a:effectLst/>
              <a:latin typeface="source-serif-pro"/>
            </a:endParaRPr>
          </a:p>
          <a:p>
            <a:r>
              <a:rPr lang="zh-TW" altLang="en-US" b="0" i="0" dirty="0">
                <a:solidFill>
                  <a:srgbClr val="242424"/>
                </a:solidFill>
                <a:effectLst/>
                <a:latin typeface="source-serif-pro"/>
              </a:rPr>
              <a:t>不要吞掉</a:t>
            </a:r>
            <a:endParaRPr lang="en-US" altLang="zh-TW" b="0" i="0" dirty="0">
              <a:solidFill>
                <a:srgbClr val="242424"/>
              </a:solidFill>
              <a:effectLst/>
              <a:latin typeface="source-serif-pro"/>
            </a:endParaRPr>
          </a:p>
          <a:p>
            <a:r>
              <a:rPr lang="zh-TW" altLang="en-US" b="0" i="0" dirty="0">
                <a:solidFill>
                  <a:srgbClr val="242424"/>
                </a:solidFill>
                <a:effectLst/>
                <a:latin typeface="source-serif-pro"/>
              </a:rPr>
              <a:t>因為這會導致開發人員非常難以診斷出問題的程式</a:t>
            </a:r>
            <a:endParaRPr lang="zh-TW" altLang="en-US" dirty="0"/>
          </a:p>
        </p:txBody>
      </p:sp>
      <p:sp>
        <p:nvSpPr>
          <p:cNvPr id="4" name="投影片編號版面配置區 3"/>
          <p:cNvSpPr>
            <a:spLocks noGrp="1"/>
          </p:cNvSpPr>
          <p:nvPr>
            <p:ph type="sldNum" sz="quarter" idx="5"/>
          </p:nvPr>
        </p:nvSpPr>
        <p:spPr/>
        <p:txBody>
          <a:bodyPr/>
          <a:lstStyle/>
          <a:p>
            <a:fld id="{5DE9BC23-93E8-4651-9E75-C60AC50B8C12}" type="slidenum">
              <a:rPr lang="zh-TW" altLang="en-US" smtClean="0"/>
              <a:t>7</a:t>
            </a:fld>
            <a:endParaRPr lang="zh-TW" altLang="en-US"/>
          </a:p>
        </p:txBody>
      </p:sp>
    </p:spTree>
    <p:extLst>
      <p:ext uri="{BB962C8B-B14F-4D97-AF65-F5344CB8AC3E}">
        <p14:creationId xmlns:p14="http://schemas.microsoft.com/office/powerpoint/2010/main" val="11263287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Throw Early</a:t>
            </a:r>
          </a:p>
          <a:p>
            <a:endParaRPr lang="en-US" altLang="zh-TW" dirty="0"/>
          </a:p>
          <a:p>
            <a:r>
              <a:rPr lang="zh-TW" altLang="en-US" dirty="0"/>
              <a:t>預先檢核錯誤，做對應的拋錯處理</a:t>
            </a:r>
            <a:endParaRPr lang="en-US" altLang="zh-TW" dirty="0"/>
          </a:p>
          <a:p>
            <a:endParaRPr lang="en-US" altLang="zh-TW" dirty="0"/>
          </a:p>
          <a:p>
            <a:endParaRPr lang="en-US" altLang="zh-TW" dirty="0"/>
          </a:p>
          <a:p>
            <a:endParaRPr lang="en-US" altLang="zh-TW" dirty="0"/>
          </a:p>
          <a:p>
            <a:r>
              <a:rPr lang="en-US" altLang="zh-TW" dirty="0"/>
              <a:t>Catch Late</a:t>
            </a:r>
          </a:p>
          <a:p>
            <a:endParaRPr lang="en-US" altLang="zh-TW" dirty="0"/>
          </a:p>
          <a:p>
            <a:r>
              <a:rPr lang="zh-TW" altLang="en-US" dirty="0"/>
              <a:t>捕捉到錯誤後，要做什麼處理，上面有提到</a:t>
            </a:r>
            <a:r>
              <a:rPr lang="en-US" altLang="zh-TW" dirty="0"/>
              <a:t>【</a:t>
            </a:r>
            <a:r>
              <a:rPr lang="zh-TW" altLang="en-US" dirty="0"/>
              <a:t>不要吞掉</a:t>
            </a:r>
            <a:r>
              <a:rPr lang="en-US" altLang="zh-TW" dirty="0"/>
              <a:t>】</a:t>
            </a:r>
            <a:r>
              <a:rPr lang="zh-TW" altLang="en-US" dirty="0"/>
              <a:t>，若該 </a:t>
            </a:r>
            <a:r>
              <a:rPr lang="en-US" altLang="zh-TW" dirty="0"/>
              <a:t>method</a:t>
            </a:r>
            <a:r>
              <a:rPr lang="zh-TW" altLang="en-US" dirty="0"/>
              <a:t> 內無法處理的話就 </a:t>
            </a:r>
            <a:r>
              <a:rPr lang="en-US" altLang="zh-TW" dirty="0"/>
              <a:t>throw</a:t>
            </a:r>
            <a:r>
              <a:rPr lang="zh-TW" altLang="en-US" dirty="0"/>
              <a:t> 出去，或包一層後在拋出去，給 </a:t>
            </a:r>
            <a:r>
              <a:rPr lang="en-US" altLang="zh-TW" dirty="0"/>
              <a:t>call</a:t>
            </a:r>
            <a:r>
              <a:rPr lang="zh-TW" altLang="en-US" dirty="0"/>
              <a:t> 處理</a:t>
            </a:r>
          </a:p>
        </p:txBody>
      </p:sp>
      <p:sp>
        <p:nvSpPr>
          <p:cNvPr id="4" name="投影片編號版面配置區 3"/>
          <p:cNvSpPr>
            <a:spLocks noGrp="1"/>
          </p:cNvSpPr>
          <p:nvPr>
            <p:ph type="sldNum" sz="quarter" idx="5"/>
          </p:nvPr>
        </p:nvSpPr>
        <p:spPr/>
        <p:txBody>
          <a:bodyPr/>
          <a:lstStyle/>
          <a:p>
            <a:fld id="{5DE9BC23-93E8-4651-9E75-C60AC50B8C12}" type="slidenum">
              <a:rPr lang="zh-TW" altLang="en-US" smtClean="0"/>
              <a:t>8</a:t>
            </a:fld>
            <a:endParaRPr lang="zh-TW" altLang="en-US"/>
          </a:p>
        </p:txBody>
      </p:sp>
    </p:spTree>
    <p:extLst>
      <p:ext uri="{BB962C8B-B14F-4D97-AF65-F5344CB8AC3E}">
        <p14:creationId xmlns:p14="http://schemas.microsoft.com/office/powerpoint/2010/main" val="42409135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l"/>
            <a:r>
              <a:rPr lang="en-US" altLang="zh-TW" b="0" i="0" dirty="0">
                <a:solidFill>
                  <a:srgbClr val="242424"/>
                </a:solidFill>
                <a:effectLst/>
                <a:latin typeface="source-serif-pro"/>
              </a:rPr>
              <a:t>try-catch-finally</a:t>
            </a:r>
          </a:p>
          <a:p>
            <a:pPr algn="l"/>
            <a:endParaRPr lang="en-US" altLang="zh-TW" b="0" i="0" dirty="0">
              <a:solidFill>
                <a:srgbClr val="242424"/>
              </a:solidFill>
              <a:effectLst/>
              <a:latin typeface="source-serif-pro"/>
            </a:endParaRPr>
          </a:p>
          <a:p>
            <a:pPr algn="l"/>
            <a:endParaRPr lang="en-US" altLang="zh-TW" b="0" i="0" dirty="0">
              <a:solidFill>
                <a:srgbClr val="242424"/>
              </a:solidFill>
              <a:effectLst/>
              <a:latin typeface="source-serif-pro"/>
            </a:endParaRPr>
          </a:p>
          <a:p>
            <a:pPr algn="l"/>
            <a:endParaRPr lang="en-US" altLang="zh-TW" b="0" i="0" dirty="0">
              <a:solidFill>
                <a:srgbClr val="242424"/>
              </a:solidFill>
              <a:effectLst/>
              <a:latin typeface="source-serif-pro"/>
            </a:endParaRPr>
          </a:p>
          <a:p>
            <a:pPr algn="l"/>
            <a:r>
              <a:rPr lang="en-US" altLang="zh-TW" b="0" i="0" dirty="0">
                <a:solidFill>
                  <a:srgbClr val="242424"/>
                </a:solidFill>
                <a:effectLst/>
                <a:latin typeface="source-serif-pro"/>
              </a:rPr>
              <a:t>throws</a:t>
            </a:r>
          </a:p>
          <a:p>
            <a:pPr algn="l"/>
            <a:r>
              <a:rPr lang="en-US" altLang="zh-TW" b="0" i="0" dirty="0">
                <a:solidFill>
                  <a:srgbClr val="242424"/>
                </a:solidFill>
                <a:effectLst/>
                <a:latin typeface="source-serif-pro"/>
              </a:rPr>
              <a:t>throw</a:t>
            </a:r>
            <a:endParaRPr lang="en-US" altLang="zh-TW" dirty="0">
              <a:latin typeface="Arial" panose="020B0604020202020204" pitchFamily="34" charset="0"/>
              <a:cs typeface="Arial" panose="020B0604020202020204" pitchFamily="34" charset="0"/>
            </a:endParaRPr>
          </a:p>
          <a:p>
            <a:endParaRPr lang="zh-TW" altLang="en-US" dirty="0"/>
          </a:p>
        </p:txBody>
      </p:sp>
      <p:sp>
        <p:nvSpPr>
          <p:cNvPr id="4" name="投影片編號版面配置區 3"/>
          <p:cNvSpPr>
            <a:spLocks noGrp="1"/>
          </p:cNvSpPr>
          <p:nvPr>
            <p:ph type="sldNum" sz="quarter" idx="5"/>
          </p:nvPr>
        </p:nvSpPr>
        <p:spPr/>
        <p:txBody>
          <a:bodyPr/>
          <a:lstStyle/>
          <a:p>
            <a:fld id="{5DE9BC23-93E8-4651-9E75-C60AC50B8C12}" type="slidenum">
              <a:rPr lang="zh-TW" altLang="en-US" smtClean="0"/>
              <a:t>9</a:t>
            </a:fld>
            <a:endParaRPr lang="zh-TW" altLang="en-US"/>
          </a:p>
        </p:txBody>
      </p:sp>
    </p:spTree>
    <p:extLst>
      <p:ext uri="{BB962C8B-B14F-4D97-AF65-F5344CB8AC3E}">
        <p14:creationId xmlns:p14="http://schemas.microsoft.com/office/powerpoint/2010/main" val="34181517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國壽有自定義一個 </a:t>
            </a:r>
            <a:r>
              <a:rPr lang="en-US" altLang="zh-TW" dirty="0" err="1"/>
              <a:t>ModuleException</a:t>
            </a:r>
            <a:endParaRPr lang="en-US" altLang="zh-TW" dirty="0"/>
          </a:p>
          <a:p>
            <a:endParaRPr lang="en-US" altLang="zh-TW" dirty="0"/>
          </a:p>
          <a:p>
            <a:r>
              <a:rPr lang="zh-TW" altLang="en-US" dirty="0"/>
              <a:t>其下又有</a:t>
            </a:r>
            <a:endParaRPr lang="en-US" altLang="zh-TW" dirty="0"/>
          </a:p>
          <a:p>
            <a:r>
              <a:rPr lang="en-US" altLang="zh-TW" dirty="0" err="1"/>
              <a:t>ErrorInputException</a:t>
            </a:r>
            <a:endParaRPr lang="en-US" altLang="zh-TW" dirty="0"/>
          </a:p>
          <a:p>
            <a:r>
              <a:rPr lang="en-US" altLang="zh-TW" dirty="0" err="1"/>
              <a:t>DataNotFoundException</a:t>
            </a:r>
            <a:endParaRPr lang="en-US" altLang="zh-TW" dirty="0"/>
          </a:p>
          <a:p>
            <a:r>
              <a:rPr lang="en-US" altLang="zh-TW" sz="1800" dirty="0" err="1">
                <a:solidFill>
                  <a:srgbClr val="000000"/>
                </a:solidFill>
                <a:latin typeface="Consolas" panose="020B0609020204030204" pitchFamily="49" charset="0"/>
              </a:rPr>
              <a:t>QueryOnlyException</a:t>
            </a:r>
            <a:endParaRPr lang="en-US" altLang="zh-TW" sz="1800" dirty="0">
              <a:solidFill>
                <a:srgbClr val="000000"/>
              </a:solidFill>
              <a:latin typeface="Consolas" panose="020B0609020204030204" pitchFamily="49" charset="0"/>
            </a:endParaRPr>
          </a:p>
          <a:p>
            <a:r>
              <a:rPr lang="en-US" altLang="zh-TW" sz="1800" dirty="0" err="1">
                <a:solidFill>
                  <a:srgbClr val="000000"/>
                </a:solidFill>
                <a:latin typeface="Consolas" panose="020B0609020204030204" pitchFamily="49" charset="0"/>
              </a:rPr>
              <a:t>QueryTimeoutException</a:t>
            </a:r>
            <a:endParaRPr lang="en-US" altLang="zh-TW" sz="1800" dirty="0">
              <a:solidFill>
                <a:srgbClr val="000000"/>
              </a:solidFill>
              <a:latin typeface="Consolas" panose="020B0609020204030204" pitchFamily="49" charset="0"/>
            </a:endParaRPr>
          </a:p>
          <a:p>
            <a:r>
              <a:rPr lang="en-US" altLang="zh-TW" sz="1800" dirty="0" err="1">
                <a:solidFill>
                  <a:srgbClr val="000000"/>
                </a:solidFill>
                <a:latin typeface="Consolas" panose="020B0609020204030204" pitchFamily="49" charset="0"/>
              </a:rPr>
              <a:t>DataDuplicateException</a:t>
            </a:r>
            <a:endParaRPr lang="en-US" altLang="zh-TW" sz="1800" dirty="0">
              <a:solidFill>
                <a:srgbClr val="000000"/>
              </a:solidFill>
              <a:latin typeface="Consolas" panose="020B0609020204030204" pitchFamily="49" charset="0"/>
            </a:endParaRPr>
          </a:p>
          <a:p>
            <a:r>
              <a:rPr lang="en-US" altLang="zh-TW" sz="1800" dirty="0">
                <a:solidFill>
                  <a:srgbClr val="000000"/>
                </a:solidFill>
                <a:latin typeface="Consolas" panose="020B0609020204030204" pitchFamily="49" charset="0"/>
              </a:rPr>
              <a:t>…..</a:t>
            </a:r>
            <a:endParaRPr lang="zh-TW" altLang="en-US" dirty="0"/>
          </a:p>
        </p:txBody>
      </p:sp>
      <p:sp>
        <p:nvSpPr>
          <p:cNvPr id="4" name="投影片編號版面配置區 3"/>
          <p:cNvSpPr>
            <a:spLocks noGrp="1"/>
          </p:cNvSpPr>
          <p:nvPr>
            <p:ph type="sldNum" sz="quarter" idx="5"/>
          </p:nvPr>
        </p:nvSpPr>
        <p:spPr/>
        <p:txBody>
          <a:bodyPr/>
          <a:lstStyle/>
          <a:p>
            <a:fld id="{5DE9BC23-93E8-4651-9E75-C60AC50B8C12}" type="slidenum">
              <a:rPr lang="zh-TW" altLang="en-US" smtClean="0"/>
              <a:t>10</a:t>
            </a:fld>
            <a:endParaRPr lang="zh-TW" altLang="en-US"/>
          </a:p>
        </p:txBody>
      </p:sp>
    </p:spTree>
    <p:extLst>
      <p:ext uri="{BB962C8B-B14F-4D97-AF65-F5344CB8AC3E}">
        <p14:creationId xmlns:p14="http://schemas.microsoft.com/office/powerpoint/2010/main" val="12411588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DE9BC23-93E8-4651-9E75-C60AC50B8C12}" type="slidenum">
              <a:rPr lang="zh-TW" altLang="en-US" smtClean="0"/>
              <a:t>15</a:t>
            </a:fld>
            <a:endParaRPr lang="zh-TW" altLang="en-US"/>
          </a:p>
        </p:txBody>
      </p:sp>
    </p:spTree>
    <p:extLst>
      <p:ext uri="{BB962C8B-B14F-4D97-AF65-F5344CB8AC3E}">
        <p14:creationId xmlns:p14="http://schemas.microsoft.com/office/powerpoint/2010/main" val="2348024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DE9BC23-93E8-4651-9E75-C60AC50B8C12}" type="slidenum">
              <a:rPr lang="zh-TW" altLang="en-US" smtClean="0"/>
              <a:t>16</a:t>
            </a:fld>
            <a:endParaRPr lang="zh-TW" altLang="en-US"/>
          </a:p>
        </p:txBody>
      </p:sp>
    </p:spTree>
    <p:extLst>
      <p:ext uri="{BB962C8B-B14F-4D97-AF65-F5344CB8AC3E}">
        <p14:creationId xmlns:p14="http://schemas.microsoft.com/office/powerpoint/2010/main" val="27598380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DE9BC23-93E8-4651-9E75-C60AC50B8C12}" type="slidenum">
              <a:rPr lang="zh-TW" altLang="en-US" smtClean="0"/>
              <a:t>17</a:t>
            </a:fld>
            <a:endParaRPr lang="zh-TW" altLang="en-US"/>
          </a:p>
        </p:txBody>
      </p:sp>
    </p:spTree>
    <p:extLst>
      <p:ext uri="{BB962C8B-B14F-4D97-AF65-F5344CB8AC3E}">
        <p14:creationId xmlns:p14="http://schemas.microsoft.com/office/powerpoint/2010/main" val="375778628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DE9BC23-93E8-4651-9E75-C60AC50B8C12}" type="slidenum">
              <a:rPr lang="zh-TW" altLang="en-US" smtClean="0"/>
              <a:t>18</a:t>
            </a:fld>
            <a:endParaRPr lang="zh-TW" altLang="en-US"/>
          </a:p>
        </p:txBody>
      </p:sp>
    </p:spTree>
    <p:extLst>
      <p:ext uri="{BB962C8B-B14F-4D97-AF65-F5344CB8AC3E}">
        <p14:creationId xmlns:p14="http://schemas.microsoft.com/office/powerpoint/2010/main" val="41420204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DE9BC23-93E8-4651-9E75-C60AC50B8C12}" type="slidenum">
              <a:rPr lang="zh-TW" altLang="en-US" smtClean="0"/>
              <a:t>19</a:t>
            </a:fld>
            <a:endParaRPr lang="zh-TW" altLang="en-US"/>
          </a:p>
        </p:txBody>
      </p:sp>
    </p:spTree>
    <p:extLst>
      <p:ext uri="{BB962C8B-B14F-4D97-AF65-F5344CB8AC3E}">
        <p14:creationId xmlns:p14="http://schemas.microsoft.com/office/powerpoint/2010/main" val="41444815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DE9BC23-93E8-4651-9E75-C60AC50B8C12}" type="slidenum">
              <a:rPr lang="zh-TW" altLang="en-US" smtClean="0"/>
              <a:t>20</a:t>
            </a:fld>
            <a:endParaRPr lang="zh-TW" altLang="en-US"/>
          </a:p>
        </p:txBody>
      </p:sp>
    </p:spTree>
    <p:extLst>
      <p:ext uri="{BB962C8B-B14F-4D97-AF65-F5344CB8AC3E}">
        <p14:creationId xmlns:p14="http://schemas.microsoft.com/office/powerpoint/2010/main" val="15946335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DE9BC23-93E8-4651-9E75-C60AC50B8C12}" type="slidenum">
              <a:rPr lang="zh-TW" altLang="en-US" smtClean="0"/>
              <a:t>21</a:t>
            </a:fld>
            <a:endParaRPr lang="zh-TW" altLang="en-US"/>
          </a:p>
        </p:txBody>
      </p:sp>
    </p:spTree>
    <p:extLst>
      <p:ext uri="{BB962C8B-B14F-4D97-AF65-F5344CB8AC3E}">
        <p14:creationId xmlns:p14="http://schemas.microsoft.com/office/powerpoint/2010/main" val="3809901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DE9BC23-93E8-4651-9E75-C60AC50B8C12}" type="slidenum">
              <a:rPr lang="zh-TW" altLang="en-US" smtClean="0"/>
              <a:t>22</a:t>
            </a:fld>
            <a:endParaRPr lang="zh-TW" altLang="en-US"/>
          </a:p>
        </p:txBody>
      </p:sp>
    </p:spTree>
    <p:extLst>
      <p:ext uri="{BB962C8B-B14F-4D97-AF65-F5344CB8AC3E}">
        <p14:creationId xmlns:p14="http://schemas.microsoft.com/office/powerpoint/2010/main" val="3574957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DE9BC23-93E8-4651-9E75-C60AC50B8C12}" type="slidenum">
              <a:rPr lang="zh-TW" altLang="en-US" smtClean="0"/>
              <a:t>23</a:t>
            </a:fld>
            <a:endParaRPr lang="zh-TW" altLang="en-US"/>
          </a:p>
        </p:txBody>
      </p:sp>
    </p:spTree>
    <p:extLst>
      <p:ext uri="{BB962C8B-B14F-4D97-AF65-F5344CB8AC3E}">
        <p14:creationId xmlns:p14="http://schemas.microsoft.com/office/powerpoint/2010/main" val="34464780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DE9BC23-93E8-4651-9E75-C60AC50B8C12}" type="slidenum">
              <a:rPr lang="zh-TW" altLang="en-US" smtClean="0"/>
              <a:t>24</a:t>
            </a:fld>
            <a:endParaRPr lang="zh-TW" altLang="en-US"/>
          </a:p>
        </p:txBody>
      </p:sp>
    </p:spTree>
    <p:extLst>
      <p:ext uri="{BB962C8B-B14F-4D97-AF65-F5344CB8AC3E}">
        <p14:creationId xmlns:p14="http://schemas.microsoft.com/office/powerpoint/2010/main" val="28818126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DE9BC23-93E8-4651-9E75-C60AC50B8C12}" type="slidenum">
              <a:rPr lang="zh-TW" altLang="en-US" smtClean="0"/>
              <a:t>25</a:t>
            </a:fld>
            <a:endParaRPr lang="zh-TW" altLang="en-US"/>
          </a:p>
        </p:txBody>
      </p:sp>
    </p:spTree>
    <p:extLst>
      <p:ext uri="{BB962C8B-B14F-4D97-AF65-F5344CB8AC3E}">
        <p14:creationId xmlns:p14="http://schemas.microsoft.com/office/powerpoint/2010/main" val="31465369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及物件">
    <p:spTree>
      <p:nvGrpSpPr>
        <p:cNvPr id="1" name=""/>
        <p:cNvGrpSpPr/>
        <p:nvPr/>
      </p:nvGrpSpPr>
      <p:grpSpPr>
        <a:xfrm>
          <a:off x="0" y="0"/>
          <a:ext cx="0" cy="0"/>
          <a:chOff x="0" y="0"/>
          <a:chExt cx="0" cy="0"/>
        </a:xfrm>
      </p:grpSpPr>
      <p:sp>
        <p:nvSpPr>
          <p:cNvPr id="3" name="內容版面配置區 2"/>
          <p:cNvSpPr>
            <a:spLocks noGrp="1"/>
          </p:cNvSpPr>
          <p:nvPr>
            <p:ph idx="1" hasCustomPrompt="1"/>
          </p:nvPr>
        </p:nvSpPr>
        <p:spPr>
          <a:xfrm>
            <a:off x="482600" y="1223493"/>
            <a:ext cx="10871200" cy="4953470"/>
          </a:xfrm>
          <a:prstGeom prst="rect">
            <a:avLst/>
          </a:prstGeom>
        </p:spPr>
        <p:txBody>
          <a:bodyPr/>
          <a:lstStyle>
            <a:lvl1pPr>
              <a:defRPr sz="2800" b="0">
                <a:solidFill>
                  <a:srgbClr val="024F6C"/>
                </a:solidFill>
                <a:latin typeface="Arial" panose="020B0604020202020204" pitchFamily="34" charset="0"/>
                <a:ea typeface="微軟正黑體" panose="020B0604030504040204" pitchFamily="34" charset="-120"/>
                <a:cs typeface="Arial" panose="020B0604020202020204" pitchFamily="34" charset="0"/>
              </a:defRPr>
            </a:lvl1pPr>
            <a:lvl2pPr>
              <a:defRPr>
                <a:latin typeface="Arial" panose="020B0604020202020204" pitchFamily="34" charset="0"/>
                <a:ea typeface="微軟正黑體" panose="020B0604030504040204" pitchFamily="34" charset="-120"/>
                <a:cs typeface="Arial" panose="020B0604020202020204" pitchFamily="34" charset="0"/>
              </a:defRPr>
            </a:lvl2pPr>
            <a:lvl3pPr>
              <a:defRPr>
                <a:latin typeface="Arial" panose="020B0604020202020204" pitchFamily="34" charset="0"/>
                <a:ea typeface="微軟正黑體" panose="020B0604030504040204" pitchFamily="34" charset="-120"/>
                <a:cs typeface="Arial" panose="020B0604020202020204" pitchFamily="34" charset="0"/>
              </a:defRPr>
            </a:lvl3pPr>
            <a:lvl4pPr>
              <a:defRPr>
                <a:latin typeface="Arial" panose="020B0604020202020204" pitchFamily="34" charset="0"/>
                <a:ea typeface="微軟正黑體" panose="020B0604030504040204" pitchFamily="34" charset="-120"/>
                <a:cs typeface="Arial" panose="020B0604020202020204" pitchFamily="34" charset="0"/>
              </a:defRPr>
            </a:lvl4pPr>
            <a:lvl5pPr>
              <a:defRPr sz="1600">
                <a:latin typeface="Arial" panose="020B0604020202020204" pitchFamily="34" charset="0"/>
                <a:ea typeface="微軟正黑體" panose="020B0604030504040204" pitchFamily="34" charset="-120"/>
                <a:cs typeface="Arial" panose="020B0604020202020204" pitchFamily="34" charset="0"/>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p:cNvSpPr>
            <a:spLocks noGrp="1"/>
          </p:cNvSpPr>
          <p:nvPr>
            <p:ph type="dt" sz="half" idx="10"/>
          </p:nvPr>
        </p:nvSpPr>
        <p:spPr>
          <a:xfrm>
            <a:off x="838200" y="6356350"/>
            <a:ext cx="2743200" cy="365125"/>
          </a:xfrm>
          <a:prstGeom prst="rect">
            <a:avLst/>
          </a:prstGeom>
        </p:spPr>
        <p:txBody>
          <a:bodyPr/>
          <a:lstStyle>
            <a:lvl1pPr>
              <a:defRPr>
                <a:latin typeface="Arial" panose="020B0604020202020204" pitchFamily="34" charset="0"/>
                <a:ea typeface="微軟正黑體" panose="020B0604030504040204" pitchFamily="34" charset="-120"/>
                <a:cs typeface="Arial" panose="020B0604020202020204" pitchFamily="34" charset="0"/>
              </a:defRPr>
            </a:lvl1pPr>
          </a:lstStyle>
          <a:p>
            <a:fld id="{0C4C5BAE-20C2-4C6C-8BB7-EC9F33B0AF1D}" type="datetime1">
              <a:rPr lang="en-US" altLang="zh-TW" smtClean="0"/>
              <a:t>6/8/2026</a:t>
            </a:fld>
            <a:endParaRPr lang="en-US"/>
          </a:p>
        </p:txBody>
      </p:sp>
      <p:sp>
        <p:nvSpPr>
          <p:cNvPr id="5" name="頁尾版面配置區 4"/>
          <p:cNvSpPr>
            <a:spLocks noGrp="1"/>
          </p:cNvSpPr>
          <p:nvPr>
            <p:ph type="ftr" sz="quarter" idx="11"/>
          </p:nvPr>
        </p:nvSpPr>
        <p:spPr>
          <a:xfrm>
            <a:off x="4038600" y="6356350"/>
            <a:ext cx="4114800" cy="365125"/>
          </a:xfrm>
          <a:prstGeom prst="rect">
            <a:avLst/>
          </a:prstGeom>
        </p:spPr>
        <p:txBody>
          <a:bodyPr/>
          <a:lstStyle>
            <a:lvl1pPr>
              <a:defRPr>
                <a:latin typeface="Arial" panose="020B0604020202020204" pitchFamily="34" charset="0"/>
                <a:ea typeface="微軟正黑體" panose="020B0604030504040204" pitchFamily="34" charset="-120"/>
                <a:cs typeface="Arial" panose="020B0604020202020204" pitchFamily="34" charset="0"/>
              </a:defRPr>
            </a:lvl1pPr>
          </a:lstStyle>
          <a:p>
            <a:endParaRPr lang="zh-TW" altLang="en-US"/>
          </a:p>
        </p:txBody>
      </p:sp>
      <p:sp>
        <p:nvSpPr>
          <p:cNvPr id="6" name="投影片編號版面配置區 5"/>
          <p:cNvSpPr>
            <a:spLocks noGrp="1"/>
          </p:cNvSpPr>
          <p:nvPr>
            <p:ph type="sldNum" sz="quarter" idx="12"/>
          </p:nvPr>
        </p:nvSpPr>
        <p:spPr>
          <a:xfrm>
            <a:off x="9164388" y="6356350"/>
            <a:ext cx="2743200" cy="365125"/>
          </a:xfrm>
          <a:prstGeom prst="rect">
            <a:avLst/>
          </a:prstGeom>
        </p:spPr>
        <p:txBody>
          <a:bodyPr/>
          <a:lstStyle>
            <a:lvl1pPr>
              <a:defRPr>
                <a:latin typeface="Arial" panose="020B0604020202020204" pitchFamily="34" charset="0"/>
                <a:ea typeface="微軟正黑體" panose="020B0604030504040204" pitchFamily="34" charset="-120"/>
                <a:cs typeface="Arial" panose="020B0604020202020204" pitchFamily="34" charset="0"/>
              </a:defRPr>
            </a:lvl1pPr>
          </a:lstStyle>
          <a:p>
            <a:fld id="{5F6CEA59-826A-4FB0-BF3A-D1F923F9F4E7}" type="slidenum">
              <a:rPr lang="zh-TW" altLang="en-US" smtClean="0"/>
              <a:t>‹#›</a:t>
            </a:fld>
            <a:endParaRPr lang="zh-TW" altLang="en-US"/>
          </a:p>
        </p:txBody>
      </p:sp>
      <p:sp>
        <p:nvSpPr>
          <p:cNvPr id="19" name="標題版面配置區 1"/>
          <p:cNvSpPr>
            <a:spLocks noGrp="1"/>
          </p:cNvSpPr>
          <p:nvPr>
            <p:ph type="title"/>
          </p:nvPr>
        </p:nvSpPr>
        <p:spPr>
          <a:xfrm>
            <a:off x="482600" y="301157"/>
            <a:ext cx="9612745" cy="676564"/>
          </a:xfrm>
          <a:prstGeom prst="rect">
            <a:avLst/>
          </a:prstGeom>
        </p:spPr>
        <p:txBody>
          <a:bodyPr vert="horz" lIns="91440" tIns="45720" rIns="91440" bIns="45720" rtlCol="0" anchor="b">
            <a:normAutofit/>
          </a:bodyPr>
          <a:lstStyle>
            <a:lvl1pPr>
              <a:defRPr sz="3200" b="1">
                <a:latin typeface="Arial" panose="020B0604020202020204" pitchFamily="34" charset="0"/>
                <a:ea typeface="微軟正黑體" panose="020B0604030504040204" pitchFamily="34" charset="-120"/>
                <a:cs typeface="Arial" panose="020B0604020202020204" pitchFamily="34" charset="0"/>
              </a:defRPr>
            </a:lvl1pPr>
          </a:lstStyle>
          <a:p>
            <a:r>
              <a:rPr lang="zh-TW" altLang="en-US" dirty="0"/>
              <a:t>按一下以編輯母片標題樣式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pic>
        <p:nvPicPr>
          <p:cNvPr id="9" name="圖片 8" descr="/Users/judyxu/Downloads/0727.jpg0727"/>
          <p:cNvPicPr>
            <a:picLocks noChangeAspect="1"/>
          </p:cNvPicPr>
          <p:nvPr userDrawn="1"/>
        </p:nvPicPr>
        <p:blipFill>
          <a:blip r:embed="rId2"/>
          <a:srcRect/>
          <a:stretch>
            <a:fillRect/>
          </a:stretch>
        </p:blipFill>
        <p:spPr>
          <a:xfrm>
            <a:off x="-57467" y="-317"/>
            <a:ext cx="12308205" cy="6859270"/>
          </a:xfrm>
          <a:prstGeom prst="rect">
            <a:avLst/>
          </a:prstGeom>
        </p:spPr>
      </p:pic>
      <p:sp>
        <p:nvSpPr>
          <p:cNvPr id="30" name="標題 1"/>
          <p:cNvSpPr>
            <a:spLocks noGrp="1"/>
          </p:cNvSpPr>
          <p:nvPr>
            <p:ph type="ctrTitle"/>
          </p:nvPr>
        </p:nvSpPr>
        <p:spPr>
          <a:xfrm>
            <a:off x="939800" y="2842799"/>
            <a:ext cx="5436937" cy="645898"/>
          </a:xfrm>
          <a:prstGeom prst="rect">
            <a:avLst/>
          </a:prstGeom>
        </p:spPr>
        <p:txBody>
          <a:bodyPr anchor="b">
            <a:normAutofit/>
          </a:bodyPr>
          <a:lstStyle>
            <a:lvl1pPr algn="l">
              <a:defRPr sz="3200">
                <a:latin typeface="Arial" panose="020B0604020202020204" pitchFamily="34" charset="0"/>
                <a:ea typeface="微軟正黑體" panose="020B0604030504040204" pitchFamily="34" charset="-120"/>
                <a:cs typeface="Arial" panose="020B0604020202020204" pitchFamily="34" charset="0"/>
              </a:defRPr>
            </a:lvl1pPr>
          </a:lstStyle>
          <a:p>
            <a:r>
              <a:rPr lang="zh-TW" altLang="en-US" dirty="0"/>
              <a:t>按一下以編輯母片標題樣式</a:t>
            </a:r>
          </a:p>
        </p:txBody>
      </p:sp>
      <p:sp>
        <p:nvSpPr>
          <p:cNvPr id="31" name="副標題 2"/>
          <p:cNvSpPr>
            <a:spLocks noGrp="1"/>
          </p:cNvSpPr>
          <p:nvPr>
            <p:ph type="subTitle" idx="1"/>
          </p:nvPr>
        </p:nvSpPr>
        <p:spPr>
          <a:xfrm>
            <a:off x="939800" y="3602038"/>
            <a:ext cx="5436937" cy="360428"/>
          </a:xfrm>
        </p:spPr>
        <p:txBody>
          <a:bodyPr>
            <a:normAutofit/>
          </a:bodyPr>
          <a:lstStyle>
            <a:lvl1pPr marL="0" indent="0" algn="l">
              <a:buNone/>
              <a:defRPr sz="2000" b="0">
                <a:solidFill>
                  <a:schemeClr val="bg1">
                    <a:lumMod val="65000"/>
                  </a:schemeClr>
                </a:solidFill>
                <a:latin typeface="Arial" panose="020B0604020202020204" pitchFamily="34" charset="0"/>
                <a:ea typeface="微軟正黑體" panose="020B0604030504040204" pitchFamily="34" charset="-12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dirty="0"/>
              <a:t>按一下以編輯母片副標題樣式</a:t>
            </a:r>
          </a:p>
        </p:txBody>
      </p:sp>
      <p:sp>
        <p:nvSpPr>
          <p:cNvPr id="10" name="矩形 9"/>
          <p:cNvSpPr/>
          <p:nvPr userDrawn="1"/>
        </p:nvSpPr>
        <p:spPr>
          <a:xfrm>
            <a:off x="1073344" y="839743"/>
            <a:ext cx="3262432" cy="400110"/>
          </a:xfrm>
          <a:prstGeom prst="rect">
            <a:avLst/>
          </a:prstGeom>
        </p:spPr>
        <p:txBody>
          <a:bodyPr wrap="none">
            <a:spAutoFit/>
          </a:bodyPr>
          <a:lstStyle/>
          <a:p>
            <a:pPr lvl="0"/>
            <a:r>
              <a:rPr lang="zh-TW" altLang="en-US" sz="2000" dirty="0">
                <a:solidFill>
                  <a:schemeClr val="bg1"/>
                </a:solidFill>
                <a:latin typeface="Arial" panose="020B0604020202020204" pitchFamily="34" charset="0"/>
                <a:ea typeface="微軟正黑體" panose="020B0604030504040204" pitchFamily="34" charset="-120"/>
                <a:cs typeface="Arial" panose="020B0604020202020204" pitchFamily="34" charset="0"/>
              </a:rPr>
              <a:t>客尊 ．誠信 ． 創新． 卓越</a:t>
            </a:r>
          </a:p>
        </p:txBody>
      </p:sp>
      <p:grpSp>
        <p:nvGrpSpPr>
          <p:cNvPr id="15" name="群組 14"/>
          <p:cNvGrpSpPr/>
          <p:nvPr userDrawn="1"/>
        </p:nvGrpSpPr>
        <p:grpSpPr>
          <a:xfrm>
            <a:off x="819343" y="3474634"/>
            <a:ext cx="3728342" cy="101601"/>
            <a:chOff x="822519" y="3469870"/>
            <a:chExt cx="3728342" cy="101601"/>
          </a:xfrm>
        </p:grpSpPr>
        <p:cxnSp>
          <p:nvCxnSpPr>
            <p:cNvPr id="16" name="直線接點 15"/>
            <p:cNvCxnSpPr/>
            <p:nvPr userDrawn="1"/>
          </p:nvCxnSpPr>
          <p:spPr>
            <a:xfrm>
              <a:off x="889991" y="3520670"/>
              <a:ext cx="3600000" cy="0"/>
            </a:xfrm>
            <a:prstGeom prst="line">
              <a:avLst/>
            </a:prstGeom>
            <a:ln>
              <a:solidFill>
                <a:srgbClr val="B0D261"/>
              </a:solidFill>
            </a:ln>
          </p:spPr>
          <p:style>
            <a:lnRef idx="1">
              <a:schemeClr val="accent1"/>
            </a:lnRef>
            <a:fillRef idx="0">
              <a:schemeClr val="accent1"/>
            </a:fillRef>
            <a:effectRef idx="0">
              <a:schemeClr val="accent1"/>
            </a:effectRef>
            <a:fontRef idx="minor">
              <a:schemeClr val="tx1"/>
            </a:fontRef>
          </p:style>
        </p:cxnSp>
        <p:sp>
          <p:nvSpPr>
            <p:cNvPr id="17" name="橢圓 16"/>
            <p:cNvSpPr/>
            <p:nvPr userDrawn="1"/>
          </p:nvSpPr>
          <p:spPr>
            <a:xfrm>
              <a:off x="822519" y="3469870"/>
              <a:ext cx="101601" cy="101601"/>
            </a:xfrm>
            <a:prstGeom prst="ellipse">
              <a:avLst/>
            </a:prstGeom>
            <a:solidFill>
              <a:srgbClr val="0050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ea typeface="微軟正黑體" panose="020B0604030504040204" pitchFamily="34" charset="-120"/>
                <a:cs typeface="Arial" panose="020B0604020202020204" pitchFamily="34" charset="0"/>
              </a:endParaRPr>
            </a:p>
          </p:txBody>
        </p:sp>
        <p:sp>
          <p:nvSpPr>
            <p:cNvPr id="18" name="橢圓 17"/>
            <p:cNvSpPr/>
            <p:nvPr userDrawn="1"/>
          </p:nvSpPr>
          <p:spPr>
            <a:xfrm>
              <a:off x="4449260" y="3469870"/>
              <a:ext cx="101601" cy="101601"/>
            </a:xfrm>
            <a:prstGeom prst="ellipse">
              <a:avLst/>
            </a:prstGeom>
            <a:solidFill>
              <a:srgbClr val="0050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Arial" panose="020B0604020202020204" pitchFamily="34" charset="0"/>
                <a:ea typeface="微軟正黑體" panose="020B0604030504040204" pitchFamily="34" charset="-120"/>
                <a:cs typeface="Arial" panose="020B0604020202020204" pitchFamily="34" charset="0"/>
              </a:endParaRPr>
            </a:p>
          </p:txBody>
        </p:sp>
      </p:grpSp>
      <p:sp>
        <p:nvSpPr>
          <p:cNvPr id="22" name="文字版面配置區 3"/>
          <p:cNvSpPr>
            <a:spLocks noGrp="1"/>
          </p:cNvSpPr>
          <p:nvPr>
            <p:ph type="body" sz="half" idx="2"/>
          </p:nvPr>
        </p:nvSpPr>
        <p:spPr>
          <a:xfrm>
            <a:off x="1073344" y="4863786"/>
            <a:ext cx="3145730" cy="349898"/>
          </a:xfrm>
          <a:prstGeom prst="rect">
            <a:avLst/>
          </a:prstGeom>
        </p:spPr>
        <p:txBody>
          <a:bodyPr>
            <a:noAutofit/>
          </a:bodyPr>
          <a:lstStyle>
            <a:lvl1pPr marL="0" indent="0" algn="l">
              <a:buNone/>
              <a:defRPr sz="1800" b="0">
                <a:solidFill>
                  <a:schemeClr val="tx1">
                    <a:lumMod val="65000"/>
                    <a:lumOff val="35000"/>
                  </a:schemeClr>
                </a:solidFill>
                <a:latin typeface="Arial" panose="020B0604020202020204" pitchFamily="34" charset="0"/>
                <a:ea typeface="微軟正黑體" panose="020B0604030504040204" pitchFamily="34" charset="-120"/>
                <a:cs typeface="Arial" panose="020B060402020202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dirty="0"/>
              <a:t>按一下以編輯母片文字樣式</a:t>
            </a:r>
          </a:p>
        </p:txBody>
      </p:sp>
      <p:sp>
        <p:nvSpPr>
          <p:cNvPr id="23" name="文字版面配置區 3"/>
          <p:cNvSpPr>
            <a:spLocks noGrp="1"/>
          </p:cNvSpPr>
          <p:nvPr>
            <p:ph type="body" sz="half" idx="10"/>
          </p:nvPr>
        </p:nvSpPr>
        <p:spPr>
          <a:xfrm>
            <a:off x="1073344" y="5235284"/>
            <a:ext cx="3145730" cy="349898"/>
          </a:xfrm>
          <a:prstGeom prst="rect">
            <a:avLst/>
          </a:prstGeom>
        </p:spPr>
        <p:txBody>
          <a:bodyPr>
            <a:noAutofit/>
          </a:bodyPr>
          <a:lstStyle>
            <a:lvl1pPr marL="0" indent="0" algn="l">
              <a:buNone/>
              <a:defRPr sz="1800" b="0">
                <a:solidFill>
                  <a:schemeClr val="bg1">
                    <a:lumMod val="50000"/>
                  </a:schemeClr>
                </a:solidFill>
                <a:latin typeface="Arial" panose="020B0604020202020204" pitchFamily="34" charset="0"/>
                <a:ea typeface="微軟正黑體" panose="020B0604030504040204" pitchFamily="34" charset="-120"/>
                <a:cs typeface="Arial" panose="020B0604020202020204" pitchFamily="34" charset="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dirty="0"/>
              <a:t>按一下以編輯母片文字樣式</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兩項物件">
    <p:spTree>
      <p:nvGrpSpPr>
        <p:cNvPr id="1" name=""/>
        <p:cNvGrpSpPr/>
        <p:nvPr/>
      </p:nvGrpSpPr>
      <p:grpSpPr>
        <a:xfrm>
          <a:off x="0" y="0"/>
          <a:ext cx="0" cy="0"/>
          <a:chOff x="0" y="0"/>
          <a:chExt cx="0" cy="0"/>
        </a:xfrm>
      </p:grpSpPr>
      <p:sp>
        <p:nvSpPr>
          <p:cNvPr id="3" name="內容版面配置區 2"/>
          <p:cNvSpPr>
            <a:spLocks noGrp="1"/>
          </p:cNvSpPr>
          <p:nvPr>
            <p:ph sz="half" idx="1" hasCustomPrompt="1"/>
          </p:nvPr>
        </p:nvSpPr>
        <p:spPr>
          <a:xfrm>
            <a:off x="838200" y="1262130"/>
            <a:ext cx="5181600" cy="4914833"/>
          </a:xfrm>
          <a:prstGeom prst="rect">
            <a:avLst/>
          </a:prstGeo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hasCustomPrompt="1"/>
          </p:nvPr>
        </p:nvSpPr>
        <p:spPr>
          <a:xfrm>
            <a:off x="6172200" y="1262130"/>
            <a:ext cx="5181600" cy="4914833"/>
          </a:xfrm>
          <a:prstGeom prst="rect">
            <a:avLst/>
          </a:prstGeo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a:xfrm>
            <a:off x="838200" y="6356350"/>
            <a:ext cx="2743200" cy="365125"/>
          </a:xfrm>
          <a:prstGeom prst="rect">
            <a:avLst/>
          </a:prstGeom>
        </p:spPr>
        <p:txBody>
          <a:bodyPr/>
          <a:lstStyle/>
          <a:p>
            <a:fld id="{916B6C9C-812A-4C2F-BBAA-292E88821814}" type="datetime1">
              <a:rPr lang="zh-TW" altLang="en-US" smtClean="0"/>
              <a:t>2026/6/8</a:t>
            </a:fld>
            <a:endParaRPr lang="zh-TW" altLang="en-US"/>
          </a:p>
        </p:txBody>
      </p:sp>
      <p:sp>
        <p:nvSpPr>
          <p:cNvPr id="6" name="頁尾版面配置區 5"/>
          <p:cNvSpPr>
            <a:spLocks noGrp="1"/>
          </p:cNvSpPr>
          <p:nvPr>
            <p:ph type="ftr" sz="quarter" idx="11"/>
          </p:nvPr>
        </p:nvSpPr>
        <p:spPr>
          <a:xfrm>
            <a:off x="4038600" y="6356350"/>
            <a:ext cx="4114800" cy="365125"/>
          </a:xfrm>
          <a:prstGeom prst="rect">
            <a:avLst/>
          </a:prstGeom>
        </p:spPr>
        <p:txBody>
          <a:bodyPr/>
          <a:lstStyle/>
          <a:p>
            <a:endParaRPr lang="zh-TW" altLang="en-US"/>
          </a:p>
        </p:txBody>
      </p:sp>
      <p:sp>
        <p:nvSpPr>
          <p:cNvPr id="7" name="投影片編號版面配置區 6"/>
          <p:cNvSpPr>
            <a:spLocks noGrp="1"/>
          </p:cNvSpPr>
          <p:nvPr>
            <p:ph type="sldNum" sz="quarter" idx="12"/>
          </p:nvPr>
        </p:nvSpPr>
        <p:spPr>
          <a:xfrm>
            <a:off x="8610600" y="6356350"/>
            <a:ext cx="2743200" cy="365125"/>
          </a:xfrm>
          <a:prstGeom prst="rect">
            <a:avLst/>
          </a:prstGeom>
        </p:spPr>
        <p:txBody>
          <a:bodyPr/>
          <a:lstStyle/>
          <a:p>
            <a:fld id="{5F6CEA59-826A-4FB0-BF3A-D1F923F9F4E7}" type="slidenum">
              <a:rPr lang="zh-TW" altLang="en-US" smtClean="0"/>
              <a:t>‹#›</a:t>
            </a:fld>
            <a:endParaRPr lang="zh-TW" altLang="en-US"/>
          </a:p>
        </p:txBody>
      </p:sp>
      <p:sp>
        <p:nvSpPr>
          <p:cNvPr id="9" name="標題版面配置區 1"/>
          <p:cNvSpPr>
            <a:spLocks noGrp="1"/>
          </p:cNvSpPr>
          <p:nvPr>
            <p:ph type="title"/>
          </p:nvPr>
        </p:nvSpPr>
        <p:spPr>
          <a:xfrm>
            <a:off x="482600" y="301157"/>
            <a:ext cx="9612745" cy="676564"/>
          </a:xfrm>
          <a:prstGeom prst="rect">
            <a:avLst/>
          </a:prstGeom>
        </p:spPr>
        <p:txBody>
          <a:bodyPr vert="horz" lIns="91440" tIns="45720" rIns="91440" bIns="45720" rtlCol="0" anchor="ctr">
            <a:normAutofit/>
          </a:bodyPr>
          <a:lstStyle/>
          <a:p>
            <a:r>
              <a:rPr lang="zh-TW" altLang="en-US" dirty="0"/>
              <a:t>按一下以編輯母片標題樣式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hasCustomPrompt="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p:cNvSpPr>
            <a:spLocks noGrp="1"/>
          </p:cNvSpPr>
          <p:nvPr>
            <p:ph sz="half" idx="2" hasCustomPrompt="1"/>
          </p:nvPr>
        </p:nvSpPr>
        <p:spPr>
          <a:xfrm>
            <a:off x="839788" y="2505075"/>
            <a:ext cx="5157787" cy="3684588"/>
          </a:xfrm>
          <a:prstGeom prst="rect">
            <a:avLst/>
          </a:prstGeo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hasCustomPrompt="1"/>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p:cNvSpPr>
            <a:spLocks noGrp="1"/>
          </p:cNvSpPr>
          <p:nvPr>
            <p:ph sz="quarter" idx="4" hasCustomPrompt="1"/>
          </p:nvPr>
        </p:nvSpPr>
        <p:spPr>
          <a:xfrm>
            <a:off x="6172200" y="2505075"/>
            <a:ext cx="5183188" cy="3684588"/>
          </a:xfrm>
          <a:prstGeom prst="rect">
            <a:avLst/>
          </a:prstGeo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a:xfrm>
            <a:off x="838200" y="6356350"/>
            <a:ext cx="2743200" cy="365125"/>
          </a:xfrm>
          <a:prstGeom prst="rect">
            <a:avLst/>
          </a:prstGeom>
        </p:spPr>
        <p:txBody>
          <a:bodyPr/>
          <a:lstStyle/>
          <a:p>
            <a:fld id="{16691EA5-A7B5-4A3E-A49E-5A8210A61ECA}" type="datetime1">
              <a:rPr lang="zh-TW" altLang="en-US" smtClean="0"/>
              <a:t>2026/6/8</a:t>
            </a:fld>
            <a:endParaRPr lang="zh-TW" altLang="en-US"/>
          </a:p>
        </p:txBody>
      </p:sp>
      <p:sp>
        <p:nvSpPr>
          <p:cNvPr id="8" name="頁尾版面配置區 7"/>
          <p:cNvSpPr>
            <a:spLocks noGrp="1"/>
          </p:cNvSpPr>
          <p:nvPr>
            <p:ph type="ftr" sz="quarter" idx="11"/>
          </p:nvPr>
        </p:nvSpPr>
        <p:spPr>
          <a:xfrm>
            <a:off x="4038600" y="6356350"/>
            <a:ext cx="4114800" cy="365125"/>
          </a:xfrm>
          <a:prstGeom prst="rect">
            <a:avLst/>
          </a:prstGeom>
        </p:spPr>
        <p:txBody>
          <a:bodyPr/>
          <a:lstStyle/>
          <a:p>
            <a:endParaRPr lang="zh-TW" altLang="en-US"/>
          </a:p>
        </p:txBody>
      </p:sp>
      <p:sp>
        <p:nvSpPr>
          <p:cNvPr id="9" name="投影片編號版面配置區 8"/>
          <p:cNvSpPr>
            <a:spLocks noGrp="1"/>
          </p:cNvSpPr>
          <p:nvPr>
            <p:ph type="sldNum" sz="quarter" idx="12"/>
          </p:nvPr>
        </p:nvSpPr>
        <p:spPr>
          <a:xfrm>
            <a:off x="8610600" y="6356350"/>
            <a:ext cx="2743200" cy="365125"/>
          </a:xfrm>
          <a:prstGeom prst="rect">
            <a:avLst/>
          </a:prstGeom>
        </p:spPr>
        <p:txBody>
          <a:bodyPr/>
          <a:lstStyle/>
          <a:p>
            <a:fld id="{5F6CEA59-826A-4FB0-BF3A-D1F923F9F4E7}" type="slidenum">
              <a:rPr lang="zh-TW" altLang="en-US" smtClean="0"/>
              <a:t>‹#›</a:t>
            </a:fld>
            <a:endParaRPr lang="zh-TW" altLang="en-US"/>
          </a:p>
        </p:txBody>
      </p:sp>
      <p:sp>
        <p:nvSpPr>
          <p:cNvPr id="10" name="標題版面配置區 1"/>
          <p:cNvSpPr>
            <a:spLocks noGrp="1"/>
          </p:cNvSpPr>
          <p:nvPr>
            <p:ph type="title"/>
          </p:nvPr>
        </p:nvSpPr>
        <p:spPr>
          <a:xfrm>
            <a:off x="482600" y="301157"/>
            <a:ext cx="9612745" cy="676564"/>
          </a:xfrm>
          <a:prstGeom prst="rect">
            <a:avLst/>
          </a:prstGeom>
        </p:spPr>
        <p:txBody>
          <a:bodyPr vert="horz" lIns="91440" tIns="45720" rIns="91440" bIns="45720" rtlCol="0" anchor="ctr">
            <a:normAutofit/>
          </a:bodyPr>
          <a:lstStyle/>
          <a:p>
            <a:r>
              <a:rPr lang="zh-TW" altLang="en-US" dirty="0"/>
              <a:t>按一下以編輯母片標題樣式</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只有標題">
    <p:spTree>
      <p:nvGrpSpPr>
        <p:cNvPr id="1" name=""/>
        <p:cNvGrpSpPr/>
        <p:nvPr/>
      </p:nvGrpSpPr>
      <p:grpSpPr>
        <a:xfrm>
          <a:off x="0" y="0"/>
          <a:ext cx="0" cy="0"/>
          <a:chOff x="0" y="0"/>
          <a:chExt cx="0" cy="0"/>
        </a:xfrm>
      </p:grpSpPr>
      <p:sp>
        <p:nvSpPr>
          <p:cNvPr id="3" name="日期版面配置區 2"/>
          <p:cNvSpPr>
            <a:spLocks noGrp="1"/>
          </p:cNvSpPr>
          <p:nvPr>
            <p:ph type="dt" sz="half" idx="10"/>
          </p:nvPr>
        </p:nvSpPr>
        <p:spPr>
          <a:xfrm>
            <a:off x="838200" y="6356350"/>
            <a:ext cx="2743200" cy="365125"/>
          </a:xfrm>
          <a:prstGeom prst="rect">
            <a:avLst/>
          </a:prstGeom>
        </p:spPr>
        <p:txBody>
          <a:bodyPr/>
          <a:lstStyle/>
          <a:p>
            <a:fld id="{6F761969-3F0E-4945-9991-D6250D7048A7}" type="datetime1">
              <a:rPr lang="zh-TW" altLang="en-US" smtClean="0"/>
              <a:t>2026/6/8</a:t>
            </a:fld>
            <a:endParaRPr lang="zh-TW" altLang="en-US"/>
          </a:p>
        </p:txBody>
      </p:sp>
      <p:sp>
        <p:nvSpPr>
          <p:cNvPr id="4" name="頁尾版面配置區 3"/>
          <p:cNvSpPr>
            <a:spLocks noGrp="1"/>
          </p:cNvSpPr>
          <p:nvPr>
            <p:ph type="ftr" sz="quarter" idx="11"/>
          </p:nvPr>
        </p:nvSpPr>
        <p:spPr>
          <a:xfrm>
            <a:off x="4038600" y="6356350"/>
            <a:ext cx="4114800" cy="365125"/>
          </a:xfrm>
          <a:prstGeom prst="rect">
            <a:avLst/>
          </a:prstGeom>
        </p:spPr>
        <p:txBody>
          <a:bodyPr/>
          <a:lstStyle/>
          <a:p>
            <a:endParaRPr lang="zh-TW" altLang="en-US"/>
          </a:p>
        </p:txBody>
      </p:sp>
      <p:sp>
        <p:nvSpPr>
          <p:cNvPr id="5" name="投影片編號版面配置區 4"/>
          <p:cNvSpPr>
            <a:spLocks noGrp="1"/>
          </p:cNvSpPr>
          <p:nvPr>
            <p:ph type="sldNum" sz="quarter" idx="12"/>
          </p:nvPr>
        </p:nvSpPr>
        <p:spPr>
          <a:xfrm>
            <a:off x="8610600" y="6356350"/>
            <a:ext cx="2743200" cy="365125"/>
          </a:xfrm>
          <a:prstGeom prst="rect">
            <a:avLst/>
          </a:prstGeom>
        </p:spPr>
        <p:txBody>
          <a:bodyPr/>
          <a:lstStyle/>
          <a:p>
            <a:fld id="{5F6CEA59-826A-4FB0-BF3A-D1F923F9F4E7}" type="slidenum">
              <a:rPr lang="zh-TW" altLang="en-US" smtClean="0"/>
              <a:t>‹#›</a:t>
            </a:fld>
            <a:endParaRPr lang="zh-TW" altLang="en-US"/>
          </a:p>
        </p:txBody>
      </p:sp>
      <p:sp>
        <p:nvSpPr>
          <p:cNvPr id="6" name="標題版面配置區 1"/>
          <p:cNvSpPr>
            <a:spLocks noGrp="1"/>
          </p:cNvSpPr>
          <p:nvPr>
            <p:ph type="title"/>
          </p:nvPr>
        </p:nvSpPr>
        <p:spPr>
          <a:xfrm>
            <a:off x="482600" y="301157"/>
            <a:ext cx="9612745" cy="676564"/>
          </a:xfrm>
          <a:prstGeom prst="rect">
            <a:avLst/>
          </a:prstGeom>
        </p:spPr>
        <p:txBody>
          <a:bodyPr vert="horz" lIns="91440" tIns="45720" rIns="91440" bIns="45720" rtlCol="0" anchor="ctr">
            <a:normAutofit/>
          </a:bodyPr>
          <a:lstStyle/>
          <a:p>
            <a:r>
              <a:rPr lang="zh-TW" altLang="en-US" dirty="0"/>
              <a:t>按一下以編輯母片標題樣式</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a:xfrm>
            <a:off x="838200" y="6356350"/>
            <a:ext cx="2743200" cy="365125"/>
          </a:xfrm>
          <a:prstGeom prst="rect">
            <a:avLst/>
          </a:prstGeom>
        </p:spPr>
        <p:txBody>
          <a:bodyPr/>
          <a:lstStyle/>
          <a:p>
            <a:fld id="{CAAEEA88-AD01-49FD-B830-8831011DC877}" type="datetime1">
              <a:rPr lang="zh-TW" altLang="en-US" smtClean="0"/>
              <a:t>2026/6/8</a:t>
            </a:fld>
            <a:endParaRPr lang="zh-TW" altLang="en-US"/>
          </a:p>
        </p:txBody>
      </p:sp>
      <p:sp>
        <p:nvSpPr>
          <p:cNvPr id="3" name="頁尾版面配置區 2"/>
          <p:cNvSpPr>
            <a:spLocks noGrp="1"/>
          </p:cNvSpPr>
          <p:nvPr>
            <p:ph type="ftr" sz="quarter" idx="11"/>
          </p:nvPr>
        </p:nvSpPr>
        <p:spPr>
          <a:xfrm>
            <a:off x="4038600" y="6356350"/>
            <a:ext cx="4114800" cy="365125"/>
          </a:xfrm>
          <a:prstGeom prst="rect">
            <a:avLst/>
          </a:prstGeom>
        </p:spPr>
        <p:txBody>
          <a:bodyPr/>
          <a:lstStyle/>
          <a:p>
            <a:endParaRPr lang="zh-TW" altLang="en-US"/>
          </a:p>
        </p:txBody>
      </p:sp>
      <p:sp>
        <p:nvSpPr>
          <p:cNvPr id="4" name="投影片編號版面配置區 3"/>
          <p:cNvSpPr>
            <a:spLocks noGrp="1"/>
          </p:cNvSpPr>
          <p:nvPr>
            <p:ph type="sldNum" sz="quarter" idx="12"/>
          </p:nvPr>
        </p:nvSpPr>
        <p:spPr>
          <a:xfrm>
            <a:off x="8610600" y="6356350"/>
            <a:ext cx="2743200" cy="365125"/>
          </a:xfrm>
          <a:prstGeom prst="rect">
            <a:avLst/>
          </a:prstGeom>
        </p:spPr>
        <p:txBody>
          <a:bodyPr/>
          <a:lstStyle/>
          <a:p>
            <a:fld id="{5F6CEA59-826A-4FB0-BF3A-D1F923F9F4E7}" type="slidenum">
              <a:rPr lang="zh-TW" altLang="en-US" smtClean="0"/>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章節標題">
    <p:spTree>
      <p:nvGrpSpPr>
        <p:cNvPr id="1" name=""/>
        <p:cNvGrpSpPr/>
        <p:nvPr/>
      </p:nvGrpSpPr>
      <p:grpSpPr>
        <a:xfrm>
          <a:off x="0" y="0"/>
          <a:ext cx="0" cy="0"/>
          <a:chOff x="0" y="0"/>
          <a:chExt cx="0" cy="0"/>
        </a:xfrm>
      </p:grpSpPr>
      <p:pic>
        <p:nvPicPr>
          <p:cNvPr id="10" name="圖片 9" descr="/Users/judyxu/Downloads/07274.jpg07274"/>
          <p:cNvPicPr>
            <a:picLocks noChangeAspect="1"/>
          </p:cNvPicPr>
          <p:nvPr userDrawn="1"/>
        </p:nvPicPr>
        <p:blipFill>
          <a:blip r:embed="rId2"/>
          <a:srcRect/>
          <a:stretch>
            <a:fillRect/>
          </a:stretch>
        </p:blipFill>
        <p:spPr>
          <a:xfrm>
            <a:off x="-56515" y="318"/>
            <a:ext cx="12304395" cy="6857365"/>
          </a:xfrm>
          <a:prstGeom prst="rect">
            <a:avLst/>
          </a:prstGeom>
        </p:spPr>
      </p:pic>
      <p:cxnSp>
        <p:nvCxnSpPr>
          <p:cNvPr id="15" name="直線接點 14"/>
          <p:cNvCxnSpPr/>
          <p:nvPr userDrawn="1"/>
        </p:nvCxnSpPr>
        <p:spPr>
          <a:xfrm>
            <a:off x="1250327" y="2937312"/>
            <a:ext cx="0" cy="672384"/>
          </a:xfrm>
          <a:prstGeom prst="line">
            <a:avLst/>
          </a:prstGeom>
          <a:ln>
            <a:solidFill>
              <a:srgbClr val="B0D261"/>
            </a:solidFill>
          </a:ln>
        </p:spPr>
        <p:style>
          <a:lnRef idx="1">
            <a:schemeClr val="accent1"/>
          </a:lnRef>
          <a:fillRef idx="0">
            <a:schemeClr val="accent1"/>
          </a:fillRef>
          <a:effectRef idx="0">
            <a:schemeClr val="accent1"/>
          </a:effectRef>
          <a:fontRef idx="minor">
            <a:schemeClr val="tx1"/>
          </a:fontRef>
        </p:style>
      </p:cxnSp>
      <p:sp>
        <p:nvSpPr>
          <p:cNvPr id="3" name="文字版面配置區 2"/>
          <p:cNvSpPr>
            <a:spLocks noGrp="1"/>
          </p:cNvSpPr>
          <p:nvPr>
            <p:ph type="body" idx="1" hasCustomPrompt="1"/>
          </p:nvPr>
        </p:nvSpPr>
        <p:spPr>
          <a:xfrm>
            <a:off x="1403887" y="3602038"/>
            <a:ext cx="7392383" cy="343145"/>
          </a:xfrm>
          <a:prstGeom prst="rect">
            <a:avLst/>
          </a:prstGeom>
        </p:spPr>
        <p:txBody>
          <a:bodyPr>
            <a:normAutofit/>
          </a:bodyPr>
          <a:lstStyle>
            <a:lvl1pPr marL="0" indent="0">
              <a:buNone/>
              <a:defRPr sz="2000" b="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dirty="0"/>
              <a:t>編輯母片文字樣式</a:t>
            </a:r>
          </a:p>
        </p:txBody>
      </p:sp>
      <p:sp>
        <p:nvSpPr>
          <p:cNvPr id="2" name="標題 1"/>
          <p:cNvSpPr>
            <a:spLocks noGrp="1"/>
          </p:cNvSpPr>
          <p:nvPr>
            <p:ph type="title"/>
          </p:nvPr>
        </p:nvSpPr>
        <p:spPr>
          <a:xfrm>
            <a:off x="1398338" y="2991341"/>
            <a:ext cx="7397932" cy="515323"/>
          </a:xfrm>
          <a:prstGeom prst="rect">
            <a:avLst/>
          </a:prstGeom>
        </p:spPr>
        <p:txBody>
          <a:bodyPr anchor="t">
            <a:normAutofit/>
          </a:bodyPr>
          <a:lstStyle>
            <a:lvl1pPr>
              <a:defRPr sz="3200"/>
            </a:lvl1pPr>
          </a:lstStyle>
          <a:p>
            <a:r>
              <a:rPr lang="zh-TW" altLang="en-US" dirty="0"/>
              <a:t>按一下以編輯母片標題樣式</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a:prstGeom prst="rect">
            <a:avLst/>
          </a:prstGeom>
        </p:spPr>
        <p:txBody>
          <a:bodyPr anchor="b"/>
          <a:lstStyle>
            <a:lvl1pPr>
              <a:defRPr sz="3200"/>
            </a:lvl1pPr>
          </a:lstStyle>
          <a:p>
            <a:r>
              <a:rPr lang="zh-TW" altLang="en-US"/>
              <a:t>按一下以編輯母片標題樣式</a:t>
            </a:r>
          </a:p>
        </p:txBody>
      </p:sp>
      <p:sp>
        <p:nvSpPr>
          <p:cNvPr id="3" name="內容版面配置區 2"/>
          <p:cNvSpPr>
            <a:spLocks noGrp="1"/>
          </p:cNvSpPr>
          <p:nvPr>
            <p:ph idx="1" hasCustomPrompt="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a:xfrm>
            <a:off x="838200" y="6356350"/>
            <a:ext cx="2743200" cy="365125"/>
          </a:xfrm>
          <a:prstGeom prst="rect">
            <a:avLst/>
          </a:prstGeom>
        </p:spPr>
        <p:txBody>
          <a:bodyPr/>
          <a:lstStyle/>
          <a:p>
            <a:fld id="{87174770-FC09-4EA3-B56C-15A0D691CABC}" type="datetime1">
              <a:rPr lang="zh-TW" altLang="en-US" smtClean="0"/>
              <a:t>2026/6/8</a:t>
            </a:fld>
            <a:endParaRPr lang="zh-TW" altLang="en-US"/>
          </a:p>
        </p:txBody>
      </p:sp>
      <p:sp>
        <p:nvSpPr>
          <p:cNvPr id="6" name="頁尾版面配置區 5"/>
          <p:cNvSpPr>
            <a:spLocks noGrp="1"/>
          </p:cNvSpPr>
          <p:nvPr>
            <p:ph type="ftr" sz="quarter" idx="11"/>
          </p:nvPr>
        </p:nvSpPr>
        <p:spPr>
          <a:xfrm>
            <a:off x="4038600" y="6356350"/>
            <a:ext cx="4114800" cy="365125"/>
          </a:xfrm>
          <a:prstGeom prst="rect">
            <a:avLst/>
          </a:prstGeom>
        </p:spPr>
        <p:txBody>
          <a:bodyPr/>
          <a:lstStyle/>
          <a:p>
            <a:endParaRPr lang="zh-TW" altLang="en-US"/>
          </a:p>
        </p:txBody>
      </p:sp>
      <p:sp>
        <p:nvSpPr>
          <p:cNvPr id="7" name="投影片編號版面配置區 6"/>
          <p:cNvSpPr>
            <a:spLocks noGrp="1"/>
          </p:cNvSpPr>
          <p:nvPr>
            <p:ph type="sldNum" sz="quarter" idx="12"/>
          </p:nvPr>
        </p:nvSpPr>
        <p:spPr>
          <a:xfrm>
            <a:off x="8610600" y="6356350"/>
            <a:ext cx="2743200" cy="365125"/>
          </a:xfrm>
          <a:prstGeom prst="rect">
            <a:avLst/>
          </a:prstGeom>
        </p:spPr>
        <p:txBody>
          <a:bodyPr/>
          <a:lstStyle/>
          <a:p>
            <a:fld id="{5F6CEA59-826A-4FB0-BF3A-D1F923F9F4E7}" type="slidenum">
              <a:rPr lang="zh-TW" altLang="en-US" smtClean="0"/>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a:prstGeom prst="rect">
            <a:avLst/>
          </a:prstGeo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hasCustomPrompt="1"/>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p:cNvSpPr>
            <a:spLocks noGrp="1"/>
          </p:cNvSpPr>
          <p:nvPr>
            <p:ph type="dt" sz="half" idx="10"/>
          </p:nvPr>
        </p:nvSpPr>
        <p:spPr>
          <a:xfrm>
            <a:off x="838200" y="6356350"/>
            <a:ext cx="2743200" cy="365125"/>
          </a:xfrm>
          <a:prstGeom prst="rect">
            <a:avLst/>
          </a:prstGeom>
        </p:spPr>
        <p:txBody>
          <a:bodyPr/>
          <a:lstStyle/>
          <a:p>
            <a:fld id="{63804746-04D4-457F-ACCF-0A8A7BAEE87D}" type="datetime1">
              <a:rPr lang="zh-TW" altLang="en-US" smtClean="0"/>
              <a:t>2026/6/8</a:t>
            </a:fld>
            <a:endParaRPr lang="zh-TW" altLang="en-US"/>
          </a:p>
        </p:txBody>
      </p:sp>
      <p:sp>
        <p:nvSpPr>
          <p:cNvPr id="6" name="頁尾版面配置區 5"/>
          <p:cNvSpPr>
            <a:spLocks noGrp="1"/>
          </p:cNvSpPr>
          <p:nvPr>
            <p:ph type="ftr" sz="quarter" idx="11"/>
          </p:nvPr>
        </p:nvSpPr>
        <p:spPr>
          <a:xfrm>
            <a:off x="4038600" y="6356350"/>
            <a:ext cx="4114800" cy="365125"/>
          </a:xfrm>
          <a:prstGeom prst="rect">
            <a:avLst/>
          </a:prstGeom>
        </p:spPr>
        <p:txBody>
          <a:bodyPr/>
          <a:lstStyle/>
          <a:p>
            <a:endParaRPr lang="zh-TW" altLang="en-US"/>
          </a:p>
        </p:txBody>
      </p:sp>
      <p:sp>
        <p:nvSpPr>
          <p:cNvPr id="7" name="投影片編號版面配置區 6"/>
          <p:cNvSpPr>
            <a:spLocks noGrp="1"/>
          </p:cNvSpPr>
          <p:nvPr>
            <p:ph type="sldNum" sz="quarter" idx="12"/>
          </p:nvPr>
        </p:nvSpPr>
        <p:spPr>
          <a:xfrm>
            <a:off x="8610600" y="6356350"/>
            <a:ext cx="2743200" cy="365125"/>
          </a:xfrm>
          <a:prstGeom prst="rect">
            <a:avLst/>
          </a:prstGeom>
        </p:spPr>
        <p:txBody>
          <a:bodyPr/>
          <a:lstStyle/>
          <a:p>
            <a:fld id="{5F6CEA59-826A-4FB0-BF3A-D1F923F9F4E7}" type="slidenum">
              <a:rPr lang="zh-TW" altLang="en-US" smtClean="0"/>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a:xfrm>
            <a:off x="838200" y="365125"/>
            <a:ext cx="10515600" cy="1325563"/>
          </a:xfrm>
          <a:prstGeom prst="rect">
            <a:avLst/>
          </a:prstGeom>
        </p:spPr>
        <p:txBody>
          <a:bodyPr/>
          <a:lstStyle/>
          <a:p>
            <a:r>
              <a:rPr lang="zh-TW" altLang="en-US"/>
              <a:t>按一下以編輯母片標題樣式</a:t>
            </a:r>
          </a:p>
        </p:txBody>
      </p:sp>
      <p:sp>
        <p:nvSpPr>
          <p:cNvPr id="3" name="直排文字版面配置區 2"/>
          <p:cNvSpPr>
            <a:spLocks noGrp="1"/>
          </p:cNvSpPr>
          <p:nvPr>
            <p:ph type="body" orient="vert" idx="1" hasCustomPrompt="1"/>
          </p:nvPr>
        </p:nvSpPr>
        <p:spPr>
          <a:xfrm>
            <a:off x="838200" y="1825625"/>
            <a:ext cx="10515600" cy="4351338"/>
          </a:xfrm>
          <a:prstGeom prst="rect">
            <a:avLst/>
          </a:prstGeo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a:xfrm>
            <a:off x="838200" y="6356350"/>
            <a:ext cx="2743200" cy="365125"/>
          </a:xfrm>
          <a:prstGeom prst="rect">
            <a:avLst/>
          </a:prstGeom>
        </p:spPr>
        <p:txBody>
          <a:bodyPr/>
          <a:lstStyle/>
          <a:p>
            <a:fld id="{67CC06D4-EECC-48A2-AF3F-9A59457EBDA4}" type="datetime1">
              <a:rPr lang="zh-TW" altLang="en-US" smtClean="0"/>
              <a:t>2026/6/8</a:t>
            </a:fld>
            <a:endParaRPr lang="zh-TW" altLang="en-US"/>
          </a:p>
        </p:txBody>
      </p:sp>
      <p:sp>
        <p:nvSpPr>
          <p:cNvPr id="5" name="頁尾版面配置區 4"/>
          <p:cNvSpPr>
            <a:spLocks noGrp="1"/>
          </p:cNvSpPr>
          <p:nvPr>
            <p:ph type="ftr" sz="quarter" idx="11"/>
          </p:nvPr>
        </p:nvSpPr>
        <p:spPr>
          <a:xfrm>
            <a:off x="4038600" y="6356350"/>
            <a:ext cx="4114800" cy="365125"/>
          </a:xfrm>
          <a:prstGeom prst="rect">
            <a:avLst/>
          </a:prstGeom>
        </p:spPr>
        <p:txBody>
          <a:bodyPr/>
          <a:lstStyle/>
          <a:p>
            <a:endParaRPr lang="zh-TW" altLang="en-US"/>
          </a:p>
        </p:txBody>
      </p:sp>
      <p:sp>
        <p:nvSpPr>
          <p:cNvPr id="6" name="投影片編號版面配置區 5"/>
          <p:cNvSpPr>
            <a:spLocks noGrp="1"/>
          </p:cNvSpPr>
          <p:nvPr>
            <p:ph type="sldNum" sz="quarter" idx="12"/>
          </p:nvPr>
        </p:nvSpPr>
        <p:spPr>
          <a:xfrm>
            <a:off x="8610600" y="6356350"/>
            <a:ext cx="2743200" cy="365125"/>
          </a:xfrm>
          <a:prstGeom prst="rect">
            <a:avLst/>
          </a:prstGeom>
        </p:spPr>
        <p:txBody>
          <a:bodyPr/>
          <a:lstStyle/>
          <a:p>
            <a:fld id="{5F6CEA59-826A-4FB0-BF3A-D1F923F9F4E7}"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a:prstGeom prst="rect">
            <a:avLst/>
          </a:prstGeom>
        </p:spPr>
        <p:txBody>
          <a:bodyPr vert="eaVert"/>
          <a:lstStyle/>
          <a:p>
            <a:r>
              <a:rPr lang="zh-TW" altLang="en-US"/>
              <a:t>按一下以編輯母片標題樣式</a:t>
            </a:r>
          </a:p>
        </p:txBody>
      </p:sp>
      <p:sp>
        <p:nvSpPr>
          <p:cNvPr id="3" name="直排文字版面配置區 2"/>
          <p:cNvSpPr>
            <a:spLocks noGrp="1"/>
          </p:cNvSpPr>
          <p:nvPr>
            <p:ph type="body" orient="vert" idx="1" hasCustomPrompt="1"/>
          </p:nvPr>
        </p:nvSpPr>
        <p:spPr>
          <a:xfrm>
            <a:off x="838200" y="365125"/>
            <a:ext cx="7734300" cy="5811838"/>
          </a:xfrm>
          <a:prstGeom prst="rect">
            <a:avLst/>
          </a:prstGeo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a:xfrm>
            <a:off x="838200" y="6356350"/>
            <a:ext cx="2743200" cy="365125"/>
          </a:xfrm>
          <a:prstGeom prst="rect">
            <a:avLst/>
          </a:prstGeom>
        </p:spPr>
        <p:txBody>
          <a:bodyPr/>
          <a:lstStyle/>
          <a:p>
            <a:fld id="{A284A9CC-476D-4542-A265-A60408C0B38B}" type="datetime1">
              <a:rPr lang="zh-TW" altLang="en-US" smtClean="0"/>
              <a:t>2026/6/8</a:t>
            </a:fld>
            <a:endParaRPr lang="zh-TW" altLang="en-US"/>
          </a:p>
        </p:txBody>
      </p:sp>
      <p:sp>
        <p:nvSpPr>
          <p:cNvPr id="5" name="頁尾版面配置區 4"/>
          <p:cNvSpPr>
            <a:spLocks noGrp="1"/>
          </p:cNvSpPr>
          <p:nvPr>
            <p:ph type="ftr" sz="quarter" idx="11"/>
          </p:nvPr>
        </p:nvSpPr>
        <p:spPr>
          <a:xfrm>
            <a:off x="4038600" y="6356350"/>
            <a:ext cx="4114800" cy="365125"/>
          </a:xfrm>
          <a:prstGeom prst="rect">
            <a:avLst/>
          </a:prstGeom>
        </p:spPr>
        <p:txBody>
          <a:bodyPr/>
          <a:lstStyle/>
          <a:p>
            <a:endParaRPr lang="zh-TW" altLang="en-US"/>
          </a:p>
        </p:txBody>
      </p:sp>
      <p:sp>
        <p:nvSpPr>
          <p:cNvPr id="6" name="投影片編號版面配置區 5"/>
          <p:cNvSpPr>
            <a:spLocks noGrp="1"/>
          </p:cNvSpPr>
          <p:nvPr>
            <p:ph type="sldNum" sz="quarter" idx="12"/>
          </p:nvPr>
        </p:nvSpPr>
        <p:spPr>
          <a:xfrm>
            <a:off x="8610600" y="6356350"/>
            <a:ext cx="2743200" cy="365125"/>
          </a:xfrm>
          <a:prstGeom prst="rect">
            <a:avLst/>
          </a:prstGeom>
        </p:spPr>
        <p:txBody>
          <a:bodyPr/>
          <a:lstStyle/>
          <a:p>
            <a:fld id="{5F6CEA59-826A-4FB0-BF3A-D1F923F9F4E7}" type="slidenum">
              <a:rPr lang="zh-TW" altLang="en-US" smtClean="0"/>
              <a:t>‹#›</a:t>
            </a:fld>
            <a:endParaRPr lang="zh-TW"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Ending">
    <p:spTree>
      <p:nvGrpSpPr>
        <p:cNvPr id="1" name=""/>
        <p:cNvGrpSpPr/>
        <p:nvPr/>
      </p:nvGrpSpPr>
      <p:grpSpPr>
        <a:xfrm>
          <a:off x="0" y="0"/>
          <a:ext cx="0" cy="0"/>
          <a:chOff x="0" y="0"/>
          <a:chExt cx="0" cy="0"/>
        </a:xfrm>
      </p:grpSpPr>
      <p:pic>
        <p:nvPicPr>
          <p:cNvPr id="2" name="图片 1" descr="ae4f69b4820e7f371fbb39c324bd11d"/>
          <p:cNvPicPr>
            <a:picLocks noChangeAspect="1"/>
          </p:cNvPicPr>
          <p:nvPr userDrawn="1"/>
        </p:nvPicPr>
        <p:blipFill>
          <a:blip r:embed="rId2"/>
          <a:stretch>
            <a:fillRect/>
          </a:stretch>
        </p:blipFill>
        <p:spPr>
          <a:xfrm>
            <a:off x="-89535" y="-41910"/>
            <a:ext cx="12327255" cy="6941820"/>
          </a:xfrm>
          <a:prstGeom prst="rect">
            <a:avLst/>
          </a:prstGeom>
        </p:spPr>
      </p:pic>
      <p:pic>
        <p:nvPicPr>
          <p:cNvPr id="3" name="图片 2" descr="/Users/judyxu/Downloads/公司简介/Desktop/未标题-3.png未标题-3"/>
          <p:cNvPicPr>
            <a:picLocks noChangeAspect="1"/>
          </p:cNvPicPr>
          <p:nvPr userDrawn="1"/>
        </p:nvPicPr>
        <p:blipFill>
          <a:blip r:embed="rId3"/>
          <a:srcRect/>
          <a:stretch>
            <a:fillRect/>
          </a:stretch>
        </p:blipFill>
        <p:spPr>
          <a:xfrm>
            <a:off x="-67310" y="-37782"/>
            <a:ext cx="12325985" cy="693356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文字版面配置區 2"/>
          <p:cNvSpPr>
            <a:spLocks noGrp="1"/>
          </p:cNvSpPr>
          <p:nvPr>
            <p:ph type="body" idx="1"/>
          </p:nvPr>
        </p:nvSpPr>
        <p:spPr>
          <a:xfrm>
            <a:off x="495300" y="1199126"/>
            <a:ext cx="11176000" cy="4947673"/>
          </a:xfrm>
          <a:prstGeom prst="rect">
            <a:avLst/>
          </a:prstGeom>
        </p:spPr>
        <p:txBody>
          <a:bodyPr vert="horz" lIns="91440" tIns="45720" rIns="91440" bIns="45720" rtlCol="0">
            <a:normAutofit/>
          </a:body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endParaRPr lang="en-US" altLang="zh-TW" dirty="0"/>
          </a:p>
          <a:p>
            <a:pPr lvl="4"/>
            <a:endParaRPr lang="zh-TW" altLang="en-US" dirty="0"/>
          </a:p>
        </p:txBody>
      </p:sp>
      <p:sp>
        <p:nvSpPr>
          <p:cNvPr id="8"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marL="0" algn="l" defTabSz="914400" rtl="0" eaLnBrk="1" latinLnBrk="0" hangingPunct="1">
              <a:defRPr lang="zh-TW" altLang="en-US" sz="1200" kern="1200" smtClean="0">
                <a:solidFill>
                  <a:schemeClr val="bg1">
                    <a:lumMod val="65000"/>
                  </a:schemeClr>
                </a:solidFill>
                <a:latin typeface="Arial" panose="020B0604020202020204" pitchFamily="34" charset="0"/>
                <a:ea typeface="+mn-ea"/>
                <a:cs typeface="Arial" panose="020B0604020202020204" pitchFamily="34" charset="0"/>
              </a:defRPr>
            </a:lvl1pPr>
          </a:lstStyle>
          <a:p>
            <a:fld id="{0DC30BCA-8991-4389-9DAD-37DCE683428C}" type="datetime1">
              <a:rPr lang="zh-TW" altLang="en-US" smtClean="0"/>
              <a:t>2026/6/8</a:t>
            </a:fld>
            <a:endParaRPr lang="en-US" dirty="0"/>
          </a:p>
        </p:txBody>
      </p:sp>
      <p:sp>
        <p:nvSpPr>
          <p:cNvPr id="9"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zh-TW" altLang="en-US" sz="1200" dirty="0">
                <a:solidFill>
                  <a:schemeClr val="bg1">
                    <a:lumMod val="65000"/>
                  </a:schemeClr>
                </a:solidFill>
                <a:latin typeface="Arial" panose="020B0604020202020204" pitchFamily="34" charset="0"/>
                <a:cs typeface="Arial" panose="020B0604020202020204" pitchFamily="34" charset="0"/>
              </a:defRPr>
            </a:lvl1pPr>
          </a:lstStyle>
          <a:p>
            <a:endParaRPr lang="zh-TW" altLang="en-US" dirty="0"/>
          </a:p>
        </p:txBody>
      </p:sp>
      <p:pic>
        <p:nvPicPr>
          <p:cNvPr id="11" name="圖片 10" descr="/Users/judyxu/Downloads/新版logo/新版logo-改（显示器版）.png新版logo-改（显示器版）"/>
          <p:cNvPicPr>
            <a:picLocks noChangeAspect="1"/>
          </p:cNvPicPr>
          <p:nvPr userDrawn="1"/>
        </p:nvPicPr>
        <p:blipFill>
          <a:blip r:embed="rId14"/>
          <a:srcRect/>
          <a:stretch>
            <a:fillRect/>
          </a:stretch>
        </p:blipFill>
        <p:spPr>
          <a:xfrm>
            <a:off x="9852660" y="-68580"/>
            <a:ext cx="2233295" cy="1334770"/>
          </a:xfrm>
          <a:prstGeom prst="rect">
            <a:avLst/>
          </a:prstGeom>
        </p:spPr>
      </p:pic>
      <p:sp>
        <p:nvSpPr>
          <p:cNvPr id="12" name="矩形 11"/>
          <p:cNvSpPr/>
          <p:nvPr userDrawn="1"/>
        </p:nvSpPr>
        <p:spPr>
          <a:xfrm>
            <a:off x="9780222" y="6416120"/>
            <a:ext cx="1691489" cy="276999"/>
          </a:xfrm>
          <a:prstGeom prst="rect">
            <a:avLst/>
          </a:prstGeom>
        </p:spPr>
        <p:txBody>
          <a:bodyPr wrap="none">
            <a:spAutoFit/>
          </a:bodyPr>
          <a:lstStyle/>
          <a:p>
            <a:r>
              <a:rPr lang="en-US" altLang="zh-TW" sz="1200" dirty="0">
                <a:solidFill>
                  <a:schemeClr val="bg1">
                    <a:lumMod val="65000"/>
                  </a:schemeClr>
                </a:solidFill>
                <a:latin typeface="Arial" panose="020B0604020202020204" pitchFamily="34" charset="0"/>
                <a:cs typeface="Arial" panose="020B0604020202020204" pitchFamily="34" charset="0"/>
              </a:rPr>
              <a:t>Company Confidential</a:t>
            </a:r>
            <a:endParaRPr lang="zh-TW" altLang="en-US" sz="1200" dirty="0">
              <a:solidFill>
                <a:schemeClr val="bg1">
                  <a:lumMod val="65000"/>
                </a:schemeClr>
              </a:solidFill>
              <a:latin typeface="Arial" panose="020B0604020202020204" pitchFamily="34" charset="0"/>
              <a:cs typeface="Arial" panose="020B0604020202020204" pitchFamily="34" charset="0"/>
            </a:endParaRPr>
          </a:p>
        </p:txBody>
      </p:sp>
      <p:grpSp>
        <p:nvGrpSpPr>
          <p:cNvPr id="13" name="群組 12"/>
          <p:cNvGrpSpPr/>
          <p:nvPr userDrawn="1"/>
        </p:nvGrpSpPr>
        <p:grpSpPr>
          <a:xfrm>
            <a:off x="384174" y="1012223"/>
            <a:ext cx="9770512" cy="101601"/>
            <a:chOff x="418040" y="3314082"/>
            <a:chExt cx="9770512" cy="101601"/>
          </a:xfrm>
        </p:grpSpPr>
        <p:cxnSp>
          <p:nvCxnSpPr>
            <p:cNvPr id="14" name="直線接點 13"/>
            <p:cNvCxnSpPr/>
            <p:nvPr userDrawn="1"/>
          </p:nvCxnSpPr>
          <p:spPr>
            <a:xfrm>
              <a:off x="485512" y="3364882"/>
              <a:ext cx="9633600" cy="0"/>
            </a:xfrm>
            <a:prstGeom prst="line">
              <a:avLst/>
            </a:prstGeom>
            <a:ln>
              <a:solidFill>
                <a:srgbClr val="B0D261"/>
              </a:solidFill>
            </a:ln>
          </p:spPr>
          <p:style>
            <a:lnRef idx="1">
              <a:schemeClr val="accent1"/>
            </a:lnRef>
            <a:fillRef idx="0">
              <a:schemeClr val="accent1"/>
            </a:fillRef>
            <a:effectRef idx="0">
              <a:schemeClr val="accent1"/>
            </a:effectRef>
            <a:fontRef idx="minor">
              <a:schemeClr val="tx1"/>
            </a:fontRef>
          </p:style>
        </p:cxnSp>
        <p:sp>
          <p:nvSpPr>
            <p:cNvPr id="15" name="橢圓 14"/>
            <p:cNvSpPr/>
            <p:nvPr userDrawn="1"/>
          </p:nvSpPr>
          <p:spPr>
            <a:xfrm>
              <a:off x="418040" y="3314082"/>
              <a:ext cx="101601" cy="101601"/>
            </a:xfrm>
            <a:prstGeom prst="ellipse">
              <a:avLst/>
            </a:prstGeom>
            <a:solidFill>
              <a:srgbClr val="0050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橢圓 15"/>
            <p:cNvSpPr/>
            <p:nvPr userDrawn="1"/>
          </p:nvSpPr>
          <p:spPr>
            <a:xfrm>
              <a:off x="10086951" y="3314082"/>
              <a:ext cx="101601" cy="101601"/>
            </a:xfrm>
            <a:prstGeom prst="ellipse">
              <a:avLst/>
            </a:prstGeom>
            <a:solidFill>
              <a:srgbClr val="0050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0" name="標題版面配置區 1"/>
          <p:cNvSpPr>
            <a:spLocks noGrp="1"/>
          </p:cNvSpPr>
          <p:nvPr>
            <p:ph type="title"/>
          </p:nvPr>
        </p:nvSpPr>
        <p:spPr>
          <a:xfrm>
            <a:off x="482600" y="301157"/>
            <a:ext cx="9612745" cy="676564"/>
          </a:xfrm>
          <a:prstGeom prst="rect">
            <a:avLst/>
          </a:prstGeom>
        </p:spPr>
        <p:txBody>
          <a:bodyPr vert="horz" lIns="91440" tIns="45720" rIns="91440" bIns="45720" rtlCol="0" anchor="b">
            <a:normAutofit/>
          </a:bodyPr>
          <a:lstStyle/>
          <a:p>
            <a:r>
              <a:rPr lang="zh-TW" altLang="en-US" dirty="0"/>
              <a:t>按一下以編輯母片標題樣式</a:t>
            </a:r>
          </a:p>
        </p:txBody>
      </p:sp>
      <p:sp>
        <p:nvSpPr>
          <p:cNvPr id="22" name="投影片編號版面配置區 5"/>
          <p:cNvSpPr>
            <a:spLocks noGrp="1"/>
          </p:cNvSpPr>
          <p:nvPr>
            <p:ph type="sldNum" sz="quarter" idx="4"/>
          </p:nvPr>
        </p:nvSpPr>
        <p:spPr>
          <a:xfrm>
            <a:off x="9164388" y="6356350"/>
            <a:ext cx="2743200" cy="365125"/>
          </a:xfrm>
          <a:prstGeom prst="rect">
            <a:avLst/>
          </a:prstGeom>
        </p:spPr>
        <p:txBody>
          <a:bodyPr anchor="ctr"/>
          <a:lstStyle>
            <a:lvl1pPr algn="r">
              <a:defRPr sz="1200">
                <a:solidFill>
                  <a:schemeClr val="bg1">
                    <a:lumMod val="75000"/>
                  </a:schemeClr>
                </a:solidFill>
                <a:latin typeface="Arial" panose="020B0604020202020204" pitchFamily="34" charset="0"/>
                <a:cs typeface="Arial" panose="020B0604020202020204" pitchFamily="34" charset="0"/>
              </a:defRPr>
            </a:lvl1pPr>
          </a:lstStyle>
          <a:p>
            <a:fld id="{5F6CEA59-826A-4FB0-BF3A-D1F923F9F4E7}" type="slidenum">
              <a:rPr lang="zh-TW" altLang="en-US" smtClean="0"/>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3200" b="1" kern="1200">
          <a:solidFill>
            <a:srgbClr val="024F6B"/>
          </a:solidFill>
          <a:latin typeface="微軟正黑體" panose="020B0604030504040204" pitchFamily="34" charset="-120"/>
          <a:ea typeface="微軟正黑體" panose="020B0604030504040204" pitchFamily="34" charset="-120"/>
          <a:cs typeface="+mj-cs"/>
        </a:defRPr>
      </a:lvl1pPr>
    </p:titleStyle>
    <p:bodyStyle>
      <a:lvl1pPr marL="228600" indent="-228600" algn="l" defTabSz="914400" rtl="0" eaLnBrk="1" latinLnBrk="0" hangingPunct="1">
        <a:lnSpc>
          <a:spcPct val="90000"/>
        </a:lnSpc>
        <a:spcBef>
          <a:spcPts val="1000"/>
        </a:spcBef>
        <a:buClr>
          <a:srgbClr val="024E6A"/>
        </a:buClr>
        <a:buFont typeface="Arial" panose="020B0604020202020204" pitchFamily="34" charset="0"/>
        <a:buChar char="•"/>
        <a:defRPr sz="2800" b="0" kern="1200">
          <a:solidFill>
            <a:srgbClr val="024E6A"/>
          </a:solidFill>
          <a:latin typeface="微軟正黑體" panose="020B0604030504040204" pitchFamily="34" charset="-120"/>
          <a:ea typeface="微軟正黑體" panose="020B0604030504040204" pitchFamily="34" charset="-120"/>
          <a:cs typeface="+mn-cs"/>
        </a:defRPr>
      </a:lvl1pPr>
      <a:lvl2pPr marL="685800" indent="-228600" algn="l" defTabSz="914400" rtl="0" eaLnBrk="1" latinLnBrk="0" hangingPunct="1">
        <a:lnSpc>
          <a:spcPct val="90000"/>
        </a:lnSpc>
        <a:spcBef>
          <a:spcPts val="500"/>
        </a:spcBef>
        <a:buClr>
          <a:srgbClr val="B0D261"/>
        </a:buClr>
        <a:buFont typeface="Arial" panose="020B0604020202020204" pitchFamily="34" charset="0"/>
        <a:buChar char="•"/>
        <a:defRPr sz="2400" kern="1200">
          <a:solidFill>
            <a:schemeClr val="tx1">
              <a:lumMod val="75000"/>
              <a:lumOff val="25000"/>
            </a:schemeClr>
          </a:solidFill>
          <a:latin typeface="微軟正黑體" panose="020B0604030504040204" pitchFamily="34" charset="-120"/>
          <a:ea typeface="微軟正黑體" panose="020B0604030504040204" pitchFamily="34" charset="-120"/>
          <a:cs typeface="+mn-cs"/>
        </a:defRPr>
      </a:lvl2pPr>
      <a:lvl3pPr marL="1143000" indent="-228600" algn="l" defTabSz="914400" rtl="0" eaLnBrk="1" latinLnBrk="0" hangingPunct="1">
        <a:lnSpc>
          <a:spcPct val="90000"/>
        </a:lnSpc>
        <a:spcBef>
          <a:spcPts val="500"/>
        </a:spcBef>
        <a:buClr>
          <a:srgbClr val="024E6A"/>
        </a:buClr>
        <a:buFont typeface="Arial" panose="020B0604020202020204" pitchFamily="34" charset="0"/>
        <a:buChar char="•"/>
        <a:defRPr sz="2000" kern="1200">
          <a:solidFill>
            <a:schemeClr val="tx1">
              <a:lumMod val="75000"/>
              <a:lumOff val="25000"/>
            </a:schemeClr>
          </a:solidFill>
          <a:latin typeface="微軟正黑體" panose="020B0604030504040204" pitchFamily="34" charset="-120"/>
          <a:ea typeface="微軟正黑體" panose="020B0604030504040204" pitchFamily="34" charset="-120"/>
          <a:cs typeface="+mn-cs"/>
        </a:defRPr>
      </a:lvl3pPr>
      <a:lvl4pPr marL="1600200" indent="-228600" algn="l" defTabSz="914400" rtl="0" eaLnBrk="1" latinLnBrk="0" hangingPunct="1">
        <a:lnSpc>
          <a:spcPct val="90000"/>
        </a:lnSpc>
        <a:spcBef>
          <a:spcPts val="500"/>
        </a:spcBef>
        <a:buClr>
          <a:srgbClr val="B0D261"/>
        </a:buClr>
        <a:buFont typeface="Arial" panose="020B0604020202020204" pitchFamily="34" charset="0"/>
        <a:buChar char="•"/>
        <a:defRPr sz="1800" kern="1200">
          <a:solidFill>
            <a:schemeClr val="tx1">
              <a:lumMod val="75000"/>
              <a:lumOff val="25000"/>
            </a:schemeClr>
          </a:solidFill>
          <a:latin typeface="微軟正黑體" panose="020B0604030504040204" pitchFamily="34" charset="-120"/>
          <a:ea typeface="微軟正黑體" panose="020B0604030504040204" pitchFamily="34" charset="-120"/>
          <a:cs typeface="+mn-cs"/>
        </a:defRPr>
      </a:lvl4pPr>
      <a:lvl5pPr marL="2057400" indent="-228600" algn="l" defTabSz="914400" rtl="0" eaLnBrk="1" latinLnBrk="0" hangingPunct="1">
        <a:lnSpc>
          <a:spcPct val="90000"/>
        </a:lnSpc>
        <a:spcBef>
          <a:spcPts val="500"/>
        </a:spcBef>
        <a:buClr>
          <a:srgbClr val="024E6A"/>
        </a:buClr>
        <a:buFont typeface="Arial" panose="020B0604020202020204" pitchFamily="34" charset="0"/>
        <a:buChar char="•"/>
        <a:defRPr sz="1600" kern="1200">
          <a:solidFill>
            <a:schemeClr val="tx1">
              <a:lumMod val="75000"/>
              <a:lumOff val="25000"/>
            </a:schemeClr>
          </a:solidFill>
          <a:latin typeface="微軟正黑體" panose="020B0604030504040204" pitchFamily="34" charset="-120"/>
          <a:ea typeface="微軟正黑體" panose="020B0604030504040204" pitchFamily="34" charset="-12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hyperlink" Target="https://ithelp.ithome.com.tw/articles/10378934"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hyperlink" Target="https://blog.cashwu.com/blog/2024/spring-boot-transactional-usage-and-best-practices"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dirty="0"/>
              <a:t>除錯 </a:t>
            </a:r>
            <a:r>
              <a:rPr lang="en-US" altLang="zh-TW" dirty="0"/>
              <a:t>&amp;</a:t>
            </a:r>
            <a:r>
              <a:rPr lang="zh-TW" altLang="en-US" dirty="0"/>
              <a:t> 例外處理</a:t>
            </a:r>
          </a:p>
        </p:txBody>
      </p:sp>
      <p:sp>
        <p:nvSpPr>
          <p:cNvPr id="3" name="副標題 2"/>
          <p:cNvSpPr>
            <a:spLocks noGrp="1"/>
          </p:cNvSpPr>
          <p:nvPr>
            <p:ph type="subTitle" idx="1"/>
          </p:nvPr>
        </p:nvSpPr>
        <p:spPr/>
        <p:txBody>
          <a:bodyPr>
            <a:normAutofit lnSpcReduction="10000"/>
          </a:bodyPr>
          <a:lstStyle/>
          <a:p>
            <a:r>
              <a:rPr lang="en-US" altLang="zh-TW" dirty="0"/>
              <a:t>The Partner You Can Trust</a:t>
            </a:r>
            <a:endParaRPr lang="zh-TW" altLang="en-US" dirty="0"/>
          </a:p>
        </p:txBody>
      </p:sp>
      <p:sp>
        <p:nvSpPr>
          <p:cNvPr id="4" name="文字版面配置區 3"/>
          <p:cNvSpPr>
            <a:spLocks noGrp="1"/>
          </p:cNvSpPr>
          <p:nvPr>
            <p:ph type="body" sz="half" idx="2"/>
          </p:nvPr>
        </p:nvSpPr>
        <p:spPr/>
        <p:txBody>
          <a:bodyPr/>
          <a:lstStyle/>
          <a:p>
            <a:r>
              <a:rPr lang="zh-TW" altLang="en-US" dirty="0"/>
              <a:t>吳信賢</a:t>
            </a:r>
          </a:p>
        </p:txBody>
      </p:sp>
      <p:sp>
        <p:nvSpPr>
          <p:cNvPr id="5" name="文字版面配置區 4"/>
          <p:cNvSpPr>
            <a:spLocks noGrp="1"/>
          </p:cNvSpPr>
          <p:nvPr>
            <p:ph type="body" sz="half" idx="10"/>
          </p:nvPr>
        </p:nvSpPr>
        <p:spPr/>
        <p:txBody>
          <a:bodyPr/>
          <a:lstStyle/>
          <a:p>
            <a:r>
              <a:rPr lang="en-US" altLang="zh-TW" dirty="0"/>
              <a:t>2024/12/23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p:cNvSpPr>
            <a:spLocks noGrp="1"/>
          </p:cNvSpPr>
          <p:nvPr>
            <p:ph type="body" idx="1"/>
          </p:nvPr>
        </p:nvSpPr>
        <p:spPr/>
        <p:txBody>
          <a:bodyPr>
            <a:normAutofit lnSpcReduction="10000"/>
          </a:bodyPr>
          <a:lstStyle/>
          <a:p>
            <a:endParaRPr lang="zh-TW" altLang="en-US" dirty="0"/>
          </a:p>
        </p:txBody>
      </p:sp>
      <p:sp>
        <p:nvSpPr>
          <p:cNvPr id="3" name="標題 2"/>
          <p:cNvSpPr>
            <a:spLocks noGrp="1"/>
          </p:cNvSpPr>
          <p:nvPr>
            <p:ph type="title"/>
          </p:nvPr>
        </p:nvSpPr>
        <p:spPr/>
        <p:txBody>
          <a:bodyPr>
            <a:normAutofit fontScale="90000"/>
          </a:bodyPr>
          <a:lstStyle/>
          <a:p>
            <a:r>
              <a:rPr lang="zh-TW" altLang="en-US" dirty="0"/>
              <a:t>例外處理</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en-US" altLang="zh-TW" dirty="0"/>
              <a:t>JAVA</a:t>
            </a:r>
            <a:r>
              <a:rPr lang="zh-TW" altLang="en-US" dirty="0"/>
              <a:t>的</a:t>
            </a:r>
            <a:r>
              <a:rPr lang="en-US" altLang="zh-TW" dirty="0"/>
              <a:t>source file</a:t>
            </a:r>
            <a:r>
              <a:rPr lang="zh-TW" altLang="en-US" dirty="0"/>
              <a:t>即使編譯成功，在執行時也可能出錯，此時的報錯稱為例外。</a:t>
            </a:r>
            <a:br>
              <a:rPr lang="zh-TW" altLang="en-US" dirty="0"/>
            </a:br>
            <a:r>
              <a:rPr lang="zh-TW" altLang="en-US" dirty="0"/>
              <a:t>例外由負責執行程式的</a:t>
            </a:r>
            <a:r>
              <a:rPr lang="en-US" altLang="zh-TW" dirty="0" err="1"/>
              <a:t>JVM</a:t>
            </a:r>
            <a:r>
              <a:rPr lang="zh-TW" altLang="en-US" dirty="0"/>
              <a:t>發出給使用者知道。如果沒有指定應對方法的話，程式就會直接中斷。</a:t>
            </a:r>
            <a:endParaRPr lang="en-US" altLang="zh-TW" dirty="0"/>
          </a:p>
          <a:p>
            <a:endParaRPr lang="en-US" altLang="zh-TW" dirty="0"/>
          </a:p>
        </p:txBody>
      </p:sp>
      <p:sp>
        <p:nvSpPr>
          <p:cNvPr id="3" name="標題 2"/>
          <p:cNvSpPr>
            <a:spLocks noGrp="1"/>
          </p:cNvSpPr>
          <p:nvPr>
            <p:ph type="title"/>
          </p:nvPr>
        </p:nvSpPr>
        <p:spPr/>
        <p:txBody>
          <a:bodyPr/>
          <a:lstStyle/>
          <a:p>
            <a:r>
              <a:rPr lang="zh-TW" altLang="en-US" dirty="0"/>
              <a:t>例外處理</a:t>
            </a:r>
          </a:p>
        </p:txBody>
      </p:sp>
      <p:sp>
        <p:nvSpPr>
          <p:cNvPr id="4" name="投影片編號版面配置區 3"/>
          <p:cNvSpPr>
            <a:spLocks noGrp="1"/>
          </p:cNvSpPr>
          <p:nvPr>
            <p:ph type="sldNum" sz="quarter" idx="12"/>
          </p:nvPr>
        </p:nvSpPr>
        <p:spPr/>
        <p:txBody>
          <a:bodyPr/>
          <a:lstStyle/>
          <a:p>
            <a:fld id="{5F6CEA59-826A-4FB0-BF3A-D1F923F9F4E7}" type="slidenum">
              <a:rPr lang="zh-TW" altLang="en-US" smtClean="0"/>
              <a:t>3</a:t>
            </a:fld>
            <a:endParaRPr lang="zh-TW" altLang="en-US"/>
          </a:p>
        </p:txBody>
      </p:sp>
    </p:spTree>
    <p:extLst>
      <p:ext uri="{BB962C8B-B14F-4D97-AF65-F5344CB8AC3E}">
        <p14:creationId xmlns:p14="http://schemas.microsoft.com/office/powerpoint/2010/main" val="2787858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en-US" altLang="zh-TW" dirty="0" err="1"/>
              <a:t>Throwable</a:t>
            </a:r>
            <a:r>
              <a:rPr lang="en-US" altLang="zh-TW" dirty="0"/>
              <a:t> </a:t>
            </a:r>
            <a:r>
              <a:rPr lang="zh-TW" altLang="en-US" dirty="0"/>
              <a:t>階層圖</a:t>
            </a:r>
            <a:r>
              <a:rPr lang="en-US" altLang="zh-TW" dirty="0"/>
              <a:t>:</a:t>
            </a:r>
          </a:p>
          <a:p>
            <a:endParaRPr lang="zh-TW" altLang="en-US" dirty="0"/>
          </a:p>
        </p:txBody>
      </p:sp>
      <p:sp>
        <p:nvSpPr>
          <p:cNvPr id="3" name="標題 2"/>
          <p:cNvSpPr>
            <a:spLocks noGrp="1"/>
          </p:cNvSpPr>
          <p:nvPr>
            <p:ph type="title"/>
          </p:nvPr>
        </p:nvSpPr>
        <p:spPr/>
        <p:txBody>
          <a:bodyPr/>
          <a:lstStyle/>
          <a:p>
            <a:endParaRPr lang="zh-TW" altLang="en-US" dirty="0"/>
          </a:p>
        </p:txBody>
      </p:sp>
      <p:sp>
        <p:nvSpPr>
          <p:cNvPr id="4" name="投影片編號版面配置區 3"/>
          <p:cNvSpPr>
            <a:spLocks noGrp="1"/>
          </p:cNvSpPr>
          <p:nvPr>
            <p:ph type="sldNum" sz="quarter" idx="12"/>
          </p:nvPr>
        </p:nvSpPr>
        <p:spPr/>
        <p:txBody>
          <a:bodyPr/>
          <a:lstStyle/>
          <a:p>
            <a:fld id="{5F6CEA59-826A-4FB0-BF3A-D1F923F9F4E7}" type="slidenum">
              <a:rPr lang="zh-TW" altLang="en-US" smtClean="0"/>
              <a:t>4</a:t>
            </a:fld>
            <a:endParaRPr lang="zh-TW" altLang="en-US"/>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34116" y="1688449"/>
            <a:ext cx="6430272" cy="4667901"/>
          </a:xfrm>
          <a:prstGeom prst="rect">
            <a:avLst/>
          </a:prstGeom>
        </p:spPr>
      </p:pic>
    </p:spTree>
    <p:extLst>
      <p:ext uri="{BB962C8B-B14F-4D97-AF65-F5344CB8AC3E}">
        <p14:creationId xmlns:p14="http://schemas.microsoft.com/office/powerpoint/2010/main" val="26904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en-US" altLang="zh-TW" dirty="0"/>
              <a:t>Exception </a:t>
            </a:r>
            <a:r>
              <a:rPr lang="zh-TW" altLang="en-US" dirty="0"/>
              <a:t>與 </a:t>
            </a:r>
            <a:r>
              <a:rPr lang="en-US" altLang="zh-TW" dirty="0"/>
              <a:t>Error </a:t>
            </a:r>
            <a:r>
              <a:rPr lang="zh-TW" altLang="en-US" dirty="0"/>
              <a:t>都是繼承自 </a:t>
            </a:r>
            <a:r>
              <a:rPr lang="en-US" altLang="zh-TW" dirty="0" err="1"/>
              <a:t>Throwable</a:t>
            </a:r>
            <a:r>
              <a:rPr lang="en-US" altLang="zh-TW" dirty="0"/>
              <a:t>, </a:t>
            </a:r>
            <a:r>
              <a:rPr lang="zh-TW" altLang="en-US" dirty="0"/>
              <a:t>在 </a:t>
            </a:r>
            <a:r>
              <a:rPr lang="en-US" altLang="zh-TW" dirty="0"/>
              <a:t>Java </a:t>
            </a:r>
            <a:r>
              <a:rPr lang="zh-TW" altLang="en-US" dirty="0"/>
              <a:t>的世界裡</a:t>
            </a:r>
            <a:r>
              <a:rPr lang="en-US" altLang="zh-TW" dirty="0"/>
              <a:t>, </a:t>
            </a:r>
            <a:r>
              <a:rPr lang="zh-TW" altLang="en-US" dirty="0"/>
              <a:t>只有 </a:t>
            </a:r>
            <a:r>
              <a:rPr lang="en-US" altLang="zh-TW" dirty="0" err="1"/>
              <a:t>Throwable</a:t>
            </a:r>
            <a:r>
              <a:rPr lang="en-US" altLang="zh-TW" dirty="0"/>
              <a:t> </a:t>
            </a:r>
            <a:r>
              <a:rPr lang="zh-TW" altLang="en-US" dirty="0"/>
              <a:t>類型的 </a:t>
            </a:r>
            <a:r>
              <a:rPr lang="en-US" altLang="zh-TW" dirty="0"/>
              <a:t>instance </a:t>
            </a:r>
            <a:r>
              <a:rPr lang="zh-TW" altLang="en-US" dirty="0"/>
              <a:t>才可以被 </a:t>
            </a:r>
            <a:r>
              <a:rPr lang="en-US" altLang="zh-TW" dirty="0"/>
              <a:t>throw </a:t>
            </a:r>
            <a:r>
              <a:rPr lang="zh-TW" altLang="en-US" dirty="0"/>
              <a:t>或著 </a:t>
            </a:r>
            <a:r>
              <a:rPr lang="en-US" altLang="zh-TW" dirty="0"/>
              <a:t>catch, </a:t>
            </a:r>
            <a:r>
              <a:rPr lang="zh-TW" altLang="en-US" dirty="0"/>
              <a:t>其為 </a:t>
            </a:r>
            <a:r>
              <a:rPr lang="en-US" altLang="zh-TW" dirty="0"/>
              <a:t>exception handling </a:t>
            </a:r>
            <a:r>
              <a:rPr lang="zh-TW" altLang="en-US" dirty="0"/>
              <a:t>的基本組成類型</a:t>
            </a:r>
            <a:r>
              <a:rPr lang="en-US" altLang="zh-TW" dirty="0"/>
              <a:t>. </a:t>
            </a:r>
            <a:r>
              <a:rPr lang="zh-TW" altLang="en-US" dirty="0"/>
              <a:t>至於 </a:t>
            </a:r>
            <a:r>
              <a:rPr lang="en-US" altLang="zh-TW" dirty="0"/>
              <a:t>Exception </a:t>
            </a:r>
            <a:r>
              <a:rPr lang="zh-TW" altLang="en-US" dirty="0"/>
              <a:t>與 </a:t>
            </a:r>
            <a:r>
              <a:rPr lang="en-US" altLang="zh-TW" dirty="0"/>
              <a:t>Error </a:t>
            </a:r>
            <a:r>
              <a:rPr lang="zh-TW" altLang="en-US" dirty="0"/>
              <a:t>的差異</a:t>
            </a:r>
            <a:r>
              <a:rPr lang="en-US" altLang="zh-TW" dirty="0"/>
              <a:t>, </a:t>
            </a:r>
            <a:r>
              <a:rPr lang="zh-TW" altLang="en-US" dirty="0"/>
              <a:t>這部分就體現出了 </a:t>
            </a:r>
            <a:r>
              <a:rPr lang="en-US" altLang="zh-TW" dirty="0"/>
              <a:t>Java </a:t>
            </a:r>
            <a:r>
              <a:rPr lang="zh-TW" altLang="en-US" dirty="0"/>
              <a:t>設計者對不同異常情境的分類</a:t>
            </a:r>
            <a:endParaRPr lang="en-US" altLang="zh-TW" dirty="0"/>
          </a:p>
          <a:p>
            <a:endParaRPr lang="en-US" altLang="zh-TW" dirty="0"/>
          </a:p>
          <a:p>
            <a:pPr lvl="1"/>
            <a:r>
              <a:rPr lang="en-US" altLang="zh-TW" dirty="0"/>
              <a:t>Exception: </a:t>
            </a:r>
            <a:r>
              <a:rPr lang="zh-TW" altLang="en-US" dirty="0"/>
              <a:t>通常指程式運行時所出現的可預料之意外狀況</a:t>
            </a:r>
            <a:r>
              <a:rPr lang="en-US" altLang="zh-TW" dirty="0"/>
              <a:t>, </a:t>
            </a:r>
            <a:r>
              <a:rPr lang="zh-TW" altLang="en-US" dirty="0"/>
              <a:t>基本上都要進行 </a:t>
            </a:r>
            <a:r>
              <a:rPr lang="en-US" altLang="zh-TW" dirty="0"/>
              <a:t>catch </a:t>
            </a:r>
            <a:r>
              <a:rPr lang="zh-TW" altLang="en-US" dirty="0"/>
              <a:t>的動作</a:t>
            </a:r>
            <a:r>
              <a:rPr lang="en-US" altLang="zh-TW" dirty="0"/>
              <a:t>, </a:t>
            </a:r>
            <a:r>
              <a:rPr lang="zh-TW" altLang="en-US" dirty="0"/>
              <a:t>然後進行相應處理</a:t>
            </a:r>
            <a:r>
              <a:rPr lang="en-US" altLang="zh-TW" dirty="0"/>
              <a:t>, </a:t>
            </a:r>
            <a:r>
              <a:rPr lang="zh-TW" altLang="en-US" dirty="0"/>
              <a:t>如 </a:t>
            </a:r>
            <a:r>
              <a:rPr lang="en-US" altLang="zh-TW" dirty="0" err="1"/>
              <a:t>IOException</a:t>
            </a:r>
            <a:r>
              <a:rPr lang="zh-TW" altLang="en-US" dirty="0"/>
              <a:t>、</a:t>
            </a:r>
            <a:r>
              <a:rPr lang="en-US" altLang="zh-TW" dirty="0" err="1"/>
              <a:t>NullPointerException</a:t>
            </a:r>
            <a:r>
              <a:rPr lang="en-US" altLang="zh-TW" dirty="0"/>
              <a:t>.</a:t>
            </a:r>
          </a:p>
          <a:p>
            <a:pPr lvl="1"/>
            <a:endParaRPr lang="en-US" altLang="zh-TW" dirty="0"/>
          </a:p>
          <a:p>
            <a:pPr lvl="1"/>
            <a:r>
              <a:rPr lang="en-US" altLang="zh-TW" dirty="0"/>
              <a:t>Error: </a:t>
            </a:r>
            <a:r>
              <a:rPr lang="zh-TW" altLang="en-US" dirty="0"/>
              <a:t>指在正常情況下</a:t>
            </a:r>
            <a:r>
              <a:rPr lang="en-US" altLang="zh-TW" dirty="0"/>
              <a:t>, </a:t>
            </a:r>
            <a:r>
              <a:rPr lang="zh-TW" altLang="en-US" dirty="0"/>
              <a:t>不太可能出現的問題</a:t>
            </a:r>
            <a:r>
              <a:rPr lang="en-US" altLang="zh-TW" dirty="0"/>
              <a:t>, </a:t>
            </a:r>
            <a:r>
              <a:rPr lang="zh-TW" altLang="en-US" dirty="0"/>
              <a:t>絕大部分的 </a:t>
            </a:r>
            <a:r>
              <a:rPr lang="en-US" altLang="zh-TW" dirty="0"/>
              <a:t>Error </a:t>
            </a:r>
            <a:r>
              <a:rPr lang="zh-TW" altLang="en-US" dirty="0"/>
              <a:t>都會導致程式 </a:t>
            </a:r>
            <a:r>
              <a:rPr lang="en-US" altLang="zh-TW" dirty="0"/>
              <a:t>(e.g. </a:t>
            </a:r>
            <a:r>
              <a:rPr lang="en-US" altLang="zh-TW" dirty="0" err="1"/>
              <a:t>JVM</a:t>
            </a:r>
            <a:r>
              <a:rPr lang="en-US" altLang="zh-TW" dirty="0"/>
              <a:t> </a:t>
            </a:r>
            <a:r>
              <a:rPr lang="zh-TW" altLang="en-US" dirty="0"/>
              <a:t>本身</a:t>
            </a:r>
            <a:r>
              <a:rPr lang="en-US" altLang="zh-TW" dirty="0"/>
              <a:t>) </a:t>
            </a:r>
            <a:r>
              <a:rPr lang="zh-TW" altLang="en-US" dirty="0"/>
              <a:t>處於一種</a:t>
            </a:r>
            <a:r>
              <a:rPr lang="zh-TW" altLang="en-US" dirty="0">
                <a:solidFill>
                  <a:srgbClr val="FF0000"/>
                </a:solidFill>
              </a:rPr>
              <a:t>不正常且不可恢復</a:t>
            </a:r>
            <a:r>
              <a:rPr lang="zh-TW" altLang="en-US" dirty="0"/>
              <a:t>的狀態</a:t>
            </a:r>
            <a:r>
              <a:rPr lang="en-US" altLang="zh-TW" dirty="0"/>
              <a:t>. </a:t>
            </a:r>
            <a:r>
              <a:rPr lang="zh-TW" altLang="en-US" dirty="0"/>
              <a:t>所以對於這種情況</a:t>
            </a:r>
            <a:r>
              <a:rPr lang="en-US" altLang="zh-TW" dirty="0"/>
              <a:t>, </a:t>
            </a:r>
            <a:r>
              <a:rPr lang="zh-TW" altLang="en-US" dirty="0"/>
              <a:t>你也沒法去 </a:t>
            </a:r>
            <a:r>
              <a:rPr lang="en-US" altLang="zh-TW" dirty="0"/>
              <a:t>catch </a:t>
            </a:r>
            <a:r>
              <a:rPr lang="zh-TW" altLang="en-US" dirty="0"/>
              <a:t>了。常見的如 </a:t>
            </a:r>
            <a:r>
              <a:rPr lang="en-US" altLang="zh-TW" dirty="0" err="1"/>
              <a:t>OutOfMemoryError</a:t>
            </a:r>
            <a:r>
              <a:rPr lang="en-US" altLang="zh-TW" dirty="0"/>
              <a:t> / </a:t>
            </a:r>
            <a:r>
              <a:rPr lang="en-US" altLang="zh-TW" dirty="0" err="1"/>
              <a:t>StackOverflowError</a:t>
            </a:r>
            <a:r>
              <a:rPr lang="en-US" altLang="zh-TW" dirty="0"/>
              <a:t> </a:t>
            </a:r>
            <a:r>
              <a:rPr lang="zh-TW" altLang="en-US" dirty="0"/>
              <a:t>這些</a:t>
            </a:r>
            <a:r>
              <a:rPr lang="en-US" altLang="zh-TW" dirty="0"/>
              <a:t>, </a:t>
            </a:r>
            <a:r>
              <a:rPr lang="zh-TW" altLang="en-US" dirty="0"/>
              <a:t>都是繼承自 </a:t>
            </a:r>
            <a:r>
              <a:rPr lang="en-US" altLang="zh-TW" dirty="0"/>
              <a:t>Error.</a:t>
            </a:r>
          </a:p>
          <a:p>
            <a:pPr lvl="1"/>
            <a:endParaRPr lang="zh-TW" altLang="en-US" dirty="0"/>
          </a:p>
        </p:txBody>
      </p:sp>
      <p:sp>
        <p:nvSpPr>
          <p:cNvPr id="3" name="標題 2"/>
          <p:cNvSpPr>
            <a:spLocks noGrp="1"/>
          </p:cNvSpPr>
          <p:nvPr>
            <p:ph type="title"/>
          </p:nvPr>
        </p:nvSpPr>
        <p:spPr/>
        <p:txBody>
          <a:bodyPr/>
          <a:lstStyle/>
          <a:p>
            <a:r>
              <a:rPr lang="en-US" altLang="zh-TW" b="1" dirty="0"/>
              <a:t>Exception </a:t>
            </a:r>
            <a:r>
              <a:rPr lang="zh-TW" altLang="en-US" b="1" dirty="0"/>
              <a:t>與 </a:t>
            </a:r>
            <a:r>
              <a:rPr lang="en-US" altLang="zh-TW" b="1" dirty="0"/>
              <a:t>Error </a:t>
            </a:r>
            <a:r>
              <a:rPr lang="zh-TW" altLang="en-US" b="1" dirty="0"/>
              <a:t>的基本概念</a:t>
            </a:r>
          </a:p>
        </p:txBody>
      </p:sp>
      <p:sp>
        <p:nvSpPr>
          <p:cNvPr id="4" name="投影片編號版面配置區 3"/>
          <p:cNvSpPr>
            <a:spLocks noGrp="1"/>
          </p:cNvSpPr>
          <p:nvPr>
            <p:ph type="sldNum" sz="quarter" idx="12"/>
          </p:nvPr>
        </p:nvSpPr>
        <p:spPr/>
        <p:txBody>
          <a:bodyPr/>
          <a:lstStyle/>
          <a:p>
            <a:fld id="{5F6CEA59-826A-4FB0-BF3A-D1F923F9F4E7}" type="slidenum">
              <a:rPr lang="zh-TW" altLang="en-US" smtClean="0"/>
              <a:t>5</a:t>
            </a:fld>
            <a:endParaRPr lang="zh-TW" altLang="en-US"/>
          </a:p>
        </p:txBody>
      </p:sp>
    </p:spTree>
    <p:extLst>
      <p:ext uri="{BB962C8B-B14F-4D97-AF65-F5344CB8AC3E}">
        <p14:creationId xmlns:p14="http://schemas.microsoft.com/office/powerpoint/2010/main" val="127332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en-US" altLang="zh-TW" dirty="0"/>
              <a:t>Exception </a:t>
            </a:r>
            <a:r>
              <a:rPr lang="zh-TW" altLang="en-US" dirty="0"/>
              <a:t>又可以分成兩類</a:t>
            </a:r>
            <a:r>
              <a:rPr lang="zh-TW" altLang="en-US" dirty="0">
                <a:latin typeface="Arial" panose="020B0604020202020204" pitchFamily="34" charset="0"/>
                <a:cs typeface="Arial" panose="020B0604020202020204" pitchFamily="34" charset="0"/>
              </a:rPr>
              <a:t>字型：</a:t>
            </a:r>
            <a:endParaRPr lang="en-US" altLang="zh-TW" dirty="0">
              <a:latin typeface="Arial" panose="020B0604020202020204" pitchFamily="34" charset="0"/>
              <a:cs typeface="Arial" panose="020B0604020202020204" pitchFamily="34" charset="0"/>
            </a:endParaRPr>
          </a:p>
          <a:p>
            <a:pPr lvl="1"/>
            <a:r>
              <a:rPr lang="en-US" altLang="zh-TW" dirty="0"/>
              <a:t>Checked Exception</a:t>
            </a:r>
          </a:p>
          <a:p>
            <a:pPr lvl="2"/>
            <a:r>
              <a:rPr lang="zh-TW" altLang="en-US" dirty="0"/>
              <a:t>又稱受檢例外</a:t>
            </a:r>
            <a:r>
              <a:rPr lang="en-US" altLang="zh-TW" dirty="0"/>
              <a:t>, </a:t>
            </a:r>
            <a:r>
              <a:rPr lang="zh-TW" altLang="en-US" dirty="0"/>
              <a:t>通常在原始碼中必須顯式地 </a:t>
            </a:r>
            <a:r>
              <a:rPr lang="en-US" altLang="zh-TW" dirty="0"/>
              <a:t>catch </a:t>
            </a:r>
            <a:r>
              <a:rPr lang="zh-TW" altLang="en-US" dirty="0"/>
              <a:t>並且處理</a:t>
            </a:r>
            <a:r>
              <a:rPr lang="en-US" altLang="zh-TW" dirty="0"/>
              <a:t>, </a:t>
            </a:r>
            <a:r>
              <a:rPr lang="zh-TW" altLang="en-US" dirty="0"/>
              <a:t>這部分算是 </a:t>
            </a:r>
            <a:r>
              <a:rPr lang="en-US" altLang="zh-TW" dirty="0"/>
              <a:t>compile time </a:t>
            </a:r>
            <a:r>
              <a:rPr lang="zh-TW" altLang="en-US" dirty="0"/>
              <a:t>會檢查的部分</a:t>
            </a:r>
            <a:endParaRPr lang="en-US" altLang="zh-TW" dirty="0"/>
          </a:p>
          <a:p>
            <a:pPr lvl="1"/>
            <a:endParaRPr lang="en-US" altLang="zh-TW" dirty="0"/>
          </a:p>
          <a:p>
            <a:pPr lvl="1"/>
            <a:r>
              <a:rPr lang="en-US" altLang="zh-TW" dirty="0"/>
              <a:t>Unchecked Exception</a:t>
            </a:r>
          </a:p>
          <a:p>
            <a:pPr lvl="2"/>
            <a:r>
              <a:rPr lang="zh-TW" altLang="en-US" dirty="0"/>
              <a:t>又稱非受檢例外</a:t>
            </a:r>
            <a:r>
              <a:rPr lang="en-US" altLang="zh-TW" dirty="0"/>
              <a:t>, </a:t>
            </a:r>
            <a:r>
              <a:rPr lang="zh-TW" altLang="en-US" dirty="0"/>
              <a:t>就是所謂的 </a:t>
            </a:r>
            <a:r>
              <a:rPr lang="en-US" altLang="zh-TW" dirty="0" err="1"/>
              <a:t>RuntimeException</a:t>
            </a:r>
            <a:r>
              <a:rPr lang="en-US" altLang="zh-TW" dirty="0"/>
              <a:t>, </a:t>
            </a:r>
            <a:r>
              <a:rPr lang="zh-TW" altLang="en-US" dirty="0"/>
              <a:t>常見的像是 </a:t>
            </a:r>
            <a:r>
              <a:rPr lang="en-US" altLang="zh-TW" dirty="0" err="1"/>
              <a:t>NullPointerException</a:t>
            </a:r>
            <a:r>
              <a:rPr lang="en-US" altLang="zh-TW" dirty="0"/>
              <a:t>, </a:t>
            </a:r>
            <a:r>
              <a:rPr lang="en-US" altLang="zh-TW" dirty="0" err="1"/>
              <a:t>ArrayIndexOutOfBoundsException</a:t>
            </a:r>
            <a:r>
              <a:rPr lang="en-US" altLang="zh-TW" dirty="0"/>
              <a:t>. </a:t>
            </a:r>
            <a:r>
              <a:rPr lang="zh-TW" altLang="en-US" dirty="0"/>
              <a:t>這種類型的例外通常是可以透過撰寫相應程式以避免的邏輯錯誤</a:t>
            </a:r>
            <a:r>
              <a:rPr lang="en-US" altLang="zh-TW" dirty="0"/>
              <a:t>, </a:t>
            </a:r>
            <a:r>
              <a:rPr lang="zh-TW" altLang="en-US" dirty="0"/>
              <a:t>可以根據當下的情境來判斷是不是要 </a:t>
            </a:r>
            <a:r>
              <a:rPr lang="en-US" altLang="zh-TW" dirty="0"/>
              <a:t>catch, </a:t>
            </a:r>
            <a:r>
              <a:rPr lang="zh-TW" altLang="en-US" dirty="0"/>
              <a:t>且在 </a:t>
            </a:r>
            <a:r>
              <a:rPr lang="en-US" altLang="zh-TW" dirty="0"/>
              <a:t>compile time </a:t>
            </a:r>
            <a:r>
              <a:rPr lang="zh-TW" altLang="en-US" dirty="0"/>
              <a:t>並不會強制要求要 </a:t>
            </a:r>
            <a:r>
              <a:rPr lang="en-US" altLang="zh-TW" dirty="0"/>
              <a:t>catch</a:t>
            </a:r>
            <a:endParaRPr lang="zh-TW" altLang="en-US" dirty="0"/>
          </a:p>
        </p:txBody>
      </p:sp>
      <p:sp>
        <p:nvSpPr>
          <p:cNvPr id="3" name="標題 2"/>
          <p:cNvSpPr>
            <a:spLocks noGrp="1"/>
          </p:cNvSpPr>
          <p:nvPr>
            <p:ph type="title"/>
          </p:nvPr>
        </p:nvSpPr>
        <p:spPr/>
        <p:txBody>
          <a:bodyPr/>
          <a:lstStyle/>
          <a:p>
            <a:r>
              <a:rPr lang="en-US" altLang="zh-TW" b="1" dirty="0"/>
              <a:t>Exception </a:t>
            </a:r>
            <a:r>
              <a:rPr lang="zh-TW" altLang="en-US" b="1" dirty="0"/>
              <a:t>與 </a:t>
            </a:r>
            <a:r>
              <a:rPr lang="en-US" altLang="zh-TW" b="1" dirty="0"/>
              <a:t>Error </a:t>
            </a:r>
            <a:r>
              <a:rPr lang="zh-TW" altLang="en-US" b="1" dirty="0"/>
              <a:t>的基本概念</a:t>
            </a:r>
            <a:r>
              <a:rPr lang="en-US" altLang="zh-TW" b="1" dirty="0"/>
              <a:t>-</a:t>
            </a:r>
            <a:r>
              <a:rPr lang="zh-TW" altLang="en-US" b="1" dirty="0"/>
              <a:t>續</a:t>
            </a:r>
            <a:endParaRPr lang="zh-TW" altLang="en-US" dirty="0"/>
          </a:p>
        </p:txBody>
      </p:sp>
      <p:sp>
        <p:nvSpPr>
          <p:cNvPr id="4" name="投影片編號版面配置區 3"/>
          <p:cNvSpPr>
            <a:spLocks noGrp="1"/>
          </p:cNvSpPr>
          <p:nvPr>
            <p:ph type="sldNum" sz="quarter" idx="12"/>
          </p:nvPr>
        </p:nvSpPr>
        <p:spPr/>
        <p:txBody>
          <a:bodyPr/>
          <a:lstStyle/>
          <a:p>
            <a:fld id="{5F6CEA59-826A-4FB0-BF3A-D1F923F9F4E7}" type="slidenum">
              <a:rPr lang="zh-TW" altLang="en-US" smtClean="0"/>
              <a:t>6</a:t>
            </a:fld>
            <a:endParaRPr lang="zh-TW" altLang="en-US"/>
          </a:p>
        </p:txBody>
      </p:sp>
    </p:spTree>
    <p:extLst>
      <p:ext uri="{BB962C8B-B14F-4D97-AF65-F5344CB8AC3E}">
        <p14:creationId xmlns:p14="http://schemas.microsoft.com/office/powerpoint/2010/main" val="402410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b="0" i="0" dirty="0">
                <a:solidFill>
                  <a:srgbClr val="242424"/>
                </a:solidFill>
                <a:effectLst/>
                <a:latin typeface="source-serif-pro"/>
              </a:rPr>
              <a:t>儘量不要只捕捉類似 </a:t>
            </a:r>
            <a:r>
              <a:rPr lang="en-US" altLang="zh-TW" b="0" i="0" dirty="0" err="1">
                <a:solidFill>
                  <a:srgbClr val="242424"/>
                </a:solidFill>
                <a:effectLst/>
                <a:latin typeface="source-serif-pro"/>
              </a:rPr>
              <a:t>java.lang.Exception</a:t>
            </a:r>
            <a:r>
              <a:rPr lang="en-US" altLang="zh-TW" b="0" i="0" dirty="0">
                <a:solidFill>
                  <a:srgbClr val="242424"/>
                </a:solidFill>
                <a:effectLst/>
                <a:latin typeface="source-serif-pro"/>
              </a:rPr>
              <a:t> </a:t>
            </a:r>
            <a:r>
              <a:rPr lang="zh-TW" altLang="en-US" b="0" i="0" dirty="0">
                <a:solidFill>
                  <a:srgbClr val="242424"/>
                </a:solidFill>
                <a:effectLst/>
                <a:latin typeface="source-serif-pro"/>
              </a:rPr>
              <a:t>這類太過於一般性的例外，應該要捕捉特定</a:t>
            </a:r>
            <a:r>
              <a:rPr lang="zh-TW" altLang="en-US" b="0" i="0">
                <a:solidFill>
                  <a:srgbClr val="242424"/>
                </a:solidFill>
                <a:effectLst/>
                <a:latin typeface="source-serif-pro"/>
              </a:rPr>
              <a:t>的例外，按需捕捉</a:t>
            </a:r>
            <a:endParaRPr lang="en-US" altLang="zh-TW" b="0" i="0" dirty="0">
              <a:solidFill>
                <a:srgbClr val="242424"/>
              </a:solidFill>
              <a:effectLst/>
              <a:latin typeface="source-serif-pro"/>
            </a:endParaRPr>
          </a:p>
          <a:p>
            <a:r>
              <a:rPr lang="zh-TW" altLang="en-US" b="0" i="0" dirty="0">
                <a:solidFill>
                  <a:srgbClr val="242424"/>
                </a:solidFill>
                <a:effectLst/>
                <a:latin typeface="source-serif-pro"/>
              </a:rPr>
              <a:t>不要把例外吞掉</a:t>
            </a:r>
            <a:endParaRPr lang="en-US" altLang="zh-TW" dirty="0">
              <a:latin typeface="Arial" panose="020B0604020202020204" pitchFamily="34" charset="0"/>
              <a:cs typeface="Arial" panose="020B0604020202020204" pitchFamily="34" charset="0"/>
            </a:endParaRPr>
          </a:p>
        </p:txBody>
      </p:sp>
      <p:sp>
        <p:nvSpPr>
          <p:cNvPr id="3" name="標題 2"/>
          <p:cNvSpPr>
            <a:spLocks noGrp="1"/>
          </p:cNvSpPr>
          <p:nvPr>
            <p:ph type="title"/>
          </p:nvPr>
        </p:nvSpPr>
        <p:spPr/>
        <p:txBody>
          <a:bodyPr>
            <a:normAutofit/>
          </a:bodyPr>
          <a:lstStyle/>
          <a:p>
            <a:r>
              <a:rPr lang="zh-TW" altLang="en-US" dirty="0">
                <a:latin typeface="Arial" panose="020B0604020202020204" pitchFamily="34" charset="0"/>
                <a:cs typeface="Arial" panose="020B0604020202020204" pitchFamily="34" charset="0"/>
              </a:rPr>
              <a:t>例外處理</a:t>
            </a:r>
            <a:r>
              <a:rPr lang="zh-TW" altLang="en-US" dirty="0"/>
              <a:t>的原則</a:t>
            </a:r>
          </a:p>
        </p:txBody>
      </p:sp>
      <p:sp>
        <p:nvSpPr>
          <p:cNvPr id="4" name="投影片編號版面配置區 3"/>
          <p:cNvSpPr>
            <a:spLocks noGrp="1"/>
          </p:cNvSpPr>
          <p:nvPr>
            <p:ph type="sldNum" sz="quarter" idx="12"/>
          </p:nvPr>
        </p:nvSpPr>
        <p:spPr/>
        <p:txBody>
          <a:bodyPr/>
          <a:lstStyle/>
          <a:p>
            <a:fld id="{5F6CEA59-826A-4FB0-BF3A-D1F923F9F4E7}" type="slidenum">
              <a:rPr lang="zh-TW" altLang="en-US" smtClean="0"/>
              <a:t>7</a:t>
            </a:fld>
            <a:endParaRPr lang="zh-TW" altLang="en-US"/>
          </a:p>
        </p:txBody>
      </p:sp>
    </p:spTree>
    <p:extLst>
      <p:ext uri="{BB962C8B-B14F-4D97-AF65-F5344CB8AC3E}">
        <p14:creationId xmlns:p14="http://schemas.microsoft.com/office/powerpoint/2010/main" val="3909022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algn="l"/>
            <a:r>
              <a:rPr lang="en-US" altLang="zh-TW" b="1" i="0" dirty="0">
                <a:solidFill>
                  <a:srgbClr val="242424"/>
                </a:solidFill>
                <a:effectLst/>
                <a:latin typeface="sohne"/>
              </a:rPr>
              <a:t>Throw Early, Catch Late</a:t>
            </a:r>
          </a:p>
        </p:txBody>
      </p:sp>
      <p:sp>
        <p:nvSpPr>
          <p:cNvPr id="3" name="標題 2"/>
          <p:cNvSpPr>
            <a:spLocks noGrp="1"/>
          </p:cNvSpPr>
          <p:nvPr>
            <p:ph type="title"/>
          </p:nvPr>
        </p:nvSpPr>
        <p:spPr/>
        <p:txBody>
          <a:bodyPr>
            <a:normAutofit/>
          </a:bodyPr>
          <a:lstStyle/>
          <a:p>
            <a:r>
              <a:rPr lang="zh-TW" altLang="en-US" dirty="0">
                <a:latin typeface="Arial" panose="020B0604020202020204" pitchFamily="34" charset="0"/>
                <a:cs typeface="Arial" panose="020B0604020202020204" pitchFamily="34" charset="0"/>
              </a:rPr>
              <a:t>例外處理</a:t>
            </a:r>
            <a:r>
              <a:rPr lang="zh-TW" altLang="en-US" dirty="0"/>
              <a:t>的原則</a:t>
            </a:r>
            <a:r>
              <a:rPr lang="en-US" altLang="zh-TW" dirty="0"/>
              <a:t>-</a:t>
            </a:r>
            <a:r>
              <a:rPr lang="zh-TW" altLang="en-US" dirty="0"/>
              <a:t>續</a:t>
            </a:r>
          </a:p>
        </p:txBody>
      </p:sp>
      <p:sp>
        <p:nvSpPr>
          <p:cNvPr id="4" name="投影片編號版面配置區 3"/>
          <p:cNvSpPr>
            <a:spLocks noGrp="1"/>
          </p:cNvSpPr>
          <p:nvPr>
            <p:ph type="sldNum" sz="quarter" idx="12"/>
          </p:nvPr>
        </p:nvSpPr>
        <p:spPr/>
        <p:txBody>
          <a:bodyPr/>
          <a:lstStyle/>
          <a:p>
            <a:fld id="{5F6CEA59-826A-4FB0-BF3A-D1F923F9F4E7}" type="slidenum">
              <a:rPr lang="zh-TW" altLang="en-US" smtClean="0"/>
              <a:t>8</a:t>
            </a:fld>
            <a:endParaRPr lang="zh-TW" altLang="en-US"/>
          </a:p>
        </p:txBody>
      </p:sp>
    </p:spTree>
    <p:extLst>
      <p:ext uri="{BB962C8B-B14F-4D97-AF65-F5344CB8AC3E}">
        <p14:creationId xmlns:p14="http://schemas.microsoft.com/office/powerpoint/2010/main" val="19636747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algn="l"/>
            <a:r>
              <a:rPr lang="en-US" altLang="zh-TW" b="0" i="0" dirty="0">
                <a:solidFill>
                  <a:srgbClr val="242424"/>
                </a:solidFill>
                <a:effectLst/>
                <a:latin typeface="source-serif-pro"/>
              </a:rPr>
              <a:t>try-catch-finally</a:t>
            </a:r>
          </a:p>
          <a:p>
            <a:pPr lvl="1"/>
            <a:r>
              <a:rPr lang="en-US" altLang="zh-TW" dirty="0">
                <a:solidFill>
                  <a:srgbClr val="242424"/>
                </a:solidFill>
                <a:latin typeface="source-serif-pro"/>
              </a:rPr>
              <a:t>try</a:t>
            </a:r>
            <a:r>
              <a:rPr lang="zh-TW" altLang="en-US" dirty="0">
                <a:solidFill>
                  <a:srgbClr val="242424"/>
                </a:solidFill>
                <a:latin typeface="source-serif-pro"/>
              </a:rPr>
              <a:t>：包含可能拋出例外的程式碼</a:t>
            </a:r>
            <a:endParaRPr lang="en-US" altLang="zh-TW" dirty="0">
              <a:solidFill>
                <a:srgbClr val="242424"/>
              </a:solidFill>
              <a:latin typeface="source-serif-pro"/>
            </a:endParaRPr>
          </a:p>
          <a:p>
            <a:pPr lvl="1"/>
            <a:r>
              <a:rPr lang="en-US" altLang="zh-TW" dirty="0">
                <a:solidFill>
                  <a:srgbClr val="242424"/>
                </a:solidFill>
                <a:latin typeface="source-serif-pro"/>
              </a:rPr>
              <a:t>catch</a:t>
            </a:r>
            <a:r>
              <a:rPr lang="zh-TW" altLang="en-US" dirty="0">
                <a:solidFill>
                  <a:srgbClr val="242424"/>
                </a:solidFill>
                <a:latin typeface="source-serif-pro"/>
              </a:rPr>
              <a:t>：處理特定類型的例外</a:t>
            </a:r>
            <a:endParaRPr lang="en-US" altLang="zh-TW" dirty="0">
              <a:solidFill>
                <a:srgbClr val="242424"/>
              </a:solidFill>
              <a:latin typeface="source-serif-pro"/>
            </a:endParaRPr>
          </a:p>
          <a:p>
            <a:pPr lvl="1"/>
            <a:r>
              <a:rPr lang="en-US" altLang="zh-TW" dirty="0">
                <a:solidFill>
                  <a:srgbClr val="242424"/>
                </a:solidFill>
                <a:latin typeface="source-serif-pro"/>
              </a:rPr>
              <a:t>finally</a:t>
            </a:r>
            <a:r>
              <a:rPr lang="zh-TW" altLang="en-US" dirty="0">
                <a:solidFill>
                  <a:srgbClr val="242424"/>
                </a:solidFill>
                <a:latin typeface="source-serif-pro"/>
              </a:rPr>
              <a:t>：無論是否發生例外都會執行</a:t>
            </a:r>
            <a:endParaRPr lang="en-US" altLang="zh-TW" b="0" i="0" dirty="0">
              <a:solidFill>
                <a:srgbClr val="242424"/>
              </a:solidFill>
              <a:effectLst/>
              <a:latin typeface="source-serif-pro"/>
            </a:endParaRPr>
          </a:p>
          <a:p>
            <a:pPr algn="l"/>
            <a:r>
              <a:rPr lang="en-US" altLang="zh-TW" b="0" i="0" dirty="0">
                <a:solidFill>
                  <a:srgbClr val="242424"/>
                </a:solidFill>
                <a:effectLst/>
                <a:latin typeface="source-serif-pro"/>
              </a:rPr>
              <a:t>throws</a:t>
            </a:r>
          </a:p>
          <a:p>
            <a:pPr lvl="1"/>
            <a:r>
              <a:rPr lang="zh-TW" altLang="en-US" dirty="0"/>
              <a:t>聲明方法可能拋出的例外類型。</a:t>
            </a:r>
            <a:endParaRPr lang="en-US" altLang="zh-TW" b="0" i="0" dirty="0">
              <a:solidFill>
                <a:srgbClr val="242424"/>
              </a:solidFill>
              <a:effectLst/>
              <a:latin typeface="source-serif-pro"/>
            </a:endParaRPr>
          </a:p>
          <a:p>
            <a:pPr algn="l"/>
            <a:r>
              <a:rPr lang="en-US" altLang="zh-TW" b="0" i="0" dirty="0">
                <a:solidFill>
                  <a:srgbClr val="242424"/>
                </a:solidFill>
                <a:effectLst/>
                <a:latin typeface="source-serif-pro"/>
              </a:rPr>
              <a:t>throw</a:t>
            </a:r>
            <a:endParaRPr lang="zh-TW" altLang="en-US" dirty="0"/>
          </a:p>
          <a:p>
            <a:pPr lvl="1"/>
            <a:r>
              <a:rPr lang="zh-TW" altLang="en-US" dirty="0"/>
              <a:t>拋出例外</a:t>
            </a:r>
          </a:p>
          <a:p>
            <a:pPr lvl="1"/>
            <a:endParaRPr lang="en-US" altLang="zh-TW" dirty="0">
              <a:latin typeface="Arial" panose="020B0604020202020204" pitchFamily="34" charset="0"/>
              <a:cs typeface="Arial" panose="020B0604020202020204" pitchFamily="34" charset="0"/>
            </a:endParaRPr>
          </a:p>
        </p:txBody>
      </p:sp>
      <p:sp>
        <p:nvSpPr>
          <p:cNvPr id="3" name="標題 2"/>
          <p:cNvSpPr>
            <a:spLocks noGrp="1"/>
          </p:cNvSpPr>
          <p:nvPr>
            <p:ph type="title"/>
          </p:nvPr>
        </p:nvSpPr>
        <p:spPr/>
        <p:txBody>
          <a:bodyPr>
            <a:normAutofit/>
          </a:bodyPr>
          <a:lstStyle/>
          <a:p>
            <a:r>
              <a:rPr lang="zh-TW" altLang="en-US" dirty="0"/>
              <a:t>操作 </a:t>
            </a:r>
            <a:r>
              <a:rPr lang="en-US" altLang="zh-TW" dirty="0"/>
              <a:t>Throwable </a:t>
            </a:r>
            <a:r>
              <a:rPr lang="zh-TW" altLang="en-US" dirty="0"/>
              <a:t>的方式與實踐</a:t>
            </a:r>
          </a:p>
        </p:txBody>
      </p:sp>
      <p:sp>
        <p:nvSpPr>
          <p:cNvPr id="4" name="投影片編號版面配置區 3"/>
          <p:cNvSpPr>
            <a:spLocks noGrp="1"/>
          </p:cNvSpPr>
          <p:nvPr>
            <p:ph type="sldNum" sz="quarter" idx="12"/>
          </p:nvPr>
        </p:nvSpPr>
        <p:spPr/>
        <p:txBody>
          <a:bodyPr/>
          <a:lstStyle/>
          <a:p>
            <a:fld id="{5F6CEA59-826A-4FB0-BF3A-D1F923F9F4E7}" type="slidenum">
              <a:rPr lang="zh-TW" altLang="en-US" smtClean="0"/>
              <a:t>9</a:t>
            </a:fld>
            <a:endParaRPr lang="zh-TW" altLang="en-US"/>
          </a:p>
        </p:txBody>
      </p:sp>
      <p:pic>
        <p:nvPicPr>
          <p:cNvPr id="6" name="圖片 5">
            <a:extLst>
              <a:ext uri="{FF2B5EF4-FFF2-40B4-BE49-F238E27FC236}">
                <a16:creationId xmlns:a16="http://schemas.microsoft.com/office/drawing/2014/main" id="{6C47078A-79C7-4155-85BF-1DB30DEB0925}"/>
              </a:ext>
            </a:extLst>
          </p:cNvPr>
          <p:cNvPicPr>
            <a:picLocks noChangeAspect="1"/>
          </p:cNvPicPr>
          <p:nvPr/>
        </p:nvPicPr>
        <p:blipFill>
          <a:blip r:embed="rId3"/>
          <a:stretch>
            <a:fillRect/>
          </a:stretch>
        </p:blipFill>
        <p:spPr>
          <a:xfrm>
            <a:off x="1883799" y="1379649"/>
            <a:ext cx="8068801" cy="4887007"/>
          </a:xfrm>
          <a:prstGeom prst="rect">
            <a:avLst/>
          </a:prstGeom>
        </p:spPr>
      </p:pic>
    </p:spTree>
    <p:extLst>
      <p:ext uri="{BB962C8B-B14F-4D97-AF65-F5344CB8AC3E}">
        <p14:creationId xmlns:p14="http://schemas.microsoft.com/office/powerpoint/2010/main" val="3392389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b="0" i="0" dirty="0">
                <a:solidFill>
                  <a:srgbClr val="242424"/>
                </a:solidFill>
                <a:effectLst/>
                <a:latin typeface="source-serif-pro"/>
              </a:rPr>
              <a:t>在日常工作中</a:t>
            </a:r>
            <a:r>
              <a:rPr lang="en-US" altLang="zh-TW" b="0" i="0" dirty="0">
                <a:solidFill>
                  <a:srgbClr val="242424"/>
                </a:solidFill>
                <a:effectLst/>
                <a:latin typeface="source-serif-pro"/>
              </a:rPr>
              <a:t>, </a:t>
            </a:r>
            <a:r>
              <a:rPr lang="zh-TW" altLang="en-US" b="0" i="0" dirty="0">
                <a:solidFill>
                  <a:srgbClr val="242424"/>
                </a:solidFill>
                <a:effectLst/>
                <a:latin typeface="source-serif-pro"/>
              </a:rPr>
              <a:t>我們很常需要建立自定義的例外類別，主要是可讓錯誤的分類或訊息更為</a:t>
            </a:r>
            <a:r>
              <a:rPr lang="zh-TW" altLang="en-US" b="0" i="0" dirty="0" smtClean="0">
                <a:solidFill>
                  <a:srgbClr val="242424"/>
                </a:solidFill>
                <a:effectLst/>
                <a:latin typeface="source-serif-pro"/>
              </a:rPr>
              <a:t>明確</a:t>
            </a:r>
            <a:endParaRPr lang="en-US" altLang="zh-TW" b="0" i="0" dirty="0" smtClean="0">
              <a:solidFill>
                <a:srgbClr val="242424"/>
              </a:solidFill>
              <a:effectLst/>
              <a:latin typeface="source-serif-pro"/>
            </a:endParaRPr>
          </a:p>
          <a:p>
            <a:r>
              <a:rPr lang="zh-TW" altLang="en-US" dirty="0">
                <a:solidFill>
                  <a:srgbClr val="242424"/>
                </a:solidFill>
                <a:latin typeface="source-serif-pro"/>
              </a:rPr>
              <a:t>國壽有</a:t>
            </a:r>
            <a:r>
              <a:rPr lang="zh-TW" altLang="en-US" dirty="0" smtClean="0">
                <a:solidFill>
                  <a:srgbClr val="242424"/>
                </a:solidFill>
                <a:latin typeface="source-serif-pro"/>
              </a:rPr>
              <a:t>定義自己的例外處理類別，</a:t>
            </a:r>
            <a:r>
              <a:rPr lang="en-US" altLang="zh-TW" dirty="0" smtClean="0">
                <a:solidFill>
                  <a:srgbClr val="242424"/>
                </a:solidFill>
                <a:latin typeface="source-serif-pro"/>
              </a:rPr>
              <a:t>ex</a:t>
            </a:r>
            <a:r>
              <a:rPr lang="zh-TW" altLang="en-US" dirty="0" smtClean="0">
                <a:solidFill>
                  <a:srgbClr val="242424"/>
                </a:solidFill>
                <a:latin typeface="source-serif-pro"/>
              </a:rPr>
              <a:t>：</a:t>
            </a:r>
            <a:r>
              <a:rPr lang="en-US" altLang="zh-TW" dirty="0" err="1" smtClean="0">
                <a:solidFill>
                  <a:srgbClr val="242424"/>
                </a:solidFill>
                <a:latin typeface="source-serif-pro"/>
              </a:rPr>
              <a:t>ModuleException</a:t>
            </a:r>
            <a:r>
              <a:rPr lang="zh-TW" altLang="en-US" dirty="0" smtClean="0">
                <a:solidFill>
                  <a:srgbClr val="242424"/>
                </a:solidFill>
                <a:latin typeface="source-serif-pro"/>
              </a:rPr>
              <a:t>、</a:t>
            </a:r>
            <a:r>
              <a:rPr lang="en-US" altLang="zh-TW" dirty="0" err="1" smtClean="0">
                <a:solidFill>
                  <a:srgbClr val="242424"/>
                </a:solidFill>
                <a:latin typeface="source-serif-pro"/>
              </a:rPr>
              <a:t>DataNotFoundException</a:t>
            </a:r>
            <a:r>
              <a:rPr lang="zh-TW" altLang="en-US" dirty="0" smtClean="0">
                <a:solidFill>
                  <a:srgbClr val="242424"/>
                </a:solidFill>
                <a:latin typeface="source-serif-pro"/>
              </a:rPr>
              <a:t>、</a:t>
            </a:r>
            <a:r>
              <a:rPr lang="en-US" altLang="zh-TW" dirty="0" err="1" smtClean="0">
                <a:solidFill>
                  <a:srgbClr val="242424"/>
                </a:solidFill>
                <a:latin typeface="source-serif-pro"/>
              </a:rPr>
              <a:t>DataDuplicateExcetion</a:t>
            </a:r>
            <a:r>
              <a:rPr lang="en-US" altLang="zh-TW" dirty="0" smtClean="0">
                <a:solidFill>
                  <a:srgbClr val="242424"/>
                </a:solidFill>
                <a:latin typeface="source-serif-pro"/>
              </a:rPr>
              <a:t>…</a:t>
            </a:r>
            <a:endParaRPr lang="en-US" altLang="zh-TW" dirty="0">
              <a:solidFill>
                <a:srgbClr val="242424"/>
              </a:solidFill>
              <a:latin typeface="source-serif-pro"/>
            </a:endParaRPr>
          </a:p>
          <a:p>
            <a:r>
              <a:rPr lang="zh-TW" altLang="en-US" dirty="0" smtClean="0">
                <a:solidFill>
                  <a:srgbClr val="242424"/>
                </a:solidFill>
                <a:latin typeface="source-serif-pro"/>
                <a:cs typeface="Arial" panose="020B0604020202020204" pitchFamily="34" charset="0"/>
              </a:rPr>
              <a:t>因所有能處理的例外都是繼承</a:t>
            </a:r>
            <a:r>
              <a:rPr lang="en-US" altLang="zh-TW" dirty="0" smtClean="0">
                <a:solidFill>
                  <a:srgbClr val="242424"/>
                </a:solidFill>
                <a:latin typeface="source-serif-pro"/>
                <a:cs typeface="Arial" panose="020B0604020202020204" pitchFamily="34" charset="0"/>
              </a:rPr>
              <a:t>Exception</a:t>
            </a:r>
            <a:r>
              <a:rPr lang="zh-TW" altLang="en-US" dirty="0" smtClean="0">
                <a:solidFill>
                  <a:srgbClr val="242424"/>
                </a:solidFill>
                <a:latin typeface="source-serif-pro"/>
                <a:cs typeface="Arial" panose="020B0604020202020204" pitchFamily="34" charset="0"/>
              </a:rPr>
              <a:t>類別，因此自行設計的例外類別，不外乎就長這樣</a:t>
            </a:r>
            <a:endParaRPr lang="en-US" altLang="zh-TW" dirty="0" smtClean="0">
              <a:solidFill>
                <a:srgbClr val="242424"/>
              </a:solidFill>
              <a:latin typeface="source-serif-pro"/>
              <a:cs typeface="Arial" panose="020B0604020202020204" pitchFamily="34" charset="0"/>
            </a:endParaRPr>
          </a:p>
          <a:p>
            <a:endParaRPr lang="en-US" altLang="zh-TW" dirty="0">
              <a:latin typeface="Arial" panose="020B0604020202020204" pitchFamily="34" charset="0"/>
              <a:cs typeface="Arial" panose="020B0604020202020204" pitchFamily="34" charset="0"/>
            </a:endParaRPr>
          </a:p>
        </p:txBody>
      </p:sp>
      <p:sp>
        <p:nvSpPr>
          <p:cNvPr id="3" name="標題 2"/>
          <p:cNvSpPr>
            <a:spLocks noGrp="1"/>
          </p:cNvSpPr>
          <p:nvPr>
            <p:ph type="title"/>
          </p:nvPr>
        </p:nvSpPr>
        <p:spPr/>
        <p:txBody>
          <a:bodyPr>
            <a:normAutofit/>
          </a:bodyPr>
          <a:lstStyle/>
          <a:p>
            <a:r>
              <a:rPr lang="zh-TW" altLang="en-US" dirty="0">
                <a:latin typeface="Arial" panose="020B0604020202020204" pitchFamily="34" charset="0"/>
                <a:cs typeface="Arial" panose="020B0604020202020204" pitchFamily="34" charset="0"/>
              </a:rPr>
              <a:t>自定義例外</a:t>
            </a:r>
            <a:endParaRPr lang="zh-TW" altLang="en-US" dirty="0"/>
          </a:p>
        </p:txBody>
      </p:sp>
      <p:sp>
        <p:nvSpPr>
          <p:cNvPr id="4" name="投影片編號版面配置區 3"/>
          <p:cNvSpPr>
            <a:spLocks noGrp="1"/>
          </p:cNvSpPr>
          <p:nvPr>
            <p:ph type="sldNum" sz="quarter" idx="12"/>
          </p:nvPr>
        </p:nvSpPr>
        <p:spPr/>
        <p:txBody>
          <a:bodyPr/>
          <a:lstStyle/>
          <a:p>
            <a:fld id="{5F6CEA59-826A-4FB0-BF3A-D1F923F9F4E7}" type="slidenum">
              <a:rPr lang="zh-TW" altLang="en-US" smtClean="0"/>
              <a:t>10</a:t>
            </a:fld>
            <a:endParaRPr lang="zh-TW" altLang="en-US"/>
          </a:p>
        </p:txBody>
      </p:sp>
      <p:pic>
        <p:nvPicPr>
          <p:cNvPr id="5" name="圖片 4"/>
          <p:cNvPicPr>
            <a:picLocks noChangeAspect="1"/>
          </p:cNvPicPr>
          <p:nvPr/>
        </p:nvPicPr>
        <p:blipFill>
          <a:blip r:embed="rId3"/>
          <a:stretch>
            <a:fillRect/>
          </a:stretch>
        </p:blipFill>
        <p:spPr>
          <a:xfrm>
            <a:off x="2133843" y="1584844"/>
            <a:ext cx="7568714" cy="4230768"/>
          </a:xfrm>
          <a:prstGeom prst="rect">
            <a:avLst/>
          </a:prstGeom>
        </p:spPr>
      </p:pic>
    </p:spTree>
    <p:extLst>
      <p:ext uri="{BB962C8B-B14F-4D97-AF65-F5344CB8AC3E}">
        <p14:creationId xmlns:p14="http://schemas.microsoft.com/office/powerpoint/2010/main" val="1996800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 calcmode="lin" valueType="num">
                                      <p:cBhvr additive="base">
                                        <p:cTn id="7"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en-US" altLang="zh-TW" dirty="0"/>
              <a:t>Q1</a:t>
            </a:r>
            <a:r>
              <a:rPr lang="zh-TW" altLang="en-US" dirty="0"/>
              <a:t>：</a:t>
            </a:r>
            <a:r>
              <a:rPr lang="en-US" altLang="zh-TW" dirty="0"/>
              <a:t>try-catch </a:t>
            </a:r>
            <a:r>
              <a:rPr lang="zh-TW" altLang="en-US" dirty="0"/>
              <a:t>中只</a:t>
            </a:r>
            <a:r>
              <a:rPr lang="zh-TW" altLang="en-US" dirty="0" smtClean="0"/>
              <a:t>執行</a:t>
            </a:r>
            <a:r>
              <a:rPr lang="en-US" altLang="zh-TW" dirty="0" err="1" smtClean="0"/>
              <a:t>uploadData</a:t>
            </a:r>
            <a:r>
              <a:rPr lang="en-US" altLang="zh-TW" dirty="0"/>
              <a:t>()</a:t>
            </a:r>
            <a:r>
              <a:rPr lang="zh-TW" altLang="en-US" dirty="0"/>
              <a:t>，是否需要做交易控制</a:t>
            </a:r>
            <a:endParaRPr lang="en-US" altLang="zh-TW" dirty="0"/>
          </a:p>
          <a:p>
            <a:endParaRPr lang="en-US" altLang="zh-TW" dirty="0"/>
          </a:p>
          <a:p>
            <a:r>
              <a:rPr lang="en-US" altLang="zh-TW" dirty="0" smtClean="0"/>
              <a:t>Q2</a:t>
            </a:r>
            <a:r>
              <a:rPr lang="zh-TW" altLang="en-US" dirty="0" smtClean="0"/>
              <a:t>：巢狀</a:t>
            </a:r>
            <a:r>
              <a:rPr lang="en-US" altLang="zh-TW" dirty="0" smtClean="0"/>
              <a:t>Exception</a:t>
            </a:r>
            <a:r>
              <a:rPr lang="zh-TW" altLang="en-US" dirty="0" smtClean="0"/>
              <a:t>案例</a:t>
            </a:r>
            <a:endParaRPr lang="en-US" altLang="zh-TW" dirty="0"/>
          </a:p>
        </p:txBody>
      </p:sp>
      <p:sp>
        <p:nvSpPr>
          <p:cNvPr id="3" name="標題 2"/>
          <p:cNvSpPr>
            <a:spLocks noGrp="1"/>
          </p:cNvSpPr>
          <p:nvPr>
            <p:ph type="title"/>
          </p:nvPr>
        </p:nvSpPr>
        <p:spPr/>
        <p:txBody>
          <a:bodyPr/>
          <a:lstStyle/>
          <a:p>
            <a:r>
              <a:rPr lang="zh-TW" altLang="en-US" dirty="0" smtClean="0"/>
              <a:t>案例討論</a:t>
            </a:r>
            <a:endParaRPr lang="zh-TW" altLang="en-US" dirty="0"/>
          </a:p>
        </p:txBody>
      </p:sp>
      <p:sp>
        <p:nvSpPr>
          <p:cNvPr id="4" name="投影片編號版面配置區 3"/>
          <p:cNvSpPr>
            <a:spLocks noGrp="1"/>
          </p:cNvSpPr>
          <p:nvPr>
            <p:ph type="sldNum" sz="quarter" idx="12"/>
          </p:nvPr>
        </p:nvSpPr>
        <p:spPr/>
        <p:txBody>
          <a:bodyPr/>
          <a:lstStyle/>
          <a:p>
            <a:fld id="{5F6CEA59-826A-4FB0-BF3A-D1F923F9F4E7}" type="slidenum">
              <a:rPr lang="zh-TW" altLang="en-US" smtClean="0"/>
              <a:t>11</a:t>
            </a:fld>
            <a:endParaRPr lang="zh-TW" altLang="en-US"/>
          </a:p>
        </p:txBody>
      </p:sp>
      <p:pic>
        <p:nvPicPr>
          <p:cNvPr id="5" name="圖片 4"/>
          <p:cNvPicPr>
            <a:picLocks noChangeAspect="1"/>
          </p:cNvPicPr>
          <p:nvPr/>
        </p:nvPicPr>
        <p:blipFill>
          <a:blip r:embed="rId2"/>
          <a:stretch>
            <a:fillRect/>
          </a:stretch>
        </p:blipFill>
        <p:spPr>
          <a:xfrm>
            <a:off x="1359851" y="1928169"/>
            <a:ext cx="9116697" cy="4610743"/>
          </a:xfrm>
          <a:prstGeom prst="rect">
            <a:avLst/>
          </a:prstGeom>
        </p:spPr>
      </p:pic>
      <p:pic>
        <p:nvPicPr>
          <p:cNvPr id="7" name="圖片 6"/>
          <p:cNvPicPr>
            <a:picLocks noChangeAspect="1"/>
          </p:cNvPicPr>
          <p:nvPr/>
        </p:nvPicPr>
        <p:blipFill>
          <a:blip r:embed="rId3"/>
          <a:stretch>
            <a:fillRect/>
          </a:stretch>
        </p:blipFill>
        <p:spPr>
          <a:xfrm>
            <a:off x="2631979" y="1928169"/>
            <a:ext cx="6572440" cy="4715488"/>
          </a:xfrm>
          <a:prstGeom prst="rect">
            <a:avLst/>
          </a:prstGeom>
        </p:spPr>
      </p:pic>
    </p:spTree>
    <p:extLst>
      <p:ext uri="{BB962C8B-B14F-4D97-AF65-F5344CB8AC3E}">
        <p14:creationId xmlns:p14="http://schemas.microsoft.com/office/powerpoint/2010/main" val="3521434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xit" presetSubtype="0" fill="hold" nodeType="clickEffect">
                                  <p:stCondLst>
                                    <p:cond delay="0"/>
                                  </p:stCondLst>
                                  <p:childTnLst>
                                    <p:animEffect transition="out" filter="fade">
                                      <p:cBhvr>
                                        <p:cTn id="12" dur="500"/>
                                        <p:tgtEl>
                                          <p:spTgt spid="7"/>
                                        </p:tgtEl>
                                      </p:cBhvr>
                                    </p:animEffect>
                                    <p:set>
                                      <p:cBhvr>
                                        <p:cTn id="13" dur="1" fill="hold">
                                          <p:stCondLst>
                                            <p:cond delay="499"/>
                                          </p:stCondLst>
                                        </p:cTn>
                                        <p:tgtEl>
                                          <p:spTgt spid="7"/>
                                        </p:tgtEl>
                                        <p:attrNameLst>
                                          <p:attrName>style.visibility</p:attrName>
                                        </p:attrNameLst>
                                      </p:cBhvr>
                                      <p:to>
                                        <p:strVal val="hidden"/>
                                      </p:to>
                                    </p:set>
                                  </p:childTnLst>
                                </p:cTn>
                              </p:par>
                            </p:childTnLst>
                          </p:cTn>
                        </p:par>
                        <p:par>
                          <p:cTn id="14" fill="hold">
                            <p:stCondLst>
                              <p:cond delay="500"/>
                            </p:stCondLst>
                            <p:childTnLst>
                              <p:par>
                                <p:cTn id="15" presetID="2" presetClass="entr" presetSubtype="4" fill="hold" nodeType="after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 calcmode="lin" valueType="num">
                                      <p:cBhvr additive="base">
                                        <p:cTn id="1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en-US" altLang="zh-TW" dirty="0" smtClean="0"/>
              <a:t>ref</a:t>
            </a:r>
            <a:r>
              <a:rPr lang="zh-TW" altLang="en-US" dirty="0"/>
              <a:t>：</a:t>
            </a:r>
            <a:r>
              <a:rPr lang="en-US" altLang="zh-TW" dirty="0"/>
              <a:t>https://reurl.cc/04vML6</a:t>
            </a:r>
            <a:endParaRPr lang="zh-TW" altLang="en-US" dirty="0"/>
          </a:p>
        </p:txBody>
      </p:sp>
      <p:sp>
        <p:nvSpPr>
          <p:cNvPr id="3" name="標題 2"/>
          <p:cNvSpPr>
            <a:spLocks noGrp="1"/>
          </p:cNvSpPr>
          <p:nvPr>
            <p:ph type="title"/>
          </p:nvPr>
        </p:nvSpPr>
        <p:spPr/>
        <p:txBody>
          <a:bodyPr/>
          <a:lstStyle/>
          <a:p>
            <a:r>
              <a:rPr lang="en-US" altLang="zh-TW" dirty="0"/>
              <a:t>Q&amp;A</a:t>
            </a:r>
            <a:endParaRPr lang="zh-TW" altLang="en-US" dirty="0"/>
          </a:p>
        </p:txBody>
      </p:sp>
      <p:sp>
        <p:nvSpPr>
          <p:cNvPr id="4" name="投影片編號版面配置區 3"/>
          <p:cNvSpPr>
            <a:spLocks noGrp="1"/>
          </p:cNvSpPr>
          <p:nvPr>
            <p:ph type="sldNum" sz="quarter" idx="12"/>
          </p:nvPr>
        </p:nvSpPr>
        <p:spPr/>
        <p:txBody>
          <a:bodyPr/>
          <a:lstStyle/>
          <a:p>
            <a:fld id="{5F6CEA59-826A-4FB0-BF3A-D1F923F9F4E7}" type="slidenum">
              <a:rPr lang="zh-TW" altLang="en-US" smtClean="0"/>
              <a:t>12</a:t>
            </a:fld>
            <a:endParaRPr lang="zh-TW" altLang="en-US"/>
          </a:p>
        </p:txBody>
      </p:sp>
    </p:spTree>
    <p:extLst>
      <p:ext uri="{BB962C8B-B14F-4D97-AF65-F5344CB8AC3E}">
        <p14:creationId xmlns:p14="http://schemas.microsoft.com/office/powerpoint/2010/main" val="2044033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版面配置區 1"/>
          <p:cNvSpPr>
            <a:spLocks noGrp="1"/>
          </p:cNvSpPr>
          <p:nvPr>
            <p:ph type="body" idx="1"/>
          </p:nvPr>
        </p:nvSpPr>
        <p:spPr/>
        <p:txBody>
          <a:bodyPr>
            <a:normAutofit lnSpcReduction="10000"/>
          </a:bodyPr>
          <a:lstStyle/>
          <a:p>
            <a:endParaRPr lang="zh-TW" altLang="en-US" dirty="0"/>
          </a:p>
        </p:txBody>
      </p:sp>
      <p:sp>
        <p:nvSpPr>
          <p:cNvPr id="3" name="標題 2"/>
          <p:cNvSpPr>
            <a:spLocks noGrp="1"/>
          </p:cNvSpPr>
          <p:nvPr>
            <p:ph type="title"/>
          </p:nvPr>
        </p:nvSpPr>
        <p:spPr/>
        <p:txBody>
          <a:bodyPr>
            <a:normAutofit fontScale="90000"/>
          </a:bodyPr>
          <a:lstStyle/>
          <a:p>
            <a:r>
              <a:rPr lang="zh-TW" altLang="en-US" dirty="0"/>
              <a:t>除錯</a:t>
            </a:r>
          </a:p>
        </p:txBody>
      </p:sp>
    </p:spTree>
    <p:extLst>
      <p:ext uri="{BB962C8B-B14F-4D97-AF65-F5344CB8AC3E}">
        <p14:creationId xmlns:p14="http://schemas.microsoft.com/office/powerpoint/2010/main" val="1292476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t>當程式在執行時，無法正常得到預期結果時的檢查方式</a:t>
            </a:r>
            <a:endParaRPr lang="en-US" altLang="zh-TW" dirty="0"/>
          </a:p>
          <a:p>
            <a:pPr lvl="1"/>
            <a:r>
              <a:rPr lang="en-US" altLang="zh-TW" dirty="0"/>
              <a:t>Java</a:t>
            </a:r>
          </a:p>
          <a:p>
            <a:pPr lvl="2"/>
            <a:r>
              <a:rPr lang="zh-TW" altLang="en-US" dirty="0"/>
              <a:t>埋</a:t>
            </a:r>
            <a:r>
              <a:rPr lang="en-US" altLang="zh-TW" dirty="0"/>
              <a:t>log</a:t>
            </a:r>
          </a:p>
          <a:p>
            <a:pPr lvl="2"/>
            <a:r>
              <a:rPr lang="zh-TW" altLang="en-US" dirty="0"/>
              <a:t>設</a:t>
            </a:r>
            <a:r>
              <a:rPr lang="en-US" altLang="zh-TW" dirty="0"/>
              <a:t>debug</a:t>
            </a:r>
            <a:r>
              <a:rPr lang="zh-TW" altLang="en-US" dirty="0"/>
              <a:t>中斷點</a:t>
            </a:r>
            <a:endParaRPr lang="en-US" altLang="zh-TW" dirty="0"/>
          </a:p>
          <a:p>
            <a:pPr lvl="1"/>
            <a:r>
              <a:rPr lang="en-US" altLang="zh-TW" dirty="0" err="1"/>
              <a:t>jsp</a:t>
            </a:r>
            <a:endParaRPr lang="en-US" altLang="zh-TW" dirty="0"/>
          </a:p>
          <a:p>
            <a:pPr lvl="2"/>
            <a:r>
              <a:rPr lang="zh-TW" altLang="en-US" dirty="0"/>
              <a:t>埋</a:t>
            </a:r>
            <a:r>
              <a:rPr lang="en-US" altLang="zh-TW" dirty="0"/>
              <a:t>console log</a:t>
            </a:r>
          </a:p>
          <a:p>
            <a:pPr lvl="2"/>
            <a:r>
              <a:rPr lang="zh-TW" altLang="en-US" dirty="0"/>
              <a:t>彈</a:t>
            </a:r>
            <a:r>
              <a:rPr lang="en-US" altLang="zh-TW" dirty="0"/>
              <a:t>alert</a:t>
            </a:r>
          </a:p>
          <a:p>
            <a:pPr lvl="2"/>
            <a:r>
              <a:rPr lang="zh-TW" altLang="en-US" dirty="0"/>
              <a:t>設</a:t>
            </a:r>
            <a:r>
              <a:rPr lang="en-US" altLang="zh-TW" dirty="0"/>
              <a:t>debug</a:t>
            </a:r>
            <a:r>
              <a:rPr lang="zh-TW" altLang="en-US" dirty="0"/>
              <a:t>中斷點</a:t>
            </a:r>
          </a:p>
        </p:txBody>
      </p:sp>
      <p:sp>
        <p:nvSpPr>
          <p:cNvPr id="3" name="標題 2"/>
          <p:cNvSpPr>
            <a:spLocks noGrp="1"/>
          </p:cNvSpPr>
          <p:nvPr>
            <p:ph type="title"/>
          </p:nvPr>
        </p:nvSpPr>
        <p:spPr/>
        <p:txBody>
          <a:bodyPr/>
          <a:lstStyle/>
          <a:p>
            <a:r>
              <a:rPr lang="zh-TW" altLang="en-US" dirty="0"/>
              <a:t>除錯處理</a:t>
            </a:r>
          </a:p>
        </p:txBody>
      </p:sp>
      <p:sp>
        <p:nvSpPr>
          <p:cNvPr id="4" name="投影片編號版面配置區 3"/>
          <p:cNvSpPr>
            <a:spLocks noGrp="1"/>
          </p:cNvSpPr>
          <p:nvPr>
            <p:ph type="sldNum" sz="quarter" idx="12"/>
          </p:nvPr>
        </p:nvSpPr>
        <p:spPr/>
        <p:txBody>
          <a:bodyPr/>
          <a:lstStyle/>
          <a:p>
            <a:fld id="{5F6CEA59-826A-4FB0-BF3A-D1F923F9F4E7}" type="slidenum">
              <a:rPr lang="zh-TW" altLang="en-US" smtClean="0"/>
              <a:t>14</a:t>
            </a:fld>
            <a:endParaRPr lang="zh-TW" altLang="en-US"/>
          </a:p>
        </p:txBody>
      </p:sp>
    </p:spTree>
    <p:extLst>
      <p:ext uri="{BB962C8B-B14F-4D97-AF65-F5344CB8AC3E}">
        <p14:creationId xmlns:p14="http://schemas.microsoft.com/office/powerpoint/2010/main" val="2960334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en-US" altLang="zh-TW" dirty="0"/>
              <a:t>Java </a:t>
            </a:r>
            <a:r>
              <a:rPr lang="zh-TW" altLang="en-US" dirty="0"/>
              <a:t>交易控制（</a:t>
            </a:r>
            <a:r>
              <a:rPr lang="en-US" altLang="zh-TW" dirty="0"/>
              <a:t>Transaction Control</a:t>
            </a:r>
            <a:r>
              <a:rPr lang="zh-TW" altLang="en-US" dirty="0"/>
              <a:t>）是確保多個資料庫操作「要麼全部成功，要麼全部失敗」的核心機制，主要用於維持資料的一致性與完整性。在 </a:t>
            </a:r>
            <a:r>
              <a:rPr lang="en-US" altLang="zh-TW" dirty="0"/>
              <a:t>Java </a:t>
            </a:r>
            <a:r>
              <a:rPr lang="zh-TW" altLang="en-US" dirty="0"/>
              <a:t>中，可透過底層的 </a:t>
            </a:r>
            <a:r>
              <a:rPr lang="en-US" altLang="zh-TW" b="1" dirty="0"/>
              <a:t>JDBC</a:t>
            </a:r>
            <a:r>
              <a:rPr lang="zh-TW" altLang="en-US" dirty="0"/>
              <a:t> 或廣泛使用的 </a:t>
            </a:r>
            <a:r>
              <a:rPr lang="en-US" altLang="zh-TW" b="1" dirty="0"/>
              <a:t>Spring </a:t>
            </a:r>
            <a:r>
              <a:rPr lang="zh-TW" altLang="en-US" b="1" dirty="0"/>
              <a:t>框架</a:t>
            </a:r>
            <a:r>
              <a:rPr lang="zh-TW" altLang="en-US" dirty="0"/>
              <a:t> 來實作，以達成 </a:t>
            </a:r>
            <a:r>
              <a:rPr lang="en-US" altLang="zh-TW" dirty="0"/>
              <a:t>ACID </a:t>
            </a:r>
            <a:r>
              <a:rPr lang="zh-TW" altLang="en-US" dirty="0"/>
              <a:t>特性</a:t>
            </a:r>
            <a:r>
              <a:rPr lang="zh-TW" altLang="en-US" dirty="0" smtClean="0"/>
              <a:t>。</a:t>
            </a:r>
            <a:endParaRPr lang="en-US" altLang="zh-TW" dirty="0" smtClean="0"/>
          </a:p>
          <a:p>
            <a:endParaRPr lang="en-US" altLang="zh-TW" dirty="0"/>
          </a:p>
          <a:p>
            <a:r>
              <a:rPr lang="zh-TW" altLang="en-US" dirty="0" smtClean="0"/>
              <a:t>在 </a:t>
            </a:r>
            <a:r>
              <a:rPr lang="en-US" altLang="zh-TW" dirty="0"/>
              <a:t>Java </a:t>
            </a:r>
            <a:r>
              <a:rPr lang="zh-TW" altLang="en-US" dirty="0"/>
              <a:t>中主要</a:t>
            </a:r>
            <a:r>
              <a:rPr lang="zh-TW" altLang="en-US" dirty="0" smtClean="0"/>
              <a:t>透過以下兩種方式</a:t>
            </a:r>
            <a:r>
              <a:rPr lang="zh-TW" altLang="en-US" dirty="0"/>
              <a:t>來實現</a:t>
            </a:r>
            <a:endParaRPr lang="en-US" altLang="zh-TW" dirty="0" smtClean="0"/>
          </a:p>
          <a:p>
            <a:pPr lvl="1"/>
            <a:r>
              <a:rPr lang="en-US" altLang="zh-TW" b="1" dirty="0"/>
              <a:t>JDBC </a:t>
            </a:r>
            <a:r>
              <a:rPr lang="zh-TW" altLang="en-US" b="1" dirty="0"/>
              <a:t>程式化交易管理</a:t>
            </a:r>
            <a:r>
              <a:rPr lang="en-US" altLang="zh-TW" b="1" dirty="0"/>
              <a:t>(</a:t>
            </a:r>
            <a:r>
              <a:rPr lang="en-US" altLang="zh-TW" dirty="0"/>
              <a:t>Programmatic Transaction Management</a:t>
            </a:r>
            <a:r>
              <a:rPr lang="en-US" altLang="zh-TW" b="1" dirty="0"/>
              <a:t>)</a:t>
            </a:r>
            <a:r>
              <a:rPr lang="zh-TW" altLang="en-US" dirty="0"/>
              <a:t> 。</a:t>
            </a:r>
          </a:p>
          <a:p>
            <a:pPr lvl="1"/>
            <a:r>
              <a:rPr lang="en-US" altLang="zh-TW" b="1" dirty="0" smtClean="0"/>
              <a:t>Spring </a:t>
            </a:r>
            <a:r>
              <a:rPr lang="zh-TW" altLang="en-US" b="1" dirty="0"/>
              <a:t>宣告式</a:t>
            </a:r>
            <a:r>
              <a:rPr lang="zh-TW" altLang="en-US" b="1" dirty="0" smtClean="0"/>
              <a:t>交易管理</a:t>
            </a:r>
            <a:r>
              <a:rPr lang="en-US" altLang="zh-TW" b="1" dirty="0" smtClean="0"/>
              <a:t>(</a:t>
            </a:r>
            <a:r>
              <a:rPr lang="en-US" altLang="zh-TW" dirty="0"/>
              <a:t>Declarative Transaction Management</a:t>
            </a:r>
            <a:r>
              <a:rPr lang="en-US" altLang="zh-TW" b="1" dirty="0" smtClean="0"/>
              <a:t>)</a:t>
            </a:r>
            <a:r>
              <a:rPr lang="zh-TW" altLang="en-US" dirty="0" smtClean="0"/>
              <a:t> </a:t>
            </a:r>
            <a:endParaRPr lang="en-US" altLang="zh-TW" dirty="0" smtClean="0"/>
          </a:p>
        </p:txBody>
      </p:sp>
      <p:sp>
        <p:nvSpPr>
          <p:cNvPr id="3" name="標題 2"/>
          <p:cNvSpPr>
            <a:spLocks noGrp="1"/>
          </p:cNvSpPr>
          <p:nvPr>
            <p:ph type="title"/>
          </p:nvPr>
        </p:nvSpPr>
        <p:spPr/>
        <p:txBody>
          <a:bodyPr/>
          <a:lstStyle/>
          <a:p>
            <a:r>
              <a:rPr lang="zh-TW" altLang="en-US" dirty="0"/>
              <a:t>交易控制</a:t>
            </a:r>
          </a:p>
        </p:txBody>
      </p:sp>
      <p:sp>
        <p:nvSpPr>
          <p:cNvPr id="4" name="投影片編號版面配置區 3"/>
          <p:cNvSpPr>
            <a:spLocks noGrp="1"/>
          </p:cNvSpPr>
          <p:nvPr>
            <p:ph type="sldNum" sz="quarter" idx="12"/>
          </p:nvPr>
        </p:nvSpPr>
        <p:spPr/>
        <p:txBody>
          <a:bodyPr/>
          <a:lstStyle/>
          <a:p>
            <a:fld id="{5F6CEA59-826A-4FB0-BF3A-D1F923F9F4E7}" type="slidenum">
              <a:rPr lang="zh-TW" altLang="en-US" smtClean="0"/>
              <a:t>15</a:t>
            </a:fld>
            <a:endParaRPr lang="zh-TW" altLang="en-US"/>
          </a:p>
        </p:txBody>
      </p:sp>
    </p:spTree>
    <p:extLst>
      <p:ext uri="{BB962C8B-B14F-4D97-AF65-F5344CB8AC3E}">
        <p14:creationId xmlns:p14="http://schemas.microsoft.com/office/powerpoint/2010/main" val="1359727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t>以下為兩種主要的 </a:t>
            </a:r>
            <a:r>
              <a:rPr lang="en-US" altLang="zh-TW" dirty="0"/>
              <a:t>Java </a:t>
            </a:r>
            <a:r>
              <a:rPr lang="zh-TW" altLang="en-US" dirty="0"/>
              <a:t>交易控制實作方式說明與</a:t>
            </a:r>
            <a:r>
              <a:rPr lang="zh-TW" altLang="en-US" dirty="0" smtClean="0"/>
              <a:t>範例</a:t>
            </a:r>
            <a:endParaRPr lang="en-US" altLang="zh-TW" dirty="0" smtClean="0"/>
          </a:p>
          <a:p>
            <a:pPr lvl="1"/>
            <a:r>
              <a:rPr lang="zh-TW" altLang="en-US" dirty="0"/>
              <a:t>程式化交易管理（</a:t>
            </a:r>
            <a:r>
              <a:rPr lang="en-US" altLang="zh-TW" dirty="0"/>
              <a:t>Programmatic Transaction Management</a:t>
            </a:r>
            <a:r>
              <a:rPr lang="zh-TW" altLang="en-US" dirty="0" smtClean="0"/>
              <a:t>）</a:t>
            </a:r>
            <a:endParaRPr lang="en-US" altLang="zh-TW" dirty="0" smtClean="0"/>
          </a:p>
          <a:p>
            <a:pPr lvl="1"/>
            <a:r>
              <a:rPr lang="zh-TW" altLang="en-US" dirty="0" smtClean="0"/>
              <a:t>宣告</a:t>
            </a:r>
            <a:r>
              <a:rPr lang="zh-TW" altLang="en-US" dirty="0"/>
              <a:t>式交易管理（</a:t>
            </a:r>
            <a:r>
              <a:rPr lang="en-US" altLang="zh-TW" dirty="0"/>
              <a:t>Declarative Transaction Management</a:t>
            </a:r>
            <a:r>
              <a:rPr lang="zh-TW" altLang="en-US" dirty="0"/>
              <a:t>）</a:t>
            </a:r>
          </a:p>
        </p:txBody>
      </p:sp>
      <p:sp>
        <p:nvSpPr>
          <p:cNvPr id="3" name="標題 2"/>
          <p:cNvSpPr>
            <a:spLocks noGrp="1"/>
          </p:cNvSpPr>
          <p:nvPr>
            <p:ph type="title"/>
          </p:nvPr>
        </p:nvSpPr>
        <p:spPr/>
        <p:txBody>
          <a:bodyPr/>
          <a:lstStyle/>
          <a:p>
            <a:r>
              <a:rPr lang="zh-TW" altLang="en-US" dirty="0" smtClean="0"/>
              <a:t>交易控制</a:t>
            </a:r>
            <a:endParaRPr lang="zh-TW" altLang="en-US" dirty="0"/>
          </a:p>
        </p:txBody>
      </p:sp>
      <p:sp>
        <p:nvSpPr>
          <p:cNvPr id="4" name="投影片編號版面配置區 3"/>
          <p:cNvSpPr>
            <a:spLocks noGrp="1"/>
          </p:cNvSpPr>
          <p:nvPr>
            <p:ph type="sldNum" sz="quarter" idx="12"/>
          </p:nvPr>
        </p:nvSpPr>
        <p:spPr/>
        <p:txBody>
          <a:bodyPr/>
          <a:lstStyle/>
          <a:p>
            <a:fld id="{5F6CEA59-826A-4FB0-BF3A-D1F923F9F4E7}" type="slidenum">
              <a:rPr lang="zh-TW" altLang="en-US" smtClean="0"/>
              <a:t>16</a:t>
            </a:fld>
            <a:endParaRPr lang="zh-TW" altLang="en-US"/>
          </a:p>
        </p:txBody>
      </p:sp>
    </p:spTree>
    <p:extLst>
      <p:ext uri="{BB962C8B-B14F-4D97-AF65-F5344CB8AC3E}">
        <p14:creationId xmlns:p14="http://schemas.microsoft.com/office/powerpoint/2010/main" val="814620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zh-TW" altLang="en-US" dirty="0" smtClean="0"/>
              <a:t>直接</a:t>
            </a:r>
            <a:r>
              <a:rPr lang="zh-TW" altLang="en-US" dirty="0"/>
              <a:t>透過撰寫程式碼來控制交易的起點與終點。這種方式最底層依賴於 </a:t>
            </a:r>
            <a:r>
              <a:rPr lang="en-US" altLang="zh-TW" dirty="0"/>
              <a:t>Java Database Connectivity (JDBC) </a:t>
            </a:r>
            <a:r>
              <a:rPr lang="zh-TW" altLang="en-US" dirty="0"/>
              <a:t>的 </a:t>
            </a:r>
            <a:r>
              <a:rPr lang="en-US" altLang="zh-TW" dirty="0"/>
              <a:t>Connection </a:t>
            </a:r>
            <a:r>
              <a:rPr lang="zh-TW" altLang="en-US" dirty="0"/>
              <a:t>物件</a:t>
            </a:r>
            <a:r>
              <a:rPr lang="zh-TW" altLang="en-US" dirty="0" smtClean="0"/>
              <a:t>。</a:t>
            </a:r>
            <a:endParaRPr lang="en-US" altLang="zh-TW" dirty="0" smtClean="0"/>
          </a:p>
          <a:p>
            <a:endParaRPr lang="en-US" altLang="zh-TW" dirty="0" smtClean="0"/>
          </a:p>
          <a:p>
            <a:r>
              <a:rPr lang="zh-TW" altLang="en-US" dirty="0" smtClean="0"/>
              <a:t>核心</a:t>
            </a:r>
            <a:r>
              <a:rPr lang="zh-TW" altLang="en-US" dirty="0"/>
              <a:t>步驟：</a:t>
            </a:r>
          </a:p>
          <a:p>
            <a:pPr lvl="1"/>
            <a:r>
              <a:rPr lang="zh-TW" altLang="en-US" dirty="0"/>
              <a:t>關閉自動提交：將 </a:t>
            </a:r>
            <a:r>
              <a:rPr lang="en-US" altLang="zh-TW" dirty="0" err="1"/>
              <a:t>setAutoCommit</a:t>
            </a:r>
            <a:r>
              <a:rPr lang="en-US" altLang="zh-TW" dirty="0"/>
              <a:t>(false)</a:t>
            </a:r>
            <a:r>
              <a:rPr lang="zh-TW" altLang="en-US" dirty="0"/>
              <a:t>。</a:t>
            </a:r>
          </a:p>
          <a:p>
            <a:pPr lvl="1"/>
            <a:r>
              <a:rPr lang="zh-TW" altLang="en-US" dirty="0"/>
              <a:t>執行業務邏輯：進行各項 </a:t>
            </a:r>
            <a:r>
              <a:rPr lang="en-US" altLang="zh-TW" dirty="0"/>
              <a:t>SQL </a:t>
            </a:r>
            <a:r>
              <a:rPr lang="zh-TW" altLang="en-US" dirty="0"/>
              <a:t>操作。</a:t>
            </a:r>
          </a:p>
          <a:p>
            <a:pPr lvl="1"/>
            <a:r>
              <a:rPr lang="zh-TW" altLang="en-US" dirty="0"/>
              <a:t>提交交易：若全部成功，呼叫 </a:t>
            </a:r>
            <a:r>
              <a:rPr lang="en-US" altLang="zh-TW" dirty="0"/>
              <a:t>commit()</a:t>
            </a:r>
            <a:r>
              <a:rPr lang="zh-TW" altLang="en-US" dirty="0"/>
              <a:t>。</a:t>
            </a:r>
          </a:p>
          <a:p>
            <a:pPr lvl="1"/>
            <a:r>
              <a:rPr lang="zh-TW" altLang="en-US" dirty="0"/>
              <a:t>回滾交易：若發生例外，呼叫 </a:t>
            </a:r>
            <a:r>
              <a:rPr lang="en-US" altLang="zh-TW" dirty="0"/>
              <a:t>rollback()</a:t>
            </a:r>
            <a:r>
              <a:rPr lang="zh-TW" altLang="en-US" dirty="0"/>
              <a:t>。</a:t>
            </a:r>
            <a:endParaRPr lang="en-US" altLang="zh-TW" dirty="0" smtClean="0"/>
          </a:p>
        </p:txBody>
      </p:sp>
      <p:sp>
        <p:nvSpPr>
          <p:cNvPr id="3" name="標題 2"/>
          <p:cNvSpPr>
            <a:spLocks noGrp="1"/>
          </p:cNvSpPr>
          <p:nvPr>
            <p:ph type="title"/>
          </p:nvPr>
        </p:nvSpPr>
        <p:spPr/>
        <p:txBody>
          <a:bodyPr>
            <a:normAutofit/>
          </a:bodyPr>
          <a:lstStyle/>
          <a:p>
            <a:r>
              <a:rPr lang="zh-TW" altLang="en-US" dirty="0"/>
              <a:t>程式化交易</a:t>
            </a:r>
            <a:r>
              <a:rPr lang="zh-TW" altLang="en-US" dirty="0" smtClean="0"/>
              <a:t>管理</a:t>
            </a:r>
            <a:endParaRPr lang="zh-TW" altLang="en-US" dirty="0"/>
          </a:p>
        </p:txBody>
      </p:sp>
      <p:sp>
        <p:nvSpPr>
          <p:cNvPr id="4" name="投影片編號版面配置區 3"/>
          <p:cNvSpPr>
            <a:spLocks noGrp="1"/>
          </p:cNvSpPr>
          <p:nvPr>
            <p:ph type="sldNum" sz="quarter" idx="12"/>
          </p:nvPr>
        </p:nvSpPr>
        <p:spPr/>
        <p:txBody>
          <a:bodyPr/>
          <a:lstStyle/>
          <a:p>
            <a:fld id="{5F6CEA59-826A-4FB0-BF3A-D1F923F9F4E7}" type="slidenum">
              <a:rPr lang="zh-TW" altLang="en-US" smtClean="0"/>
              <a:t>17</a:t>
            </a:fld>
            <a:endParaRPr lang="zh-TW" altLang="en-US"/>
          </a:p>
        </p:txBody>
      </p:sp>
    </p:spTree>
    <p:extLst>
      <p:ext uri="{BB962C8B-B14F-4D97-AF65-F5344CB8AC3E}">
        <p14:creationId xmlns:p14="http://schemas.microsoft.com/office/powerpoint/2010/main" val="2286782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t>開發者無需手動呼叫 </a:t>
            </a:r>
            <a:r>
              <a:rPr lang="en-US" altLang="zh-TW" dirty="0"/>
              <a:t>commit </a:t>
            </a:r>
            <a:r>
              <a:rPr lang="zh-TW" altLang="en-US" dirty="0"/>
              <a:t>或 </a:t>
            </a:r>
            <a:r>
              <a:rPr lang="en-US" altLang="zh-TW" dirty="0"/>
              <a:t>rollback</a:t>
            </a:r>
            <a:r>
              <a:rPr lang="zh-TW" altLang="en-US" dirty="0"/>
              <a:t>，而是透過設定檔或註解（如 </a:t>
            </a:r>
            <a:r>
              <a:rPr lang="en-US" altLang="zh-TW" dirty="0"/>
              <a:t>Spring </a:t>
            </a:r>
            <a:r>
              <a:rPr lang="zh-TW" altLang="en-US" dirty="0"/>
              <a:t>的 </a:t>
            </a:r>
            <a:r>
              <a:rPr lang="en-US" altLang="zh-TW" dirty="0"/>
              <a:t>@Transactional</a:t>
            </a:r>
            <a:r>
              <a:rPr lang="zh-TW" altLang="en-US" dirty="0"/>
              <a:t>）來宣告交易邊界。框架會使用 </a:t>
            </a:r>
            <a:r>
              <a:rPr lang="en-US" altLang="zh-TW" dirty="0"/>
              <a:t>AOP</a:t>
            </a:r>
            <a:r>
              <a:rPr lang="zh-TW" altLang="en-US" dirty="0"/>
              <a:t>（面向切面程式設計）自動在方法執行前開啟交易，並在成功時提交、失敗時回滾</a:t>
            </a:r>
            <a:r>
              <a:rPr lang="zh-TW" altLang="en-US" dirty="0" smtClean="0"/>
              <a:t>。</a:t>
            </a:r>
            <a:endParaRPr lang="en-US" altLang="zh-TW" dirty="0" smtClean="0"/>
          </a:p>
          <a:p>
            <a:endParaRPr lang="en-US" altLang="zh-TW" dirty="0"/>
          </a:p>
          <a:p>
            <a:r>
              <a:rPr lang="zh-TW" altLang="en-US" dirty="0"/>
              <a:t>核心優勢</a:t>
            </a:r>
            <a:r>
              <a:rPr lang="zh-TW" altLang="en-US" dirty="0" smtClean="0"/>
              <a:t>：</a:t>
            </a:r>
            <a:endParaRPr lang="en-US" altLang="zh-TW" dirty="0" smtClean="0"/>
          </a:p>
          <a:p>
            <a:pPr lvl="1"/>
            <a:r>
              <a:rPr lang="zh-TW" altLang="en-US" dirty="0" smtClean="0"/>
              <a:t>業務</a:t>
            </a:r>
            <a:r>
              <a:rPr lang="zh-TW" altLang="en-US" dirty="0"/>
              <a:t>邏輯與交易控制分離，程式碼乾淨易讀</a:t>
            </a:r>
            <a:r>
              <a:rPr lang="zh-TW" altLang="en-US" dirty="0" smtClean="0"/>
              <a:t>。</a:t>
            </a:r>
            <a:endParaRPr lang="en-US" altLang="zh-TW" dirty="0" smtClean="0"/>
          </a:p>
          <a:p>
            <a:pPr lvl="1"/>
            <a:r>
              <a:rPr lang="zh-TW" altLang="en-US" dirty="0" smtClean="0"/>
              <a:t>可</a:t>
            </a:r>
            <a:r>
              <a:rPr lang="zh-TW" altLang="en-US" dirty="0"/>
              <a:t>靈活設定傳播行為（</a:t>
            </a:r>
            <a:r>
              <a:rPr lang="en-US" altLang="zh-TW" dirty="0"/>
              <a:t>Propagation</a:t>
            </a:r>
            <a:r>
              <a:rPr lang="zh-TW" altLang="en-US" dirty="0"/>
              <a:t>）與隔離級別（</a:t>
            </a:r>
            <a:r>
              <a:rPr lang="en-US" altLang="zh-TW" dirty="0"/>
              <a:t>Isolation</a:t>
            </a:r>
            <a:r>
              <a:rPr lang="zh-TW" altLang="en-US" dirty="0"/>
              <a:t>）。</a:t>
            </a:r>
            <a:endParaRPr lang="zh-TW" altLang="en-US" dirty="0"/>
          </a:p>
        </p:txBody>
      </p:sp>
      <p:sp>
        <p:nvSpPr>
          <p:cNvPr id="3" name="標題 2"/>
          <p:cNvSpPr>
            <a:spLocks noGrp="1"/>
          </p:cNvSpPr>
          <p:nvPr>
            <p:ph type="title"/>
          </p:nvPr>
        </p:nvSpPr>
        <p:spPr/>
        <p:txBody>
          <a:bodyPr>
            <a:normAutofit/>
          </a:bodyPr>
          <a:lstStyle/>
          <a:p>
            <a:r>
              <a:rPr lang="zh-TW" altLang="en-US" dirty="0"/>
              <a:t>宣告式交易</a:t>
            </a:r>
            <a:r>
              <a:rPr lang="zh-TW" altLang="en-US" dirty="0" smtClean="0"/>
              <a:t>管理</a:t>
            </a:r>
            <a:endParaRPr lang="zh-TW" altLang="en-US" dirty="0"/>
          </a:p>
        </p:txBody>
      </p:sp>
      <p:sp>
        <p:nvSpPr>
          <p:cNvPr id="4" name="投影片編號版面配置區 3"/>
          <p:cNvSpPr>
            <a:spLocks noGrp="1"/>
          </p:cNvSpPr>
          <p:nvPr>
            <p:ph type="sldNum" sz="quarter" idx="12"/>
          </p:nvPr>
        </p:nvSpPr>
        <p:spPr/>
        <p:txBody>
          <a:bodyPr/>
          <a:lstStyle/>
          <a:p>
            <a:fld id="{5F6CEA59-826A-4FB0-BF3A-D1F923F9F4E7}" type="slidenum">
              <a:rPr lang="zh-TW" altLang="en-US" smtClean="0"/>
              <a:t>18</a:t>
            </a:fld>
            <a:endParaRPr lang="zh-TW" altLang="en-US"/>
          </a:p>
        </p:txBody>
      </p:sp>
    </p:spTree>
    <p:extLst>
      <p:ext uri="{BB962C8B-B14F-4D97-AF65-F5344CB8AC3E}">
        <p14:creationId xmlns:p14="http://schemas.microsoft.com/office/powerpoint/2010/main" val="4011046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b="1" dirty="0"/>
              <a:t>方法必須是 </a:t>
            </a:r>
            <a:r>
              <a:rPr lang="en-US" altLang="zh-TW" b="1" dirty="0"/>
              <a:t>public</a:t>
            </a:r>
            <a:r>
              <a:rPr lang="zh-TW" altLang="en-US" dirty="0"/>
              <a:t>：</a:t>
            </a:r>
            <a:endParaRPr lang="en-US" altLang="zh-TW" dirty="0" smtClean="0"/>
          </a:p>
          <a:p>
            <a:pPr lvl="1"/>
            <a:r>
              <a:rPr lang="zh-TW" altLang="en-US" dirty="0" smtClean="0"/>
              <a:t>只</a:t>
            </a:r>
            <a:r>
              <a:rPr lang="zh-TW" altLang="en-US" dirty="0"/>
              <a:t>能應用於 </a:t>
            </a:r>
            <a:r>
              <a:rPr lang="en-US" altLang="zh-TW" dirty="0"/>
              <a:t>public </a:t>
            </a:r>
            <a:r>
              <a:rPr lang="zh-TW" altLang="en-US" dirty="0"/>
              <a:t>方法。這是因為 </a:t>
            </a:r>
            <a:r>
              <a:rPr lang="en-US" altLang="zh-TW" dirty="0"/>
              <a:t>Spring </a:t>
            </a:r>
            <a:r>
              <a:rPr lang="zh-TW" altLang="en-US" dirty="0"/>
              <a:t>使用代理 </a:t>
            </a:r>
            <a:r>
              <a:rPr lang="en-US" altLang="zh-TW" dirty="0"/>
              <a:t>(AOP) </a:t>
            </a:r>
            <a:r>
              <a:rPr lang="zh-TW" altLang="en-US" dirty="0"/>
              <a:t>來實現交易管理，而代理 </a:t>
            </a:r>
            <a:r>
              <a:rPr lang="en-US" altLang="zh-TW" dirty="0"/>
              <a:t>(AOP)</a:t>
            </a:r>
            <a:r>
              <a:rPr lang="zh-TW" altLang="en-US" dirty="0"/>
              <a:t>只能攔截 </a:t>
            </a:r>
            <a:r>
              <a:rPr lang="en-US" altLang="zh-TW" dirty="0"/>
              <a:t>public </a:t>
            </a:r>
            <a:r>
              <a:rPr lang="zh-TW" altLang="en-US" dirty="0"/>
              <a:t>方法的調用</a:t>
            </a:r>
            <a:r>
              <a:rPr lang="zh-TW" altLang="en-US" dirty="0" smtClean="0"/>
              <a:t>。</a:t>
            </a:r>
            <a:endParaRPr lang="en-US" altLang="zh-TW" dirty="0" smtClean="0"/>
          </a:p>
          <a:p>
            <a:r>
              <a:rPr lang="zh-TW" altLang="en-US" b="1" dirty="0"/>
              <a:t>異常處理</a:t>
            </a:r>
            <a:r>
              <a:rPr lang="zh-TW" altLang="en-US" dirty="0" smtClean="0"/>
              <a:t>：</a:t>
            </a:r>
            <a:endParaRPr lang="en-US" altLang="zh-TW" dirty="0" smtClean="0"/>
          </a:p>
          <a:p>
            <a:pPr lvl="1"/>
            <a:r>
              <a:rPr lang="zh-TW" altLang="en-US" dirty="0"/>
              <a:t>默認情況下，只有遇到 </a:t>
            </a:r>
            <a:r>
              <a:rPr lang="en-US" altLang="zh-TW" dirty="0" err="1"/>
              <a:t>RuntimeException</a:t>
            </a:r>
            <a:r>
              <a:rPr lang="en-US" altLang="zh-TW" dirty="0"/>
              <a:t> </a:t>
            </a:r>
            <a:r>
              <a:rPr lang="zh-TW" altLang="en-US" dirty="0"/>
              <a:t>和 </a:t>
            </a:r>
            <a:r>
              <a:rPr lang="en-US" altLang="zh-TW" dirty="0"/>
              <a:t>Error </a:t>
            </a:r>
            <a:r>
              <a:rPr lang="zh-TW" altLang="en-US" dirty="0"/>
              <a:t>時才會觸發 </a:t>
            </a:r>
            <a:r>
              <a:rPr lang="en-US" altLang="zh-TW" dirty="0"/>
              <a:t>rollback</a:t>
            </a:r>
            <a:r>
              <a:rPr lang="zh-TW" altLang="en-US" dirty="0" smtClean="0"/>
              <a:t>。</a:t>
            </a:r>
            <a:endParaRPr lang="zh-TW" altLang="en-US" dirty="0"/>
          </a:p>
          <a:p>
            <a:pPr lvl="1"/>
            <a:r>
              <a:rPr lang="zh-TW" altLang="en-US" dirty="0"/>
              <a:t>如果你想在遇到受檢異常時也 </a:t>
            </a:r>
            <a:r>
              <a:rPr lang="en-US" altLang="zh-TW" dirty="0"/>
              <a:t>rollback </a:t>
            </a:r>
            <a:r>
              <a:rPr lang="zh-TW" altLang="en-US" dirty="0"/>
              <a:t>交易，可以使用 </a:t>
            </a:r>
            <a:r>
              <a:rPr lang="en-US" altLang="zh-TW" dirty="0" err="1"/>
              <a:t>rollbackFor</a:t>
            </a:r>
            <a:r>
              <a:rPr lang="en-US" altLang="zh-TW" dirty="0"/>
              <a:t> </a:t>
            </a:r>
            <a:r>
              <a:rPr lang="zh-TW" altLang="en-US" dirty="0"/>
              <a:t>屬性，然後指定 </a:t>
            </a:r>
            <a:r>
              <a:rPr lang="en-US" altLang="zh-TW" dirty="0"/>
              <a:t>Exception </a:t>
            </a:r>
            <a:r>
              <a:rPr lang="zh-TW" altLang="en-US" dirty="0"/>
              <a:t>類型</a:t>
            </a:r>
            <a:r>
              <a:rPr lang="zh-TW" altLang="en-US" dirty="0" smtClean="0"/>
              <a:t>。</a:t>
            </a:r>
            <a:endParaRPr lang="en-US" altLang="zh-TW" dirty="0" smtClean="0"/>
          </a:p>
          <a:p>
            <a:r>
              <a:rPr lang="zh-TW" altLang="en-US" b="1" dirty="0"/>
              <a:t>部分操作 </a:t>
            </a:r>
            <a:r>
              <a:rPr lang="en-US" altLang="zh-TW" b="1" dirty="0"/>
              <a:t>rollback</a:t>
            </a:r>
            <a:r>
              <a:rPr lang="zh-TW" altLang="en-US" dirty="0" smtClean="0"/>
              <a:t>：</a:t>
            </a:r>
            <a:endParaRPr lang="en-US" altLang="zh-TW" dirty="0" smtClean="0"/>
          </a:p>
          <a:p>
            <a:pPr lvl="1"/>
            <a:r>
              <a:rPr lang="zh-TW" altLang="en-US" dirty="0"/>
              <a:t>若只想在某些特定情況下 </a:t>
            </a:r>
            <a:r>
              <a:rPr lang="en-US" altLang="zh-TW" dirty="0"/>
              <a:t>rollback</a:t>
            </a:r>
            <a:r>
              <a:rPr lang="zh-TW" altLang="en-US" dirty="0"/>
              <a:t>。</a:t>
            </a:r>
          </a:p>
          <a:p>
            <a:pPr lvl="1"/>
            <a:r>
              <a:rPr lang="zh-TW" altLang="en-US" dirty="0"/>
              <a:t>這時可以使用 </a:t>
            </a:r>
            <a:r>
              <a:rPr lang="en-US" altLang="zh-TW" dirty="0" err="1"/>
              <a:t>TransactionAspectSupport</a:t>
            </a:r>
            <a:r>
              <a:rPr lang="zh-TW" altLang="en-US" dirty="0"/>
              <a:t>，採用半手動的方式，來觸發 </a:t>
            </a:r>
            <a:r>
              <a:rPr lang="en-US" altLang="zh-TW" dirty="0"/>
              <a:t>rollback</a:t>
            </a:r>
            <a:r>
              <a:rPr lang="zh-TW" altLang="en-US" dirty="0"/>
              <a:t>。</a:t>
            </a:r>
            <a:endParaRPr lang="zh-TW" altLang="en-US" dirty="0"/>
          </a:p>
        </p:txBody>
      </p:sp>
      <p:sp>
        <p:nvSpPr>
          <p:cNvPr id="3" name="標題 2"/>
          <p:cNvSpPr>
            <a:spLocks noGrp="1"/>
          </p:cNvSpPr>
          <p:nvPr>
            <p:ph type="title"/>
          </p:nvPr>
        </p:nvSpPr>
        <p:spPr/>
        <p:txBody>
          <a:bodyPr/>
          <a:lstStyle/>
          <a:p>
            <a:r>
              <a:rPr lang="en-US" altLang="zh-TW" dirty="0"/>
              <a:t>@Transactional </a:t>
            </a:r>
            <a:r>
              <a:rPr lang="zh-TW" altLang="en-US" dirty="0"/>
              <a:t>的注意事項</a:t>
            </a:r>
          </a:p>
        </p:txBody>
      </p:sp>
      <p:sp>
        <p:nvSpPr>
          <p:cNvPr id="4" name="投影片編號版面配置區 3"/>
          <p:cNvSpPr>
            <a:spLocks noGrp="1"/>
          </p:cNvSpPr>
          <p:nvPr>
            <p:ph type="sldNum" sz="quarter" idx="12"/>
          </p:nvPr>
        </p:nvSpPr>
        <p:spPr/>
        <p:txBody>
          <a:bodyPr/>
          <a:lstStyle/>
          <a:p>
            <a:fld id="{5F6CEA59-826A-4FB0-BF3A-D1F923F9F4E7}" type="slidenum">
              <a:rPr lang="zh-TW" altLang="en-US" smtClean="0"/>
              <a:t>19</a:t>
            </a:fld>
            <a:endParaRPr lang="zh-TW" altLang="en-US"/>
          </a:p>
        </p:txBody>
      </p:sp>
    </p:spTree>
    <p:extLst>
      <p:ext uri="{BB962C8B-B14F-4D97-AF65-F5344CB8AC3E}">
        <p14:creationId xmlns:p14="http://schemas.microsoft.com/office/powerpoint/2010/main" val="2633628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zh-TW" altLang="en-US" b="1" dirty="0"/>
              <a:t>嵌套交易</a:t>
            </a:r>
            <a:r>
              <a:rPr lang="zh-TW" altLang="en-US" dirty="0" smtClean="0"/>
              <a:t>：</a:t>
            </a:r>
            <a:endParaRPr lang="en-US" altLang="zh-TW" dirty="0" smtClean="0"/>
          </a:p>
          <a:p>
            <a:pPr lvl="1"/>
            <a:r>
              <a:rPr lang="zh-TW" altLang="en-US" dirty="0"/>
              <a:t>當一個帶有 </a:t>
            </a:r>
            <a:r>
              <a:rPr lang="en-US" altLang="zh-TW" dirty="0"/>
              <a:t>@Transactional </a:t>
            </a:r>
            <a:r>
              <a:rPr lang="zh-TW" altLang="en-US" dirty="0"/>
              <a:t>的方法調用另一個帶有 </a:t>
            </a:r>
            <a:r>
              <a:rPr lang="en-US" altLang="zh-TW" dirty="0"/>
              <a:t>@Transactional </a:t>
            </a:r>
            <a:r>
              <a:rPr lang="zh-TW" altLang="en-US" dirty="0"/>
              <a:t>的方法時，默認情況下會使用同一個交易。</a:t>
            </a:r>
          </a:p>
          <a:p>
            <a:pPr lvl="1"/>
            <a:r>
              <a:rPr lang="zh-TW" altLang="en-US" dirty="0" smtClean="0"/>
              <a:t>如果你想創建一個新的交易，可以使用</a:t>
            </a:r>
            <a:r>
              <a:rPr lang="zh-TW" altLang="en-US" b="1" dirty="0"/>
              <a:t>傳播</a:t>
            </a:r>
            <a:r>
              <a:rPr lang="zh-TW" altLang="en-US" b="1" dirty="0" smtClean="0"/>
              <a:t>行為</a:t>
            </a:r>
            <a:r>
              <a:rPr lang="en-US" altLang="zh-TW" b="1" dirty="0" smtClean="0"/>
              <a:t>(</a:t>
            </a:r>
            <a:r>
              <a:rPr lang="en-US" altLang="zh-TW" dirty="0" smtClean="0"/>
              <a:t>propagation)</a:t>
            </a:r>
            <a:r>
              <a:rPr lang="zh-TW" altLang="en-US" dirty="0" smtClean="0"/>
              <a:t>屬性：</a:t>
            </a:r>
            <a:endParaRPr lang="en-US" altLang="zh-TW" dirty="0" smtClean="0"/>
          </a:p>
          <a:p>
            <a:pPr lvl="2"/>
            <a:r>
              <a:rPr lang="en-US" altLang="zh-TW" b="1" dirty="0"/>
              <a:t>REQUIRED (</a:t>
            </a:r>
            <a:r>
              <a:rPr lang="zh-TW" altLang="en-US" b="1" dirty="0"/>
              <a:t>預設行為</a:t>
            </a:r>
            <a:r>
              <a:rPr lang="en-US" altLang="zh-TW" b="1" dirty="0"/>
              <a:t>)</a:t>
            </a:r>
          </a:p>
          <a:p>
            <a:pPr lvl="2"/>
            <a:r>
              <a:rPr lang="en-US" altLang="zh-TW" b="1" dirty="0" smtClean="0"/>
              <a:t>REQUIRES_NEW</a:t>
            </a:r>
            <a:endParaRPr lang="en-US" altLang="zh-TW" dirty="0" smtClean="0"/>
          </a:p>
          <a:p>
            <a:pPr lvl="1"/>
            <a:endParaRPr lang="en-US" altLang="zh-TW" dirty="0"/>
          </a:p>
        </p:txBody>
      </p:sp>
      <p:sp>
        <p:nvSpPr>
          <p:cNvPr id="3" name="標題 2"/>
          <p:cNvSpPr>
            <a:spLocks noGrp="1"/>
          </p:cNvSpPr>
          <p:nvPr>
            <p:ph type="title"/>
          </p:nvPr>
        </p:nvSpPr>
        <p:spPr/>
        <p:txBody>
          <a:bodyPr/>
          <a:lstStyle/>
          <a:p>
            <a:r>
              <a:rPr lang="zh-TW" altLang="en-US" dirty="0" smtClean="0"/>
              <a:t>交易控制</a:t>
            </a:r>
            <a:endParaRPr lang="zh-TW" altLang="en-US" dirty="0"/>
          </a:p>
        </p:txBody>
      </p:sp>
      <p:sp>
        <p:nvSpPr>
          <p:cNvPr id="4" name="投影片編號版面配置區 3"/>
          <p:cNvSpPr>
            <a:spLocks noGrp="1"/>
          </p:cNvSpPr>
          <p:nvPr>
            <p:ph type="sldNum" sz="quarter" idx="12"/>
          </p:nvPr>
        </p:nvSpPr>
        <p:spPr/>
        <p:txBody>
          <a:bodyPr/>
          <a:lstStyle/>
          <a:p>
            <a:fld id="{5F6CEA59-826A-4FB0-BF3A-D1F923F9F4E7}" type="slidenum">
              <a:rPr lang="zh-TW" altLang="en-US" smtClean="0"/>
              <a:t>20</a:t>
            </a:fld>
            <a:endParaRPr lang="zh-TW" altLang="en-US"/>
          </a:p>
        </p:txBody>
      </p:sp>
    </p:spTree>
    <p:extLst>
      <p:ext uri="{BB962C8B-B14F-4D97-AF65-F5344CB8AC3E}">
        <p14:creationId xmlns:p14="http://schemas.microsoft.com/office/powerpoint/2010/main" val="4280928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pPr marL="228600" lvl="2">
              <a:spcBef>
                <a:spcPts val="1000"/>
              </a:spcBef>
            </a:pPr>
            <a:r>
              <a:rPr lang="en-US" altLang="zh-TW" sz="2800" b="1" dirty="0">
                <a:solidFill>
                  <a:srgbClr val="024F6C"/>
                </a:solidFill>
              </a:rPr>
              <a:t>REQUIRED (</a:t>
            </a:r>
            <a:r>
              <a:rPr lang="zh-TW" altLang="en-US" sz="2800" b="1" dirty="0">
                <a:solidFill>
                  <a:srgbClr val="024F6C"/>
                </a:solidFill>
              </a:rPr>
              <a:t>預設行為</a:t>
            </a:r>
            <a:r>
              <a:rPr lang="en-US" altLang="zh-TW" sz="2800" b="1" dirty="0">
                <a:solidFill>
                  <a:srgbClr val="024F6C"/>
                </a:solidFill>
              </a:rPr>
              <a:t>)</a:t>
            </a:r>
          </a:p>
          <a:p>
            <a:pPr lvl="1"/>
            <a:r>
              <a:rPr lang="zh-TW" altLang="en-US" dirty="0"/>
              <a:t>場景：</a:t>
            </a:r>
            <a:r>
              <a:rPr lang="en-US" altLang="zh-TW" dirty="0"/>
              <a:t>Service A </a:t>
            </a:r>
            <a:r>
              <a:rPr lang="zh-TW" altLang="en-US" dirty="0"/>
              <a:t>的 </a:t>
            </a:r>
            <a:r>
              <a:rPr lang="en-US" altLang="zh-TW" dirty="0" err="1"/>
              <a:t>methodA</a:t>
            </a:r>
            <a:r>
              <a:rPr lang="en-US" altLang="zh-TW" dirty="0"/>
              <a:t>() </a:t>
            </a:r>
            <a:r>
              <a:rPr lang="zh-TW" altLang="en-US" dirty="0"/>
              <a:t>呼叫 </a:t>
            </a:r>
            <a:r>
              <a:rPr lang="en-US" altLang="zh-TW" dirty="0"/>
              <a:t>Service B </a:t>
            </a:r>
            <a:r>
              <a:rPr lang="zh-TW" altLang="en-US" dirty="0"/>
              <a:t>的 </a:t>
            </a:r>
            <a:r>
              <a:rPr lang="en-US" altLang="zh-TW" dirty="0" err="1"/>
              <a:t>methodB</a:t>
            </a:r>
            <a:r>
              <a:rPr lang="en-US" altLang="zh-TW" dirty="0"/>
              <a:t>()</a:t>
            </a:r>
            <a:r>
              <a:rPr lang="zh-TW" altLang="en-US" dirty="0"/>
              <a:t>，兩者都有 </a:t>
            </a:r>
            <a:r>
              <a:rPr lang="en-US" altLang="zh-TW" dirty="0"/>
              <a:t>@Transactional(propagation = </a:t>
            </a:r>
            <a:r>
              <a:rPr lang="en-US" altLang="zh-TW" dirty="0" err="1"/>
              <a:t>Propagation.REQUIRED</a:t>
            </a:r>
            <a:r>
              <a:rPr lang="en-US" altLang="zh-TW" dirty="0"/>
              <a:t>)</a:t>
            </a:r>
            <a:r>
              <a:rPr lang="zh-TW" altLang="en-US" dirty="0"/>
              <a:t>。</a:t>
            </a:r>
          </a:p>
          <a:p>
            <a:pPr lvl="1"/>
            <a:endParaRPr lang="en-US" altLang="zh-TW" dirty="0" smtClean="0"/>
          </a:p>
          <a:p>
            <a:pPr lvl="1"/>
            <a:r>
              <a:rPr lang="zh-TW" altLang="en-US" dirty="0" smtClean="0"/>
              <a:t>結果</a:t>
            </a:r>
            <a:r>
              <a:rPr lang="zh-TW" altLang="en-US" dirty="0"/>
              <a:t>：</a:t>
            </a:r>
            <a:r>
              <a:rPr lang="en-US" altLang="zh-TW" dirty="0" err="1"/>
              <a:t>methodB</a:t>
            </a:r>
            <a:r>
              <a:rPr lang="en-US" altLang="zh-TW" dirty="0"/>
              <a:t>() </a:t>
            </a:r>
            <a:r>
              <a:rPr lang="zh-TW" altLang="en-US" dirty="0"/>
              <a:t>會加入 </a:t>
            </a:r>
            <a:r>
              <a:rPr lang="en-US" altLang="zh-TW" dirty="0" err="1"/>
              <a:t>methodA</a:t>
            </a:r>
            <a:r>
              <a:rPr lang="en-US" altLang="zh-TW" dirty="0"/>
              <a:t>() </a:t>
            </a:r>
            <a:r>
              <a:rPr lang="zh-TW" altLang="en-US" dirty="0"/>
              <a:t>建立的交易中。它們是生命共同體，只要任何一方失敗，整個交易（包含 </a:t>
            </a:r>
            <a:r>
              <a:rPr lang="en-US" altLang="zh-TW" dirty="0"/>
              <a:t>A </a:t>
            </a:r>
            <a:r>
              <a:rPr lang="zh-TW" altLang="en-US" dirty="0"/>
              <a:t>和 </a:t>
            </a:r>
            <a:r>
              <a:rPr lang="en-US" altLang="zh-TW" dirty="0"/>
              <a:t>B </a:t>
            </a:r>
            <a:r>
              <a:rPr lang="zh-TW" altLang="en-US" dirty="0"/>
              <a:t>的操作）都會一起回滾 </a:t>
            </a:r>
            <a:r>
              <a:rPr lang="en-US" altLang="zh-TW" dirty="0"/>
              <a:t>(Rollback)</a:t>
            </a:r>
            <a:r>
              <a:rPr lang="zh-TW" altLang="en-US" dirty="0"/>
              <a:t>。</a:t>
            </a:r>
            <a:endParaRPr lang="zh-TW" altLang="en-US" dirty="0"/>
          </a:p>
        </p:txBody>
      </p:sp>
      <p:sp>
        <p:nvSpPr>
          <p:cNvPr id="4" name="投影片編號版面配置區 3"/>
          <p:cNvSpPr>
            <a:spLocks noGrp="1"/>
          </p:cNvSpPr>
          <p:nvPr>
            <p:ph type="sldNum" sz="quarter" idx="12"/>
          </p:nvPr>
        </p:nvSpPr>
        <p:spPr/>
        <p:txBody>
          <a:bodyPr/>
          <a:lstStyle/>
          <a:p>
            <a:fld id="{5F6CEA59-826A-4FB0-BF3A-D1F923F9F4E7}" type="slidenum">
              <a:rPr lang="zh-TW" altLang="en-US" smtClean="0"/>
              <a:t>21</a:t>
            </a:fld>
            <a:endParaRPr lang="zh-TW" altLang="en-US"/>
          </a:p>
        </p:txBody>
      </p:sp>
      <p:sp>
        <p:nvSpPr>
          <p:cNvPr id="3" name="標題 2"/>
          <p:cNvSpPr>
            <a:spLocks noGrp="1"/>
          </p:cNvSpPr>
          <p:nvPr>
            <p:ph type="title"/>
          </p:nvPr>
        </p:nvSpPr>
        <p:spPr/>
        <p:txBody>
          <a:bodyPr/>
          <a:lstStyle/>
          <a:p>
            <a:r>
              <a:rPr lang="zh-TW" altLang="en-US" dirty="0" smtClean="0"/>
              <a:t>交易控制</a:t>
            </a:r>
            <a:endParaRPr lang="zh-TW" altLang="en-US" dirty="0"/>
          </a:p>
        </p:txBody>
      </p:sp>
    </p:spTree>
    <p:extLst>
      <p:ext uri="{BB962C8B-B14F-4D97-AF65-F5344CB8AC3E}">
        <p14:creationId xmlns:p14="http://schemas.microsoft.com/office/powerpoint/2010/main" val="11108376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fontScale="92500" lnSpcReduction="20000"/>
          </a:bodyPr>
          <a:lstStyle/>
          <a:p>
            <a:r>
              <a:rPr lang="en-US" altLang="zh-TW" b="1" dirty="0" smtClean="0"/>
              <a:t>REQUIRES_NEW</a:t>
            </a:r>
          </a:p>
          <a:p>
            <a:pPr lvl="1"/>
            <a:r>
              <a:rPr lang="zh-TW" altLang="en-US" b="1" dirty="0"/>
              <a:t>這個行為比較強勢，它的規則是：「我不管現在有沒有交易，我就是要建立一個全新的、獨立的交易。如果當前有交易，就先把它掛起。」</a:t>
            </a:r>
          </a:p>
          <a:p>
            <a:pPr lvl="1"/>
            <a:endParaRPr lang="zh-TW" altLang="en-US" b="1" dirty="0"/>
          </a:p>
          <a:p>
            <a:pPr lvl="1"/>
            <a:r>
              <a:rPr lang="zh-TW" altLang="en-US" b="1" dirty="0"/>
              <a:t>場景：</a:t>
            </a:r>
            <a:r>
              <a:rPr lang="en-US" altLang="zh-TW" b="1" dirty="0"/>
              <a:t>Service A </a:t>
            </a:r>
            <a:r>
              <a:rPr lang="zh-TW" altLang="en-US" b="1" dirty="0"/>
              <a:t>的 </a:t>
            </a:r>
            <a:r>
              <a:rPr lang="en-US" altLang="zh-TW" b="1" dirty="0" err="1"/>
              <a:t>methodA</a:t>
            </a:r>
            <a:r>
              <a:rPr lang="en-US" altLang="zh-TW" b="1" dirty="0"/>
              <a:t>() </a:t>
            </a:r>
            <a:r>
              <a:rPr lang="zh-TW" altLang="en-US" b="1" dirty="0"/>
              <a:t>呼叫 </a:t>
            </a:r>
            <a:r>
              <a:rPr lang="en-US" altLang="zh-TW" b="1" dirty="0"/>
              <a:t>Service B </a:t>
            </a:r>
            <a:r>
              <a:rPr lang="zh-TW" altLang="en-US" b="1" dirty="0"/>
              <a:t>的 </a:t>
            </a:r>
            <a:r>
              <a:rPr lang="en-US" altLang="zh-TW" b="1" dirty="0" err="1"/>
              <a:t>methodB</a:t>
            </a:r>
            <a:r>
              <a:rPr lang="en-US" altLang="zh-TW" b="1" dirty="0"/>
              <a:t>()</a:t>
            </a:r>
            <a:r>
              <a:rPr lang="zh-TW" altLang="en-US" b="1" dirty="0"/>
              <a:t>，</a:t>
            </a:r>
            <a:r>
              <a:rPr lang="en-US" altLang="zh-TW" b="1" dirty="0" err="1"/>
              <a:t>methodB</a:t>
            </a:r>
            <a:r>
              <a:rPr lang="en-US" altLang="zh-TW" b="1" dirty="0"/>
              <a:t>() </a:t>
            </a:r>
            <a:r>
              <a:rPr lang="zh-TW" altLang="en-US" b="1" dirty="0"/>
              <a:t>設定了 </a:t>
            </a:r>
            <a:r>
              <a:rPr lang="en-US" altLang="zh-TW" b="1" dirty="0"/>
              <a:t>@Transactional(propagation = </a:t>
            </a:r>
            <a:r>
              <a:rPr lang="en-US" altLang="zh-TW" b="1" dirty="0" err="1"/>
              <a:t>Propagation.REQUIRES_NEW</a:t>
            </a:r>
            <a:r>
              <a:rPr lang="en-US" altLang="zh-TW" b="1" dirty="0"/>
              <a:t>)</a:t>
            </a:r>
            <a:r>
              <a:rPr lang="zh-TW" altLang="en-US" b="1" dirty="0" smtClean="0"/>
              <a:t>。</a:t>
            </a:r>
            <a:endParaRPr lang="en-US" altLang="zh-TW" b="1" dirty="0" smtClean="0"/>
          </a:p>
          <a:p>
            <a:pPr lvl="1"/>
            <a:endParaRPr lang="zh-TW" altLang="en-US" b="1" dirty="0"/>
          </a:p>
          <a:p>
            <a:pPr lvl="1"/>
            <a:r>
              <a:rPr lang="zh-TW" altLang="en-US" b="1" dirty="0"/>
              <a:t>結果：當執行到 </a:t>
            </a:r>
            <a:r>
              <a:rPr lang="en-US" altLang="zh-TW" b="1" dirty="0" err="1"/>
              <a:t>methodB</a:t>
            </a:r>
            <a:r>
              <a:rPr lang="en-US" altLang="zh-TW" b="1" dirty="0"/>
              <a:t>() </a:t>
            </a:r>
            <a:r>
              <a:rPr lang="zh-TW" altLang="en-US" b="1" dirty="0"/>
              <a:t>時，</a:t>
            </a:r>
            <a:r>
              <a:rPr lang="en-US" altLang="zh-TW" b="1" dirty="0" err="1"/>
              <a:t>methodA</a:t>
            </a:r>
            <a:r>
              <a:rPr lang="en-US" altLang="zh-TW" b="1" dirty="0"/>
              <a:t>() </a:t>
            </a:r>
            <a:r>
              <a:rPr lang="zh-TW" altLang="en-US" b="1" dirty="0"/>
              <a:t>的交易會被暫停。</a:t>
            </a:r>
            <a:r>
              <a:rPr lang="en-US" altLang="zh-TW" b="1" dirty="0"/>
              <a:t>Spring </a:t>
            </a:r>
            <a:r>
              <a:rPr lang="zh-TW" altLang="en-US" b="1" dirty="0"/>
              <a:t>會為 </a:t>
            </a:r>
            <a:r>
              <a:rPr lang="en-US" altLang="zh-TW" b="1" dirty="0" err="1"/>
              <a:t>methodB</a:t>
            </a:r>
            <a:r>
              <a:rPr lang="en-US" altLang="zh-TW" b="1" dirty="0"/>
              <a:t>() </a:t>
            </a:r>
            <a:r>
              <a:rPr lang="zh-TW" altLang="en-US" b="1" dirty="0"/>
              <a:t>開啟一個全新的交易</a:t>
            </a:r>
            <a:r>
              <a:rPr lang="zh-TW" altLang="en-US" b="1" dirty="0" smtClean="0"/>
              <a:t>。</a:t>
            </a:r>
            <a:endParaRPr lang="en-US" altLang="zh-TW" b="1" dirty="0" smtClean="0"/>
          </a:p>
          <a:p>
            <a:pPr lvl="1"/>
            <a:endParaRPr lang="zh-TW" altLang="en-US" b="1" dirty="0"/>
          </a:p>
          <a:p>
            <a:pPr lvl="1"/>
            <a:r>
              <a:rPr lang="zh-TW" altLang="en-US" b="1" dirty="0"/>
              <a:t>如果 </a:t>
            </a:r>
            <a:r>
              <a:rPr lang="en-US" altLang="zh-TW" b="1" dirty="0" err="1"/>
              <a:t>methodB</a:t>
            </a:r>
            <a:r>
              <a:rPr lang="en-US" altLang="zh-TW" b="1" dirty="0"/>
              <a:t>() </a:t>
            </a:r>
            <a:r>
              <a:rPr lang="zh-TW" altLang="en-US" b="1" dirty="0"/>
              <a:t>成功，它的交易會獨立提交</a:t>
            </a:r>
            <a:r>
              <a:rPr lang="zh-TW" altLang="en-US" b="1" dirty="0" smtClean="0"/>
              <a:t>。</a:t>
            </a:r>
            <a:endParaRPr lang="en-US" altLang="zh-TW" b="1" dirty="0" smtClean="0"/>
          </a:p>
          <a:p>
            <a:pPr lvl="1"/>
            <a:endParaRPr lang="zh-TW" altLang="en-US" b="1" dirty="0"/>
          </a:p>
          <a:p>
            <a:pPr lvl="1"/>
            <a:r>
              <a:rPr lang="zh-TW" altLang="en-US" b="1" dirty="0"/>
              <a:t>如果 </a:t>
            </a:r>
            <a:r>
              <a:rPr lang="en-US" altLang="zh-TW" b="1" dirty="0" err="1"/>
              <a:t>methodB</a:t>
            </a:r>
            <a:r>
              <a:rPr lang="en-US" altLang="zh-TW" b="1" dirty="0"/>
              <a:t>() </a:t>
            </a:r>
            <a:r>
              <a:rPr lang="zh-TW" altLang="en-US" b="1" dirty="0"/>
              <a:t>失敗，只有 </a:t>
            </a:r>
            <a:r>
              <a:rPr lang="en-US" altLang="zh-TW" b="1" dirty="0" err="1"/>
              <a:t>methodB</a:t>
            </a:r>
            <a:r>
              <a:rPr lang="en-US" altLang="zh-TW" b="1" dirty="0"/>
              <a:t>() </a:t>
            </a:r>
            <a:r>
              <a:rPr lang="zh-TW" altLang="en-US" b="1" dirty="0"/>
              <a:t>的交易會回滾 </a:t>
            </a:r>
            <a:r>
              <a:rPr lang="en-US" altLang="zh-TW" b="1" dirty="0"/>
              <a:t>(Rollback)</a:t>
            </a:r>
            <a:r>
              <a:rPr lang="zh-TW" altLang="en-US" b="1" dirty="0"/>
              <a:t>。</a:t>
            </a:r>
            <a:r>
              <a:rPr lang="en-US" altLang="zh-TW" b="1" dirty="0" err="1"/>
              <a:t>methodA</a:t>
            </a:r>
            <a:r>
              <a:rPr lang="en-US" altLang="zh-TW" b="1" dirty="0"/>
              <a:t>() </a:t>
            </a:r>
            <a:r>
              <a:rPr lang="zh-TW" altLang="en-US" b="1" dirty="0"/>
              <a:t>的交易不受影響（除非 </a:t>
            </a:r>
            <a:r>
              <a:rPr lang="en-US" altLang="zh-TW" b="1" dirty="0" err="1"/>
              <a:t>methodA</a:t>
            </a:r>
            <a:r>
              <a:rPr lang="en-US" altLang="zh-TW" b="1" dirty="0"/>
              <a:t>() </a:t>
            </a:r>
            <a:r>
              <a:rPr lang="zh-TW" altLang="en-US" b="1" dirty="0"/>
              <a:t>沒有處理 </a:t>
            </a:r>
            <a:r>
              <a:rPr lang="en-US" altLang="zh-TW" b="1" dirty="0" err="1"/>
              <a:t>methodB</a:t>
            </a:r>
            <a:r>
              <a:rPr lang="en-US" altLang="zh-TW" b="1" dirty="0"/>
              <a:t>() </a:t>
            </a:r>
            <a:r>
              <a:rPr lang="zh-TW" altLang="en-US" b="1" dirty="0"/>
              <a:t>拋出的例外，導致自己也失敗）</a:t>
            </a:r>
            <a:r>
              <a:rPr lang="zh-TW" altLang="en-US" b="1" dirty="0" smtClean="0"/>
              <a:t>。</a:t>
            </a:r>
            <a:endParaRPr lang="en-US" altLang="zh-TW" b="1" dirty="0" smtClean="0"/>
          </a:p>
          <a:p>
            <a:pPr lvl="1"/>
            <a:endParaRPr lang="zh-TW" altLang="en-US" b="1" dirty="0"/>
          </a:p>
          <a:p>
            <a:pPr lvl="1"/>
            <a:r>
              <a:rPr lang="en-US" altLang="zh-TW" b="1" dirty="0" err="1"/>
              <a:t>methodB</a:t>
            </a:r>
            <a:r>
              <a:rPr lang="en-US" altLang="zh-TW" b="1" dirty="0"/>
              <a:t>() </a:t>
            </a:r>
            <a:r>
              <a:rPr lang="zh-TW" altLang="en-US" b="1" dirty="0"/>
              <a:t>結束後，</a:t>
            </a:r>
            <a:r>
              <a:rPr lang="en-US" altLang="zh-TW" b="1" dirty="0" err="1"/>
              <a:t>methodA</a:t>
            </a:r>
            <a:r>
              <a:rPr lang="en-US" altLang="zh-TW" b="1" dirty="0"/>
              <a:t>() </a:t>
            </a:r>
            <a:r>
              <a:rPr lang="zh-TW" altLang="en-US" b="1" dirty="0"/>
              <a:t>被掛起的交易會恢復執行。</a:t>
            </a:r>
            <a:endParaRPr lang="en-US" altLang="zh-TW" b="1" dirty="0"/>
          </a:p>
        </p:txBody>
      </p:sp>
      <p:sp>
        <p:nvSpPr>
          <p:cNvPr id="4" name="投影片編號版面配置區 3"/>
          <p:cNvSpPr>
            <a:spLocks noGrp="1"/>
          </p:cNvSpPr>
          <p:nvPr>
            <p:ph type="sldNum" sz="quarter" idx="12"/>
          </p:nvPr>
        </p:nvSpPr>
        <p:spPr/>
        <p:txBody>
          <a:bodyPr/>
          <a:lstStyle/>
          <a:p>
            <a:fld id="{5F6CEA59-826A-4FB0-BF3A-D1F923F9F4E7}" type="slidenum">
              <a:rPr lang="zh-TW" altLang="en-US" smtClean="0"/>
              <a:t>22</a:t>
            </a:fld>
            <a:endParaRPr lang="zh-TW" altLang="en-US"/>
          </a:p>
        </p:txBody>
      </p:sp>
      <p:sp>
        <p:nvSpPr>
          <p:cNvPr id="3" name="標題 2"/>
          <p:cNvSpPr>
            <a:spLocks noGrp="1"/>
          </p:cNvSpPr>
          <p:nvPr>
            <p:ph type="title"/>
          </p:nvPr>
        </p:nvSpPr>
        <p:spPr/>
        <p:txBody>
          <a:bodyPr/>
          <a:lstStyle/>
          <a:p>
            <a:r>
              <a:rPr lang="zh-TW" altLang="en-US" dirty="0" smtClean="0"/>
              <a:t>交易控制</a:t>
            </a:r>
            <a:endParaRPr lang="zh-TW" altLang="en-US" dirty="0"/>
          </a:p>
        </p:txBody>
      </p:sp>
    </p:spTree>
    <p:extLst>
      <p:ext uri="{BB962C8B-B14F-4D97-AF65-F5344CB8AC3E}">
        <p14:creationId xmlns:p14="http://schemas.microsoft.com/office/powerpoint/2010/main" val="2161209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b="1" dirty="0"/>
              <a:t>選擇合適的位置</a:t>
            </a:r>
            <a:r>
              <a:rPr lang="zh-TW" altLang="en-US" dirty="0"/>
              <a:t>：</a:t>
            </a:r>
            <a:endParaRPr lang="en-US" altLang="zh-TW" dirty="0"/>
          </a:p>
          <a:p>
            <a:pPr lvl="1"/>
            <a:r>
              <a:rPr lang="zh-TW" altLang="en-US" dirty="0"/>
              <a:t>通常建議將 </a:t>
            </a:r>
            <a:r>
              <a:rPr lang="en-US" altLang="zh-TW" dirty="0"/>
              <a:t>@Transactional </a:t>
            </a:r>
            <a:r>
              <a:rPr lang="zh-TW" altLang="en-US" dirty="0"/>
              <a:t>放在 </a:t>
            </a:r>
            <a:r>
              <a:rPr lang="en-US" altLang="zh-TW" dirty="0"/>
              <a:t>Service </a:t>
            </a:r>
            <a:r>
              <a:rPr lang="zh-TW" altLang="en-US" dirty="0"/>
              <a:t>層，而不是 </a:t>
            </a:r>
            <a:r>
              <a:rPr lang="en-US" altLang="zh-TW" dirty="0"/>
              <a:t>DAO </a:t>
            </a:r>
            <a:r>
              <a:rPr lang="zh-TW" altLang="en-US" dirty="0"/>
              <a:t>層。這樣可以更好地控制交易的邊界。</a:t>
            </a:r>
            <a:endParaRPr lang="en-US" altLang="zh-TW" dirty="0"/>
          </a:p>
          <a:p>
            <a:pPr lvl="1"/>
            <a:endParaRPr lang="en-US" altLang="zh-TW" dirty="0"/>
          </a:p>
          <a:p>
            <a:r>
              <a:rPr lang="zh-TW" altLang="en-US" b="1" dirty="0"/>
              <a:t>保持交易簡短</a:t>
            </a:r>
            <a:r>
              <a:rPr lang="zh-TW" altLang="en-US" dirty="0"/>
              <a:t>：</a:t>
            </a:r>
            <a:endParaRPr lang="en-US" altLang="zh-TW" dirty="0"/>
          </a:p>
          <a:p>
            <a:pPr lvl="1"/>
            <a:r>
              <a:rPr lang="zh-TW" altLang="en-US" dirty="0"/>
              <a:t>盡量讓交易保持簡短，只包含必要的操作。這樣可以提高性能，減少資源佔用。</a:t>
            </a:r>
          </a:p>
          <a:p>
            <a:endParaRPr lang="zh-TW" altLang="en-US" dirty="0"/>
          </a:p>
        </p:txBody>
      </p:sp>
      <p:sp>
        <p:nvSpPr>
          <p:cNvPr id="3" name="標題 2"/>
          <p:cNvSpPr>
            <a:spLocks noGrp="1"/>
          </p:cNvSpPr>
          <p:nvPr>
            <p:ph type="title"/>
          </p:nvPr>
        </p:nvSpPr>
        <p:spPr/>
        <p:txBody>
          <a:bodyPr/>
          <a:lstStyle/>
          <a:p>
            <a:r>
              <a:rPr lang="zh-TW" altLang="en-US" dirty="0" smtClean="0"/>
              <a:t>交易控制</a:t>
            </a:r>
            <a:endParaRPr lang="zh-TW" altLang="en-US" dirty="0"/>
          </a:p>
        </p:txBody>
      </p:sp>
      <p:sp>
        <p:nvSpPr>
          <p:cNvPr id="4" name="投影片編號版面配置區 3"/>
          <p:cNvSpPr>
            <a:spLocks noGrp="1"/>
          </p:cNvSpPr>
          <p:nvPr>
            <p:ph type="sldNum" sz="quarter" idx="12"/>
          </p:nvPr>
        </p:nvSpPr>
        <p:spPr/>
        <p:txBody>
          <a:bodyPr/>
          <a:lstStyle/>
          <a:p>
            <a:fld id="{5F6CEA59-826A-4FB0-BF3A-D1F923F9F4E7}" type="slidenum">
              <a:rPr lang="zh-TW" altLang="en-US" smtClean="0"/>
              <a:t>23</a:t>
            </a:fld>
            <a:endParaRPr lang="zh-TW" altLang="en-US"/>
          </a:p>
        </p:txBody>
      </p:sp>
    </p:spTree>
    <p:extLst>
      <p:ext uri="{BB962C8B-B14F-4D97-AF65-F5344CB8AC3E}">
        <p14:creationId xmlns:p14="http://schemas.microsoft.com/office/powerpoint/2010/main" val="36146585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b="1" dirty="0"/>
              <a:t>隔離級別 </a:t>
            </a:r>
            <a:r>
              <a:rPr lang="en-US" altLang="zh-TW" b="1" dirty="0"/>
              <a:t>(Isolation)</a:t>
            </a:r>
          </a:p>
          <a:p>
            <a:pPr lvl="1"/>
            <a:r>
              <a:rPr lang="zh-TW" altLang="en-US" dirty="0"/>
              <a:t>在多使用者同時存取資料庫的環境下，為了避免資料錯亂，資料庫定義了不同的隔離級別來規範一個交易中的操作對其他並行交易的</a:t>
            </a:r>
            <a:r>
              <a:rPr lang="zh-TW" altLang="en-US" dirty="0" smtClean="0"/>
              <a:t>可見度</a:t>
            </a:r>
            <a:endParaRPr lang="en-US" altLang="zh-TW" dirty="0" smtClean="0"/>
          </a:p>
          <a:p>
            <a:pPr lvl="1"/>
            <a:endParaRPr lang="zh-TW" altLang="en-US" dirty="0"/>
          </a:p>
        </p:txBody>
      </p:sp>
      <p:sp>
        <p:nvSpPr>
          <p:cNvPr id="3" name="標題 2"/>
          <p:cNvSpPr>
            <a:spLocks noGrp="1"/>
          </p:cNvSpPr>
          <p:nvPr>
            <p:ph type="title"/>
          </p:nvPr>
        </p:nvSpPr>
        <p:spPr/>
        <p:txBody>
          <a:bodyPr/>
          <a:lstStyle/>
          <a:p>
            <a:r>
              <a:rPr lang="zh-TW" altLang="en-US" dirty="0" smtClean="0"/>
              <a:t>交易控制</a:t>
            </a:r>
            <a:endParaRPr lang="zh-TW" altLang="en-US" dirty="0"/>
          </a:p>
        </p:txBody>
      </p:sp>
      <p:sp>
        <p:nvSpPr>
          <p:cNvPr id="4" name="投影片編號版面配置區 3"/>
          <p:cNvSpPr>
            <a:spLocks noGrp="1"/>
          </p:cNvSpPr>
          <p:nvPr>
            <p:ph type="sldNum" sz="quarter" idx="12"/>
          </p:nvPr>
        </p:nvSpPr>
        <p:spPr/>
        <p:txBody>
          <a:bodyPr/>
          <a:lstStyle/>
          <a:p>
            <a:fld id="{5F6CEA59-826A-4FB0-BF3A-D1F923F9F4E7}" type="slidenum">
              <a:rPr lang="zh-TW" altLang="en-US" smtClean="0"/>
              <a:t>24</a:t>
            </a:fld>
            <a:endParaRPr lang="zh-TW" altLang="en-US"/>
          </a:p>
        </p:txBody>
      </p:sp>
      <p:pic>
        <p:nvPicPr>
          <p:cNvPr id="6" name="圖片 5"/>
          <p:cNvPicPr>
            <a:picLocks noChangeAspect="1"/>
          </p:cNvPicPr>
          <p:nvPr/>
        </p:nvPicPr>
        <p:blipFill>
          <a:blip r:embed="rId3"/>
          <a:stretch>
            <a:fillRect/>
          </a:stretch>
        </p:blipFill>
        <p:spPr>
          <a:xfrm>
            <a:off x="2647468" y="2720543"/>
            <a:ext cx="6897063" cy="3315163"/>
          </a:xfrm>
          <a:prstGeom prst="rect">
            <a:avLst/>
          </a:prstGeom>
        </p:spPr>
      </p:pic>
    </p:spTree>
    <p:extLst>
      <p:ext uri="{BB962C8B-B14F-4D97-AF65-F5344CB8AC3E}">
        <p14:creationId xmlns:p14="http://schemas.microsoft.com/office/powerpoint/2010/main" val="39600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en-US" altLang="zh-TW" dirty="0" smtClean="0"/>
              <a:t>Ref</a:t>
            </a:r>
            <a:r>
              <a:rPr lang="zh-TW" altLang="en-US" dirty="0" smtClean="0"/>
              <a:t>：</a:t>
            </a:r>
            <a:endParaRPr lang="en-US" altLang="zh-TW" dirty="0" smtClean="0"/>
          </a:p>
          <a:p>
            <a:pPr lvl="1"/>
            <a:r>
              <a:rPr lang="en-US" altLang="zh-TW" dirty="0">
                <a:hlinkClick r:id="rId3"/>
              </a:rPr>
              <a:t>https://</a:t>
            </a:r>
            <a:r>
              <a:rPr lang="en-US" altLang="zh-TW" dirty="0" smtClean="0">
                <a:hlinkClick r:id="rId3"/>
              </a:rPr>
              <a:t>ithelp.ithome.com.tw/articles/10378934</a:t>
            </a:r>
            <a:endParaRPr lang="en-US" altLang="zh-TW" dirty="0" smtClean="0"/>
          </a:p>
          <a:p>
            <a:pPr lvl="1"/>
            <a:r>
              <a:rPr lang="en-US" altLang="zh-TW" dirty="0">
                <a:hlinkClick r:id="rId4"/>
              </a:rPr>
              <a:t>https://</a:t>
            </a:r>
            <a:r>
              <a:rPr lang="en-US" altLang="zh-TW" dirty="0" smtClean="0">
                <a:hlinkClick r:id="rId4"/>
              </a:rPr>
              <a:t>blog.cashwu.com/blog/2024/spring-boot-transactional-usage-and-best-practices</a:t>
            </a:r>
            <a:endParaRPr lang="en-US" altLang="zh-TW" dirty="0" smtClean="0"/>
          </a:p>
          <a:p>
            <a:pPr lvl="1"/>
            <a:endParaRPr lang="en-US" altLang="zh-TW" dirty="0" smtClean="0"/>
          </a:p>
          <a:p>
            <a:pPr lvl="1"/>
            <a:endParaRPr lang="zh-TW" altLang="en-US" dirty="0"/>
          </a:p>
        </p:txBody>
      </p:sp>
      <p:sp>
        <p:nvSpPr>
          <p:cNvPr id="3" name="標題 2"/>
          <p:cNvSpPr>
            <a:spLocks noGrp="1"/>
          </p:cNvSpPr>
          <p:nvPr>
            <p:ph type="title"/>
          </p:nvPr>
        </p:nvSpPr>
        <p:spPr/>
        <p:txBody>
          <a:bodyPr/>
          <a:lstStyle/>
          <a:p>
            <a:r>
              <a:rPr lang="zh-TW" altLang="en-US" dirty="0" smtClean="0"/>
              <a:t>交易控制</a:t>
            </a:r>
            <a:endParaRPr lang="zh-TW" altLang="en-US" dirty="0"/>
          </a:p>
        </p:txBody>
      </p:sp>
      <p:sp>
        <p:nvSpPr>
          <p:cNvPr id="4" name="投影片編號版面配置區 3"/>
          <p:cNvSpPr>
            <a:spLocks noGrp="1"/>
          </p:cNvSpPr>
          <p:nvPr>
            <p:ph type="sldNum" sz="quarter" idx="12"/>
          </p:nvPr>
        </p:nvSpPr>
        <p:spPr/>
        <p:txBody>
          <a:bodyPr/>
          <a:lstStyle/>
          <a:p>
            <a:fld id="{5F6CEA59-826A-4FB0-BF3A-D1F923F9F4E7}" type="slidenum">
              <a:rPr lang="zh-TW" altLang="en-US" smtClean="0"/>
              <a:t>25</a:t>
            </a:fld>
            <a:endParaRPr lang="zh-TW" altLang="en-US"/>
          </a:p>
        </p:txBody>
      </p:sp>
    </p:spTree>
    <p:extLst>
      <p:ext uri="{BB962C8B-B14F-4D97-AF65-F5344CB8AC3E}">
        <p14:creationId xmlns:p14="http://schemas.microsoft.com/office/powerpoint/2010/main" val="2491642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4260</TotalTime>
  <Words>1582</Words>
  <Application>Microsoft Office PowerPoint</Application>
  <PresentationFormat>寬螢幕</PresentationFormat>
  <Paragraphs>221</Paragraphs>
  <Slides>26</Slides>
  <Notes>18</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26</vt:i4>
      </vt:variant>
    </vt:vector>
  </HeadingPairs>
  <TitlesOfParts>
    <vt:vector size="36" baseType="lpstr">
      <vt:lpstr>Lato</vt:lpstr>
      <vt:lpstr>sohne</vt:lpstr>
      <vt:lpstr>source-serif-pro</vt:lpstr>
      <vt:lpstr>微軟正黑體</vt:lpstr>
      <vt:lpstr>新細明體</vt:lpstr>
      <vt:lpstr>Arial</vt:lpstr>
      <vt:lpstr>Calibri</vt:lpstr>
      <vt:lpstr>Consolas</vt:lpstr>
      <vt:lpstr>Times New Roman</vt:lpstr>
      <vt:lpstr>Office 佈景主題</vt:lpstr>
      <vt:lpstr>除錯 &amp; 例外處理</vt:lpstr>
      <vt:lpstr>例外處理</vt:lpstr>
      <vt:lpstr>例外處理</vt:lpstr>
      <vt:lpstr>PowerPoint 簡報</vt:lpstr>
      <vt:lpstr>Exception 與 Error 的基本概念</vt:lpstr>
      <vt:lpstr>Exception 與 Error 的基本概念-續</vt:lpstr>
      <vt:lpstr>例外處理的原則</vt:lpstr>
      <vt:lpstr>例外處理的原則-續</vt:lpstr>
      <vt:lpstr>操作 Throwable 的方式與實踐</vt:lpstr>
      <vt:lpstr>自定義例外</vt:lpstr>
      <vt:lpstr>案例討論</vt:lpstr>
      <vt:lpstr>Q&amp;A</vt:lpstr>
      <vt:lpstr>除錯</vt:lpstr>
      <vt:lpstr>除錯處理</vt:lpstr>
      <vt:lpstr>交易控制</vt:lpstr>
      <vt:lpstr>交易控制</vt:lpstr>
      <vt:lpstr>程式化交易管理</vt:lpstr>
      <vt:lpstr>宣告式交易管理</vt:lpstr>
      <vt:lpstr>@Transactional 的注意事項</vt:lpstr>
      <vt:lpstr>交易控制</vt:lpstr>
      <vt:lpstr>交易控制</vt:lpstr>
      <vt:lpstr>交易控制</vt:lpstr>
      <vt:lpstr>交易控制</vt:lpstr>
      <vt:lpstr>交易控制</vt:lpstr>
      <vt:lpstr>交易控制</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MaggieLee(TP-李禎惠)#8816</dc:creator>
  <cp:lastModifiedBy>Wistronits</cp:lastModifiedBy>
  <cp:revision>97</cp:revision>
  <dcterms:created xsi:type="dcterms:W3CDTF">2022-07-27T08:25:46Z</dcterms:created>
  <dcterms:modified xsi:type="dcterms:W3CDTF">2026-06-08T16:29:28Z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FF07B8458B19DFD0277DCE62D738DF18</vt:lpwstr>
  </property>
  <property fmtid="{D5CDD505-2E9C-101B-9397-08002B2CF9AE}" pid="3" name="KSOProductBuildVer">
    <vt:lpwstr>2052-4.4.1.7360</vt:lpwstr>
  </property>
</Properties>
</file>