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71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98" r:id="rId12"/>
    <p:sldId id="289" r:id="rId13"/>
    <p:sldId id="299" r:id="rId14"/>
    <p:sldId id="300" r:id="rId15"/>
    <p:sldId id="301" r:id="rId16"/>
    <p:sldId id="302" r:id="rId17"/>
    <p:sldId id="303" r:id="rId18"/>
    <p:sldId id="309" r:id="rId19"/>
    <p:sldId id="304" r:id="rId20"/>
    <p:sldId id="305" r:id="rId21"/>
    <p:sldId id="306" r:id="rId22"/>
    <p:sldId id="307" r:id="rId23"/>
    <p:sldId id="308" r:id="rId24"/>
    <p:sldId id="27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31" r:id="rId42"/>
    <p:sldId id="326" r:id="rId43"/>
    <p:sldId id="327" r:id="rId44"/>
    <p:sldId id="328" r:id="rId45"/>
    <p:sldId id="329" r:id="rId46"/>
    <p:sldId id="332" r:id="rId47"/>
    <p:sldId id="333" r:id="rId48"/>
    <p:sldId id="334" r:id="rId49"/>
    <p:sldId id="330" r:id="rId50"/>
    <p:sldId id="336" r:id="rId51"/>
    <p:sldId id="337" r:id="rId52"/>
    <p:sldId id="338" r:id="rId53"/>
    <p:sldId id="339" r:id="rId54"/>
    <p:sldId id="340" r:id="rId55"/>
    <p:sldId id="341" r:id="rId56"/>
    <p:sldId id="273" r:id="rId5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F6C"/>
    <a:srgbClr val="024E6A"/>
    <a:srgbClr val="B0D261"/>
    <a:srgbClr val="024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0" autoAdjust="0"/>
    <p:restoredTop sz="84154" autoAdjust="0"/>
  </p:normalViewPr>
  <p:slideViewPr>
    <p:cSldViewPr snapToGrid="0">
      <p:cViewPr varScale="1">
        <p:scale>
          <a:sx n="96" d="100"/>
          <a:sy n="96" d="100"/>
        </p:scale>
        <p:origin x="113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B0715-2E07-4B30-82A4-29BE9219FCBD}" type="datetimeFigureOut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9BC23-93E8-4651-9E75-C60AC50B8C1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BC23-93E8-4651-9E75-C60AC50B8C1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805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9BC23-93E8-4651-9E75-C60AC50B8C12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52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82600" y="1223493"/>
            <a:ext cx="10871200" cy="4953470"/>
          </a:xfrm>
          <a:prstGeom prst="rect">
            <a:avLst/>
          </a:prstGeom>
        </p:spPr>
        <p:txBody>
          <a:bodyPr/>
          <a:lstStyle>
            <a:lvl1pPr>
              <a:defRPr sz="2800" b="0">
                <a:solidFill>
                  <a:srgbClr val="024F6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0C4C5BAE-20C2-4C6C-8BB7-EC9F33B0AF1D}" type="datetime1">
              <a:rPr lang="en-US" altLang="zh-TW" smtClean="0"/>
              <a:t>6/3/2026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164388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9" name="標題版面配置區 1"/>
          <p:cNvSpPr>
            <a:spLocks noGrp="1"/>
          </p:cNvSpPr>
          <p:nvPr>
            <p:ph type="title"/>
          </p:nvPr>
        </p:nvSpPr>
        <p:spPr>
          <a:xfrm>
            <a:off x="482600" y="301157"/>
            <a:ext cx="9612745" cy="6765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3200" b="1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/Users/judyxu/Downloads/0727.jpg0727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57467" y="-317"/>
            <a:ext cx="12308205" cy="6859270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ctrTitle"/>
          </p:nvPr>
        </p:nvSpPr>
        <p:spPr>
          <a:xfrm>
            <a:off x="939800" y="2842799"/>
            <a:ext cx="5436937" cy="64589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1" name="副標題 2"/>
          <p:cNvSpPr>
            <a:spLocks noGrp="1"/>
          </p:cNvSpPr>
          <p:nvPr>
            <p:ph type="subTitle" idx="1"/>
          </p:nvPr>
        </p:nvSpPr>
        <p:spPr>
          <a:xfrm>
            <a:off x="939800" y="3602038"/>
            <a:ext cx="5436937" cy="360428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1073344" y="839743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TW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客尊 ．誠信 ． 創新． 卓越</a:t>
            </a:r>
          </a:p>
        </p:txBody>
      </p:sp>
      <p:grpSp>
        <p:nvGrpSpPr>
          <p:cNvPr id="15" name="群組 14"/>
          <p:cNvGrpSpPr/>
          <p:nvPr userDrawn="1"/>
        </p:nvGrpSpPr>
        <p:grpSpPr>
          <a:xfrm>
            <a:off x="819343" y="3474634"/>
            <a:ext cx="3728342" cy="101601"/>
            <a:chOff x="822519" y="3469870"/>
            <a:chExt cx="3728342" cy="101601"/>
          </a:xfrm>
        </p:grpSpPr>
        <p:cxnSp>
          <p:nvCxnSpPr>
            <p:cNvPr id="16" name="直線接點 15"/>
            <p:cNvCxnSpPr/>
            <p:nvPr userDrawn="1"/>
          </p:nvCxnSpPr>
          <p:spPr>
            <a:xfrm>
              <a:off x="889991" y="3520670"/>
              <a:ext cx="3600000" cy="0"/>
            </a:xfrm>
            <a:prstGeom prst="line">
              <a:avLst/>
            </a:prstGeom>
            <a:ln>
              <a:solidFill>
                <a:srgbClr val="B0D2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橢圓 16"/>
            <p:cNvSpPr/>
            <p:nvPr userDrawn="1"/>
          </p:nvSpPr>
          <p:spPr>
            <a:xfrm>
              <a:off x="822519" y="3469870"/>
              <a:ext cx="101601" cy="101601"/>
            </a:xfrm>
            <a:prstGeom prst="ellipse">
              <a:avLst/>
            </a:prstGeom>
            <a:solidFill>
              <a:srgbClr val="0050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8" name="橢圓 17"/>
            <p:cNvSpPr/>
            <p:nvPr userDrawn="1"/>
          </p:nvSpPr>
          <p:spPr>
            <a:xfrm>
              <a:off x="4449260" y="3469870"/>
              <a:ext cx="101601" cy="101601"/>
            </a:xfrm>
            <a:prstGeom prst="ellipse">
              <a:avLst/>
            </a:prstGeom>
            <a:solidFill>
              <a:srgbClr val="0050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  <p:sp>
        <p:nvSpPr>
          <p:cNvPr id="22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073344" y="4863786"/>
            <a:ext cx="3145730" cy="3498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3" name="文字版面配置區 3"/>
          <p:cNvSpPr>
            <a:spLocks noGrp="1"/>
          </p:cNvSpPr>
          <p:nvPr>
            <p:ph type="body" sz="half" idx="10"/>
          </p:nvPr>
        </p:nvSpPr>
        <p:spPr>
          <a:xfrm>
            <a:off x="1073344" y="5235284"/>
            <a:ext cx="3145730" cy="3498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262130"/>
            <a:ext cx="5181600" cy="49148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262130"/>
            <a:ext cx="5181600" cy="49148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6B6C9C-812A-4C2F-BBAA-292E88821814}" type="datetime1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482600" y="301157"/>
            <a:ext cx="9612745" cy="676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91EA5-A7B5-4A3E-A49E-5A8210A61ECA}" type="datetime1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標題版面配置區 1"/>
          <p:cNvSpPr>
            <a:spLocks noGrp="1"/>
          </p:cNvSpPr>
          <p:nvPr>
            <p:ph type="title"/>
          </p:nvPr>
        </p:nvSpPr>
        <p:spPr>
          <a:xfrm>
            <a:off x="482600" y="301157"/>
            <a:ext cx="9612745" cy="676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761969-3F0E-4945-9991-D6250D7048A7}" type="datetime1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標題版面配置區 1"/>
          <p:cNvSpPr>
            <a:spLocks noGrp="1"/>
          </p:cNvSpPr>
          <p:nvPr>
            <p:ph type="title"/>
          </p:nvPr>
        </p:nvSpPr>
        <p:spPr>
          <a:xfrm>
            <a:off x="482600" y="301157"/>
            <a:ext cx="9612745" cy="676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AEEA88-AD01-49FD-B830-8831011DC877}" type="datetime1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/Users/judyxu/Downloads/07274.jpg0727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56515" y="318"/>
            <a:ext cx="12304395" cy="6857365"/>
          </a:xfrm>
          <a:prstGeom prst="rect">
            <a:avLst/>
          </a:prstGeom>
        </p:spPr>
      </p:pic>
      <p:cxnSp>
        <p:nvCxnSpPr>
          <p:cNvPr id="15" name="直線接點 14"/>
          <p:cNvCxnSpPr/>
          <p:nvPr userDrawn="1"/>
        </p:nvCxnSpPr>
        <p:spPr>
          <a:xfrm>
            <a:off x="1250327" y="2937312"/>
            <a:ext cx="0" cy="672384"/>
          </a:xfrm>
          <a:prstGeom prst="line">
            <a:avLst/>
          </a:prstGeom>
          <a:ln>
            <a:solidFill>
              <a:srgbClr val="B0D2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1403887" y="3602038"/>
            <a:ext cx="7392383" cy="3431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338" y="2991341"/>
            <a:ext cx="7397932" cy="51532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174770-FC09-4EA3-B56C-15A0D691CABC}" type="datetime1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04746-04D4-457F-ACCF-0A8A7BAEE87D}" type="datetime1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CC06D4-EECC-48A2-AF3F-9A59457EBDA4}" type="datetime1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84A9CC-476D-4542-A265-A60408C0B38B}" type="datetime1">
              <a:rPr lang="zh-TW" altLang="en-US" smtClean="0"/>
              <a:t>2026/6/3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ae4f69b4820e7f371fbb39c324bd11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9535" y="-41910"/>
            <a:ext cx="12327255" cy="6941820"/>
          </a:xfrm>
          <a:prstGeom prst="rect">
            <a:avLst/>
          </a:prstGeom>
        </p:spPr>
      </p:pic>
      <p:pic>
        <p:nvPicPr>
          <p:cNvPr id="3" name="图片 2" descr="/Users/judyxu/Downloads/公司简介/Desktop/未标题-3.png未标题-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67310" y="-37782"/>
            <a:ext cx="12325985" cy="69335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199126"/>
            <a:ext cx="11176000" cy="4947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zh-TW" altLang="en-US" dirty="0"/>
          </a:p>
        </p:txBody>
      </p:sp>
      <p:sp>
        <p:nvSpPr>
          <p:cNvPr id="8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zh-TW" altLang="en-US" sz="1200" kern="12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0DC30BCA-8991-4389-9DAD-37DCE683428C}" type="datetime1">
              <a:rPr lang="zh-TW" altLang="en-US" smtClean="0"/>
              <a:t>2026/6/3</a:t>
            </a:fld>
            <a:endParaRPr lang="en-US" dirty="0"/>
          </a:p>
        </p:txBody>
      </p:sp>
      <p:sp>
        <p:nvSpPr>
          <p:cNvPr id="9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TW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 dirty="0"/>
          </a:p>
        </p:txBody>
      </p:sp>
      <p:pic>
        <p:nvPicPr>
          <p:cNvPr id="11" name="圖片 10" descr="/Users/judyxu/Downloads/新版logo/新版logo-改（显示器版）.png新版logo-改（显示器版）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>
          <a:xfrm>
            <a:off x="9852660" y="-68580"/>
            <a:ext cx="2233295" cy="133477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9780222" y="6416120"/>
            <a:ext cx="16914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 Confidential</a:t>
            </a:r>
            <a:endParaRPr lang="zh-TW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384174" y="1012223"/>
            <a:ext cx="9770512" cy="101601"/>
            <a:chOff x="418040" y="3314082"/>
            <a:chExt cx="9770512" cy="101601"/>
          </a:xfrm>
        </p:grpSpPr>
        <p:cxnSp>
          <p:nvCxnSpPr>
            <p:cNvPr id="14" name="直線接點 13"/>
            <p:cNvCxnSpPr/>
            <p:nvPr userDrawn="1"/>
          </p:nvCxnSpPr>
          <p:spPr>
            <a:xfrm>
              <a:off x="485512" y="3364882"/>
              <a:ext cx="9633600" cy="0"/>
            </a:xfrm>
            <a:prstGeom prst="line">
              <a:avLst/>
            </a:prstGeom>
            <a:ln>
              <a:solidFill>
                <a:srgbClr val="B0D2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橢圓 14"/>
            <p:cNvSpPr/>
            <p:nvPr userDrawn="1"/>
          </p:nvSpPr>
          <p:spPr>
            <a:xfrm>
              <a:off x="418040" y="3314082"/>
              <a:ext cx="101601" cy="101601"/>
            </a:xfrm>
            <a:prstGeom prst="ellipse">
              <a:avLst/>
            </a:prstGeom>
            <a:solidFill>
              <a:srgbClr val="0050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 userDrawn="1"/>
          </p:nvSpPr>
          <p:spPr>
            <a:xfrm>
              <a:off x="10086951" y="3314082"/>
              <a:ext cx="101601" cy="101601"/>
            </a:xfrm>
            <a:prstGeom prst="ellipse">
              <a:avLst/>
            </a:prstGeom>
            <a:solidFill>
              <a:srgbClr val="0050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標題版面配置區 1"/>
          <p:cNvSpPr>
            <a:spLocks noGrp="1"/>
          </p:cNvSpPr>
          <p:nvPr>
            <p:ph type="title"/>
          </p:nvPr>
        </p:nvSpPr>
        <p:spPr>
          <a:xfrm>
            <a:off x="482600" y="301157"/>
            <a:ext cx="9612745" cy="6765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2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64388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F6CEA59-826A-4FB0-BF3A-D1F923F9F4E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24F6B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24E6A"/>
        </a:buClr>
        <a:buFont typeface="Arial" panose="020B0604020202020204" pitchFamily="34" charset="0"/>
        <a:buChar char="•"/>
        <a:defRPr sz="2800" b="0" kern="1200">
          <a:solidFill>
            <a:srgbClr val="024E6A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0D261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24E6A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0D26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24E6A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qq_57309855/article/details/139849470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375928804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MyBatis</a:t>
            </a:r>
            <a:r>
              <a:rPr lang="en-US" altLang="zh-TW" dirty="0"/>
              <a:t>-Plus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The Partner You Can Trust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TW" altLang="en-US" dirty="0"/>
              <a:t>吳信賢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en-US" altLang="zh-TW" dirty="0"/>
              <a:t>2026/06/04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MyBatis-Plus</a:t>
            </a:r>
            <a:r>
              <a:rPr lang="zh-TW" altLang="en-US" dirty="0" smtClean="0"/>
              <a:t>應用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002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是一個基於 </a:t>
            </a:r>
            <a:r>
              <a:rPr lang="en-US" altLang="zh-TW" dirty="0" err="1"/>
              <a:t>MyBatis</a:t>
            </a:r>
            <a:r>
              <a:rPr lang="en-US" altLang="zh-TW" dirty="0"/>
              <a:t> </a:t>
            </a:r>
            <a:r>
              <a:rPr lang="zh-TW" altLang="en-US" dirty="0"/>
              <a:t>的</a:t>
            </a:r>
            <a:r>
              <a:rPr lang="zh-TW" altLang="en-US" b="1" dirty="0"/>
              <a:t>增強工具</a:t>
            </a:r>
            <a:r>
              <a:rPr lang="zh-TW" altLang="en-US" dirty="0"/>
              <a:t>，秉持「只做增強不做改變」的理念。它在 </a:t>
            </a:r>
            <a:r>
              <a:rPr lang="en-US" altLang="zh-TW" dirty="0" err="1"/>
              <a:t>MyBatis</a:t>
            </a:r>
            <a:r>
              <a:rPr lang="en-US" altLang="zh-TW" dirty="0"/>
              <a:t> </a:t>
            </a:r>
            <a:r>
              <a:rPr lang="zh-TW" altLang="en-US" dirty="0"/>
              <a:t>基礎上封裝了常見的 </a:t>
            </a:r>
            <a:r>
              <a:rPr lang="en-US" altLang="zh-TW" dirty="0"/>
              <a:t>CRUD </a:t>
            </a:r>
            <a:r>
              <a:rPr lang="zh-TW" altLang="en-US" dirty="0"/>
              <a:t>操作，旨在</a:t>
            </a:r>
            <a:r>
              <a:rPr lang="zh-TW" altLang="en-US" b="1" dirty="0"/>
              <a:t>簡化開發流程、減少繁瑣的 </a:t>
            </a:r>
            <a:r>
              <a:rPr lang="en-US" altLang="zh-TW" b="1" dirty="0"/>
              <a:t>XML </a:t>
            </a:r>
            <a:r>
              <a:rPr lang="zh-TW" altLang="en-US" b="1" dirty="0"/>
              <a:t>撰寫，大幅提升開發效率</a:t>
            </a:r>
            <a:r>
              <a:rPr lang="zh-TW" altLang="en-US" dirty="0"/>
              <a:t>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047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b="1" dirty="0"/>
              <a:t>無侵入性</a:t>
            </a:r>
            <a:r>
              <a:rPr lang="zh-TW" altLang="en-US" dirty="0"/>
              <a:t>：只做擴展不改變原有 </a:t>
            </a:r>
            <a:r>
              <a:rPr lang="en-US" altLang="zh-TW" dirty="0" err="1"/>
              <a:t>MyBatis</a:t>
            </a:r>
            <a:r>
              <a:rPr lang="en-US" altLang="zh-TW" dirty="0"/>
              <a:t> </a:t>
            </a:r>
            <a:r>
              <a:rPr lang="zh-TW" altLang="en-US" dirty="0"/>
              <a:t>機制，開發者可無縫切換或同時使用兩者。</a:t>
            </a:r>
            <a:endParaRPr lang="en-US" altLang="zh-TW" dirty="0"/>
          </a:p>
          <a:p>
            <a:r>
              <a:rPr lang="zh-TW" altLang="en-US" b="1" dirty="0"/>
              <a:t>開箱即用</a:t>
            </a:r>
            <a:r>
              <a:rPr lang="zh-TW" altLang="en-US" dirty="0"/>
              <a:t>：內建強大的 </a:t>
            </a:r>
            <a:r>
              <a:rPr lang="en-US" altLang="zh-TW" dirty="0"/>
              <a:t>Mapper </a:t>
            </a:r>
            <a:r>
              <a:rPr lang="zh-TW" altLang="en-US" dirty="0"/>
              <a:t>和 </a:t>
            </a:r>
            <a:r>
              <a:rPr lang="en-US" altLang="zh-TW" dirty="0"/>
              <a:t>Service </a:t>
            </a:r>
            <a:r>
              <a:rPr lang="zh-TW" altLang="en-US" dirty="0"/>
              <a:t>介面，單純的單表查詢只需繼承指定類別，無需編寫任何 </a:t>
            </a:r>
            <a:r>
              <a:rPr lang="en-US" altLang="zh-TW" dirty="0"/>
              <a:t>XML </a:t>
            </a:r>
            <a:r>
              <a:rPr lang="zh-TW" altLang="en-US" dirty="0"/>
              <a:t>或 </a:t>
            </a:r>
            <a:r>
              <a:rPr lang="en-US" altLang="zh-TW" dirty="0"/>
              <a:t>SQL </a:t>
            </a:r>
            <a:r>
              <a:rPr lang="zh-TW" altLang="en-US" dirty="0"/>
              <a:t>語句即可直接執行 </a:t>
            </a:r>
            <a:r>
              <a:rPr lang="en-US" altLang="zh-TW" dirty="0"/>
              <a:t>CRUD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b="1" dirty="0"/>
              <a:t>強大條件構造器（</a:t>
            </a:r>
            <a:r>
              <a:rPr lang="en-US" altLang="zh-TW" b="1" dirty="0"/>
              <a:t>Wrapper</a:t>
            </a:r>
            <a:r>
              <a:rPr lang="zh-TW" altLang="en-US" b="1" dirty="0"/>
              <a:t>）</a:t>
            </a:r>
            <a:r>
              <a:rPr lang="zh-TW" altLang="en-US" dirty="0"/>
              <a:t>：支援以物件導向的形式組裝複雜的 </a:t>
            </a:r>
            <a:r>
              <a:rPr lang="en-US" altLang="zh-TW" dirty="0"/>
              <a:t>SQL </a:t>
            </a:r>
            <a:r>
              <a:rPr lang="zh-TW" altLang="en-US" dirty="0"/>
              <a:t>查詢條件，避免手動拼接字串產生的 </a:t>
            </a:r>
            <a:r>
              <a:rPr lang="en-US" altLang="zh-TW" dirty="0"/>
              <a:t>SQL </a:t>
            </a:r>
            <a:r>
              <a:rPr lang="zh-TW" altLang="en-US" dirty="0"/>
              <a:t>注入風險與失誤。</a:t>
            </a:r>
            <a:endParaRPr lang="en-US" altLang="zh-TW" dirty="0"/>
          </a:p>
          <a:p>
            <a:r>
              <a:rPr lang="zh-TW" altLang="en-US" b="1" dirty="0"/>
              <a:t>內建分頁外掛</a:t>
            </a:r>
            <a:r>
              <a:rPr lang="zh-TW" altLang="en-US" dirty="0"/>
              <a:t>：提供基於物理分頁的解決方案，解決了原生日誌或記憶體分頁在處理巨量資料時的效能與不便。</a:t>
            </a:r>
          </a:p>
          <a:p>
            <a:r>
              <a:rPr lang="zh-TW" altLang="en-US" b="1" dirty="0"/>
              <a:t>程式碼產生器</a:t>
            </a:r>
            <a:r>
              <a:rPr lang="zh-TW" altLang="en-US" dirty="0"/>
              <a:t>：可自動依據資料庫表結構，快速生成 </a:t>
            </a:r>
            <a:r>
              <a:rPr lang="en-US" altLang="zh-TW" dirty="0"/>
              <a:t>Entity</a:t>
            </a:r>
            <a:r>
              <a:rPr lang="zh-TW" altLang="en-US" dirty="0"/>
              <a:t>、</a:t>
            </a:r>
            <a:r>
              <a:rPr lang="en-US" altLang="zh-TW" dirty="0"/>
              <a:t>Mapper</a:t>
            </a:r>
            <a:r>
              <a:rPr lang="zh-TW" altLang="en-US" dirty="0"/>
              <a:t>、</a:t>
            </a:r>
            <a:r>
              <a:rPr lang="en-US" altLang="zh-TW" dirty="0"/>
              <a:t>Service </a:t>
            </a:r>
            <a:r>
              <a:rPr lang="zh-TW" altLang="en-US" dirty="0"/>
              <a:t>及 </a:t>
            </a:r>
            <a:r>
              <a:rPr lang="en-US" altLang="zh-TW" dirty="0"/>
              <a:t>Controller </a:t>
            </a:r>
            <a:r>
              <a:rPr lang="zh-TW" altLang="en-US" dirty="0"/>
              <a:t>層程式碼，省去大量模板代碼的撰寫。</a:t>
            </a:r>
            <a:endParaRPr lang="en-US" altLang="zh-TW" dirty="0"/>
          </a:p>
          <a:p>
            <a:r>
              <a:rPr lang="zh-TW" altLang="en-US" b="1" dirty="0"/>
              <a:t>分頁外掛程式支援多種資料庫</a:t>
            </a:r>
            <a:r>
              <a:rPr lang="zh-TW" altLang="en-US" dirty="0"/>
              <a:t>：</a:t>
            </a:r>
            <a:r>
              <a:rPr lang="en-US" altLang="zh-TW" dirty="0"/>
              <a:t>MySQL</a:t>
            </a:r>
            <a:r>
              <a:rPr lang="zh-TW" altLang="en-US" dirty="0"/>
              <a:t>、</a:t>
            </a:r>
            <a:r>
              <a:rPr lang="en-US" altLang="zh-TW" dirty="0" err="1"/>
              <a:t>MariaDB</a:t>
            </a:r>
            <a:r>
              <a:rPr lang="zh-TW" altLang="en-US" dirty="0"/>
              <a:t>、</a:t>
            </a:r>
            <a:r>
              <a:rPr lang="en-US" altLang="zh-TW" dirty="0"/>
              <a:t>Oracle</a:t>
            </a:r>
            <a:r>
              <a:rPr lang="zh-TW" altLang="en-US" dirty="0"/>
              <a:t>、</a:t>
            </a:r>
            <a:r>
              <a:rPr lang="en-US" altLang="zh-TW" dirty="0"/>
              <a:t>DB2</a:t>
            </a:r>
            <a:r>
              <a:rPr lang="zh-TW" altLang="en-US" dirty="0"/>
              <a:t>、</a:t>
            </a:r>
            <a:r>
              <a:rPr lang="en-US" altLang="zh-TW" dirty="0"/>
              <a:t>H2</a:t>
            </a:r>
            <a:r>
              <a:rPr lang="zh-TW" altLang="en-US" dirty="0"/>
              <a:t>、</a:t>
            </a:r>
            <a:r>
              <a:rPr lang="en-US" altLang="zh-TW" dirty="0"/>
              <a:t>HSQL</a:t>
            </a:r>
            <a:r>
              <a:rPr lang="zh-TW" altLang="en-US" dirty="0"/>
              <a:t>、</a:t>
            </a:r>
            <a:r>
              <a:rPr lang="en-US" altLang="zh-TW" dirty="0"/>
              <a:t>SQLite</a:t>
            </a:r>
            <a:r>
              <a:rPr lang="zh-TW" altLang="en-US" dirty="0"/>
              <a:t>、</a:t>
            </a:r>
            <a:r>
              <a:rPr lang="en-US" altLang="zh-TW" dirty="0" err="1"/>
              <a:t>Postgre</a:t>
            </a:r>
            <a:r>
              <a:rPr lang="zh-TW" altLang="en-US" dirty="0"/>
              <a:t>、</a:t>
            </a:r>
            <a:r>
              <a:rPr lang="en-US" altLang="zh-TW" dirty="0" err="1"/>
              <a:t>SQLServer</a:t>
            </a:r>
            <a:r>
              <a:rPr lang="en-US" altLang="zh-TW" dirty="0"/>
              <a:t> </a:t>
            </a:r>
            <a:r>
              <a:rPr lang="zh-TW" altLang="en-US" dirty="0"/>
              <a:t>等多種資料庫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核心特性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86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BaseMapper</a:t>
            </a:r>
            <a:r>
              <a:rPr lang="zh-TW" altLang="en-US" dirty="0"/>
              <a:t>：最基礎的 </a:t>
            </a:r>
            <a:r>
              <a:rPr lang="en-US" altLang="zh-TW" dirty="0"/>
              <a:t>Mapper </a:t>
            </a:r>
            <a:r>
              <a:rPr lang="zh-TW" altLang="en-US" dirty="0"/>
              <a:t>介面，內建了單表的 </a:t>
            </a:r>
            <a:r>
              <a:rPr lang="en-US" altLang="zh-TW" dirty="0"/>
              <a:t>17 </a:t>
            </a:r>
            <a:r>
              <a:rPr lang="zh-TW" altLang="en-US" dirty="0"/>
              <a:t>個 </a:t>
            </a:r>
            <a:r>
              <a:rPr lang="en-US" altLang="zh-TW" dirty="0"/>
              <a:t>CRUD </a:t>
            </a:r>
            <a:r>
              <a:rPr lang="zh-TW" altLang="en-US" dirty="0"/>
              <a:t>核心方法，如 </a:t>
            </a:r>
            <a:r>
              <a:rPr lang="en-US" altLang="zh-TW" dirty="0"/>
              <a:t>insert</a:t>
            </a:r>
            <a:r>
              <a:rPr lang="zh-TW" altLang="en-US" dirty="0"/>
              <a:t>、</a:t>
            </a:r>
            <a:r>
              <a:rPr lang="en-US" altLang="zh-TW" dirty="0" err="1"/>
              <a:t>deleteById</a:t>
            </a:r>
            <a:r>
              <a:rPr lang="zh-TW" altLang="en-US" dirty="0"/>
              <a:t>、</a:t>
            </a:r>
            <a:r>
              <a:rPr lang="en-US" altLang="zh-TW" dirty="0" err="1"/>
              <a:t>updateById</a:t>
            </a:r>
            <a:r>
              <a:rPr lang="zh-TW" altLang="en-US" dirty="0"/>
              <a:t>、</a:t>
            </a:r>
            <a:r>
              <a:rPr lang="en-US" altLang="zh-TW" dirty="0" err="1"/>
              <a:t>selectList</a:t>
            </a:r>
            <a:r>
              <a:rPr lang="en-US" altLang="zh-TW" dirty="0"/>
              <a:t> </a:t>
            </a:r>
            <a:r>
              <a:rPr lang="zh-TW" altLang="en-US" dirty="0"/>
              <a:t>等。</a:t>
            </a:r>
          </a:p>
          <a:p>
            <a:r>
              <a:rPr lang="en-US" altLang="zh-TW" dirty="0" err="1"/>
              <a:t>IService</a:t>
            </a:r>
            <a:r>
              <a:rPr lang="zh-TW" altLang="en-US" dirty="0"/>
              <a:t>：服務層的介面，提供更豐富的業務邏輯層封裝（例如批量插入、分頁查詢封装），通常搭配繼承自 </a:t>
            </a:r>
            <a:r>
              <a:rPr lang="en-US" altLang="zh-TW" dirty="0" err="1"/>
              <a:t>ServiceImpl</a:t>
            </a:r>
            <a:r>
              <a:rPr lang="en-US" altLang="zh-TW" dirty="0"/>
              <a:t>&lt;M, T&gt; </a:t>
            </a:r>
            <a:r>
              <a:rPr lang="zh-TW" altLang="en-US" dirty="0"/>
              <a:t>的實作類使用。</a:t>
            </a:r>
          </a:p>
          <a:p>
            <a:r>
              <a:rPr lang="en-US" altLang="zh-TW" dirty="0" err="1"/>
              <a:t>QueryWrapper</a:t>
            </a:r>
            <a:r>
              <a:rPr lang="en-US" altLang="zh-TW" dirty="0"/>
              <a:t> / </a:t>
            </a:r>
            <a:r>
              <a:rPr lang="en-US" altLang="zh-TW" dirty="0" err="1"/>
              <a:t>LambdaQueryWrapper</a:t>
            </a:r>
            <a:r>
              <a:rPr lang="zh-TW" altLang="en-US" dirty="0"/>
              <a:t>：條件建構器，可以讓開發者透過 </a:t>
            </a:r>
            <a:r>
              <a:rPr lang="en-US" altLang="zh-TW" dirty="0"/>
              <a:t>Java Lambda </a:t>
            </a:r>
            <a:r>
              <a:rPr lang="zh-TW" altLang="en-US" dirty="0"/>
              <a:t>表達式直接呼叫欄位名稱來建立查詢條件（如：</a:t>
            </a:r>
            <a:r>
              <a:rPr lang="en-US" altLang="zh-TW" dirty="0" err="1"/>
              <a:t>queryWrapper.eq</a:t>
            </a:r>
            <a:r>
              <a:rPr lang="en-US" altLang="zh-TW" dirty="0"/>
              <a:t>("name", "John")</a:t>
            </a:r>
            <a:r>
              <a:rPr lang="zh-TW" altLang="en-US" dirty="0"/>
              <a:t>），具備高度型別安全。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核心元件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884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pom.xml</a:t>
            </a:r>
            <a:r>
              <a:rPr lang="zh-TW" altLang="en-US" dirty="0"/>
              <a:t>中引入</a:t>
            </a:r>
            <a:r>
              <a:rPr lang="en-US" altLang="zh-TW" dirty="0"/>
              <a:t>Dependency</a:t>
            </a:r>
          </a:p>
          <a:p>
            <a:r>
              <a:rPr lang="en-US" altLang="zh-TW" dirty="0"/>
              <a:t>&lt;dependency&gt;</a:t>
            </a:r>
          </a:p>
          <a:p>
            <a:r>
              <a:rPr lang="en-US" altLang="zh-TW" dirty="0"/>
              <a:t>    &lt;</a:t>
            </a:r>
            <a:r>
              <a:rPr lang="en-US" altLang="zh-TW" dirty="0" err="1"/>
              <a:t>groupId</a:t>
            </a:r>
            <a:r>
              <a:rPr lang="en-US" altLang="zh-TW" dirty="0"/>
              <a:t>&gt;</a:t>
            </a:r>
            <a:r>
              <a:rPr lang="en-US" altLang="zh-TW" dirty="0" err="1"/>
              <a:t>com.baomidou</a:t>
            </a:r>
            <a:r>
              <a:rPr lang="en-US" altLang="zh-TW" dirty="0"/>
              <a:t>&lt;/</a:t>
            </a:r>
            <a:r>
              <a:rPr lang="en-US" altLang="zh-TW" dirty="0" err="1"/>
              <a:t>groupId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    &lt;</a:t>
            </a:r>
            <a:r>
              <a:rPr lang="en-US" altLang="zh-TW" dirty="0" err="1"/>
              <a:t>artifactId</a:t>
            </a:r>
            <a:r>
              <a:rPr lang="en-US" altLang="zh-TW" dirty="0"/>
              <a:t>&gt;mybatis-plus-spring-boot4-starter&lt;/</a:t>
            </a:r>
            <a:r>
              <a:rPr lang="en-US" altLang="zh-TW" dirty="0" err="1"/>
              <a:t>artifactId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    &lt;version&gt;3.5.15&lt;/version&gt;</a:t>
            </a:r>
          </a:p>
          <a:p>
            <a:r>
              <a:rPr lang="en-US" altLang="zh-TW" dirty="0"/>
              <a:t>&lt;/dependency&gt;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03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如何讓 </a:t>
            </a:r>
            <a:r>
              <a:rPr lang="en-US" altLang="zh-TW" dirty="0"/>
              <a:t>Spring </a:t>
            </a:r>
            <a:r>
              <a:rPr lang="zh-TW" altLang="en-US" dirty="0"/>
              <a:t>辨識 </a:t>
            </a:r>
            <a:r>
              <a:rPr lang="en-US" altLang="zh-TW" dirty="0"/>
              <a:t>Mapper </a:t>
            </a:r>
            <a:r>
              <a:rPr lang="zh-TW" altLang="en-US" dirty="0"/>
              <a:t>介面</a:t>
            </a:r>
            <a:endParaRPr lang="en-US" altLang="zh-TW" dirty="0"/>
          </a:p>
          <a:p>
            <a:pPr lvl="1"/>
            <a:r>
              <a:rPr lang="zh-TW" altLang="en-US" dirty="0"/>
              <a:t>在啟動程式加上</a:t>
            </a:r>
            <a:r>
              <a:rPr lang="en-US" altLang="zh-TW" dirty="0"/>
              <a:t>@</a:t>
            </a:r>
            <a:r>
              <a:rPr lang="en-US" altLang="zh-TW" dirty="0" err="1"/>
              <a:t>MapperScan</a:t>
            </a:r>
            <a:r>
              <a:rPr lang="en-US" altLang="zh-TW" dirty="0"/>
              <a:t> </a:t>
            </a:r>
          </a:p>
          <a:p>
            <a:pPr lvl="1"/>
            <a:r>
              <a:rPr lang="zh-TW" altLang="en-US" dirty="0"/>
              <a:t>在每個</a:t>
            </a:r>
            <a:r>
              <a:rPr lang="en-US" altLang="zh-TW" dirty="0"/>
              <a:t>Mapper</a:t>
            </a:r>
            <a:r>
              <a:rPr lang="zh-TW" altLang="en-US" dirty="0"/>
              <a:t>程式裡加上</a:t>
            </a:r>
            <a:r>
              <a:rPr lang="en-US" altLang="zh-TW" dirty="0"/>
              <a:t>@Mapper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配置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53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作法：在 </a:t>
            </a:r>
            <a:r>
              <a:rPr lang="en-US" altLang="zh-TW" dirty="0"/>
              <a:t>Spring Boot </a:t>
            </a:r>
            <a:r>
              <a:rPr lang="zh-TW" altLang="en-US" dirty="0"/>
              <a:t>啟動類加上此註解，指定 </a:t>
            </a:r>
            <a:r>
              <a:rPr lang="en-US" altLang="zh-TW" dirty="0"/>
              <a:t>Mapper </a:t>
            </a:r>
            <a:r>
              <a:rPr lang="zh-TW" altLang="en-US" dirty="0"/>
              <a:t>介面所在的 </a:t>
            </a:r>
            <a:r>
              <a:rPr lang="en-US" altLang="zh-TW" dirty="0"/>
              <a:t>package </a:t>
            </a:r>
            <a:r>
              <a:rPr lang="zh-TW" altLang="en-US" dirty="0"/>
              <a:t>路徑（例如：</a:t>
            </a:r>
            <a:r>
              <a:rPr lang="en-US" altLang="zh-TW" dirty="0"/>
              <a:t>@</a:t>
            </a:r>
            <a:r>
              <a:rPr lang="en-US" altLang="zh-TW" dirty="0" err="1"/>
              <a:t>MapperScan</a:t>
            </a:r>
            <a:r>
              <a:rPr lang="en-US" altLang="zh-TW" dirty="0"/>
              <a:t>("</a:t>
            </a:r>
            <a:r>
              <a:rPr lang="en-US" altLang="zh-TW" dirty="0" err="1"/>
              <a:t>com.example.mapper</a:t>
            </a:r>
            <a:r>
              <a:rPr lang="en-US" altLang="zh-TW" dirty="0"/>
              <a:t>")</a:t>
            </a:r>
            <a:r>
              <a:rPr lang="zh-TW" altLang="en-US" dirty="0"/>
              <a:t>）。</a:t>
            </a:r>
          </a:p>
          <a:p>
            <a:r>
              <a:rPr lang="zh-TW" altLang="en-US" dirty="0"/>
              <a:t>優點：只需設定一次，</a:t>
            </a:r>
            <a:r>
              <a:rPr lang="en-US" altLang="zh-TW" dirty="0"/>
              <a:t>Spring Boot </a:t>
            </a:r>
            <a:r>
              <a:rPr lang="zh-TW" altLang="en-US" dirty="0"/>
              <a:t>啟動時會自動掃描該目錄下的所有介面，不用在每個 </a:t>
            </a:r>
            <a:r>
              <a:rPr lang="en-US" altLang="zh-TW" dirty="0"/>
              <a:t>Mapper </a:t>
            </a:r>
            <a:r>
              <a:rPr lang="zh-TW" altLang="en-US" dirty="0"/>
              <a:t>類別上重複寫 </a:t>
            </a:r>
            <a:r>
              <a:rPr lang="en-US" altLang="zh-TW" dirty="0"/>
              <a:t>@Mapper</a:t>
            </a:r>
            <a:r>
              <a:rPr lang="zh-TW" altLang="en-US" dirty="0"/>
              <a:t>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配置</a:t>
            </a:r>
            <a:r>
              <a:rPr lang="en-US" altLang="zh-TW" dirty="0"/>
              <a:t>-</a:t>
            </a:r>
            <a:r>
              <a:rPr lang="zh-TW" altLang="en-US" dirty="0"/>
              <a:t>使用 </a:t>
            </a:r>
            <a:r>
              <a:rPr lang="en-US" altLang="zh-TW" dirty="0"/>
              <a:t>@</a:t>
            </a:r>
            <a:r>
              <a:rPr lang="en-US" altLang="zh-TW" dirty="0" err="1"/>
              <a:t>MapperScan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0" y="1975089"/>
            <a:ext cx="10383699" cy="364858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99595" y="3078866"/>
            <a:ext cx="2199190" cy="2199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99595" y="4551975"/>
            <a:ext cx="1099595" cy="2199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996404" y="3983622"/>
            <a:ext cx="3198472" cy="1948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24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作法：不使用 </a:t>
            </a:r>
            <a:r>
              <a:rPr lang="en-US" altLang="zh-TW" dirty="0"/>
              <a:t>@</a:t>
            </a:r>
            <a:r>
              <a:rPr lang="en-US" altLang="zh-TW" dirty="0" err="1"/>
              <a:t>MapperScan</a:t>
            </a:r>
            <a:r>
              <a:rPr lang="zh-TW" altLang="en-US" dirty="0"/>
              <a:t>，而是在每個 </a:t>
            </a:r>
            <a:r>
              <a:rPr lang="en-US" altLang="zh-TW" dirty="0"/>
              <a:t>Mapper </a:t>
            </a:r>
            <a:r>
              <a:rPr lang="zh-TW" altLang="en-US" dirty="0"/>
              <a:t>介面上標註 </a:t>
            </a:r>
            <a:r>
              <a:rPr lang="en-US" altLang="zh-TW" dirty="0"/>
              <a:t>@Mapper </a:t>
            </a:r>
            <a:r>
              <a:rPr lang="zh-TW" altLang="en-US" dirty="0"/>
              <a:t>註解。</a:t>
            </a:r>
          </a:p>
          <a:p>
            <a:r>
              <a:rPr lang="zh-TW" altLang="en-US" dirty="0"/>
              <a:t>缺點：如果 </a:t>
            </a:r>
            <a:r>
              <a:rPr lang="en-US" altLang="zh-TW" dirty="0"/>
              <a:t>Mapper </a:t>
            </a:r>
            <a:r>
              <a:rPr lang="zh-TW" altLang="en-US" dirty="0"/>
              <a:t>介面很多，每個檔案都要手動加上註解，且遺漏時會發生無法注入（</a:t>
            </a:r>
            <a:r>
              <a:rPr lang="en-US" altLang="zh-TW" dirty="0" err="1"/>
              <a:t>Autowired</a:t>
            </a:r>
            <a:r>
              <a:rPr lang="zh-TW" altLang="en-US" dirty="0"/>
              <a:t>）的錯誤。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配置</a:t>
            </a:r>
            <a:r>
              <a:rPr lang="en-US" altLang="zh-TW" dirty="0"/>
              <a:t>-</a:t>
            </a:r>
            <a:r>
              <a:rPr lang="zh-TW" altLang="en-US" dirty="0"/>
              <a:t>使用 </a:t>
            </a:r>
            <a:r>
              <a:rPr lang="en-US" altLang="zh-TW" dirty="0"/>
              <a:t>@Mapper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210" y="3294594"/>
            <a:ext cx="8243135" cy="215708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81155" y="3294594"/>
            <a:ext cx="1157468" cy="3745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58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  <a:buClr>
                <a:srgbClr val="024E6A"/>
              </a:buClr>
            </a:pPr>
            <a:r>
              <a:rPr lang="zh-TW" altLang="en-US" sz="2800" dirty="0">
                <a:solidFill>
                  <a:srgbClr val="024F6C"/>
                </a:solidFill>
              </a:rPr>
              <a:t>當使用 </a:t>
            </a:r>
            <a:r>
              <a:rPr lang="en-US" altLang="zh-TW" sz="2800" dirty="0">
                <a:solidFill>
                  <a:srgbClr val="024F6C"/>
                </a:solidFill>
              </a:rPr>
              <a:t>@</a:t>
            </a:r>
            <a:r>
              <a:rPr lang="en-US" altLang="zh-TW" sz="2800" dirty="0" err="1">
                <a:solidFill>
                  <a:srgbClr val="024F6C"/>
                </a:solidFill>
              </a:rPr>
              <a:t>MapperScan</a:t>
            </a:r>
            <a:r>
              <a:rPr lang="en-US" altLang="zh-TW" sz="2800" dirty="0">
                <a:solidFill>
                  <a:srgbClr val="024F6C"/>
                </a:solidFill>
              </a:rPr>
              <a:t> </a:t>
            </a:r>
            <a:r>
              <a:rPr lang="zh-TW" altLang="en-US" sz="2800" dirty="0">
                <a:solidFill>
                  <a:srgbClr val="024F6C"/>
                </a:solidFill>
              </a:rPr>
              <a:t>時，</a:t>
            </a:r>
            <a:r>
              <a:rPr lang="en-US" altLang="zh-TW" sz="2800" dirty="0" err="1">
                <a:solidFill>
                  <a:srgbClr val="024F6C"/>
                </a:solidFill>
              </a:rPr>
              <a:t>MyBatis</a:t>
            </a:r>
            <a:r>
              <a:rPr lang="en-US" altLang="zh-TW" sz="2800" dirty="0">
                <a:solidFill>
                  <a:srgbClr val="024F6C"/>
                </a:solidFill>
              </a:rPr>
              <a:t> </a:t>
            </a:r>
            <a:r>
              <a:rPr lang="zh-TW" altLang="en-US" sz="2800" dirty="0">
                <a:solidFill>
                  <a:srgbClr val="024F6C"/>
                </a:solidFill>
              </a:rPr>
              <a:t>會動態產生 </a:t>
            </a:r>
            <a:r>
              <a:rPr lang="en-US" altLang="zh-TW" sz="2800" dirty="0">
                <a:solidFill>
                  <a:srgbClr val="024F6C"/>
                </a:solidFill>
              </a:rPr>
              <a:t>Bean </a:t>
            </a:r>
            <a:r>
              <a:rPr lang="zh-TW" altLang="en-US" sz="2800" dirty="0">
                <a:solidFill>
                  <a:srgbClr val="024F6C"/>
                </a:solidFill>
              </a:rPr>
              <a:t>並交給 </a:t>
            </a:r>
            <a:r>
              <a:rPr lang="en-US" altLang="zh-TW" sz="2800" dirty="0">
                <a:solidFill>
                  <a:srgbClr val="024F6C"/>
                </a:solidFill>
              </a:rPr>
              <a:t>Spring </a:t>
            </a:r>
            <a:r>
              <a:rPr lang="zh-TW" altLang="en-US" sz="2800" dirty="0">
                <a:solidFill>
                  <a:srgbClr val="024F6C"/>
                </a:solidFill>
              </a:rPr>
              <a:t>管理，因此兩者只需擇一使用即可。</a:t>
            </a:r>
            <a:endParaRPr lang="en-US" altLang="zh-TW" dirty="0"/>
          </a:p>
          <a:p>
            <a:r>
              <a:rPr lang="zh-TW" altLang="en-US" dirty="0"/>
              <a:t>如果您目前專案的 </a:t>
            </a:r>
            <a:r>
              <a:rPr lang="en-US" altLang="zh-TW" dirty="0"/>
              <a:t>Mapper </a:t>
            </a:r>
            <a:r>
              <a:rPr lang="zh-TW" altLang="en-US" dirty="0"/>
              <a:t>數量較少，個別加上 </a:t>
            </a:r>
            <a:r>
              <a:rPr lang="en-US" altLang="zh-TW" dirty="0"/>
              <a:t>@Mapper </a:t>
            </a:r>
            <a:r>
              <a:rPr lang="zh-TW" altLang="en-US" dirty="0"/>
              <a:t>即可；如果專案規模較大，統一在啟動類別使用 </a:t>
            </a:r>
            <a:r>
              <a:rPr lang="en-US" altLang="zh-TW" dirty="0"/>
              <a:t>@</a:t>
            </a:r>
            <a:r>
              <a:rPr lang="en-US" altLang="zh-TW" dirty="0" err="1"/>
              <a:t>MapperScan</a:t>
            </a:r>
            <a:r>
              <a:rPr lang="en-US" altLang="zh-TW" dirty="0"/>
              <a:t> </a:t>
            </a:r>
            <a:r>
              <a:rPr lang="zh-TW" altLang="en-US" dirty="0"/>
              <a:t>會更有效率且好管理。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配置</a:t>
            </a:r>
            <a:r>
              <a:rPr lang="en-US" altLang="zh-TW" dirty="0"/>
              <a:t>-</a:t>
            </a:r>
            <a:r>
              <a:rPr lang="zh-TW" altLang="en-US" dirty="0"/>
              <a:t>補充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75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/>
              <a:t>BaseMapper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/>
              <a:t>核心元件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806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最基礎的 </a:t>
            </a:r>
            <a:r>
              <a:rPr lang="en-US" altLang="zh-TW" dirty="0"/>
              <a:t>Mapper </a:t>
            </a:r>
            <a:r>
              <a:rPr lang="zh-TW" altLang="en-US" dirty="0"/>
              <a:t>介面，內建了單表的 </a:t>
            </a:r>
            <a:r>
              <a:rPr lang="en-US" altLang="zh-TW" dirty="0"/>
              <a:t>17 </a:t>
            </a:r>
            <a:r>
              <a:rPr lang="zh-TW" altLang="en-US" dirty="0"/>
              <a:t>個 </a:t>
            </a:r>
            <a:r>
              <a:rPr lang="en-US" altLang="zh-TW" dirty="0"/>
              <a:t>CRUD </a:t>
            </a:r>
            <a:r>
              <a:rPr lang="zh-TW" altLang="en-US" dirty="0"/>
              <a:t>核心方法</a:t>
            </a:r>
            <a:endParaRPr lang="en-US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BaseMapper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890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int</a:t>
            </a:r>
            <a:r>
              <a:rPr lang="en-US" altLang="zh-TW" dirty="0"/>
              <a:t> insert(T entity)</a:t>
            </a:r>
            <a:r>
              <a:rPr lang="zh-TW" altLang="en-US" dirty="0"/>
              <a:t>：插入一筆資料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CRUD</a:t>
            </a:r>
            <a:r>
              <a:rPr lang="zh-TW" altLang="en-US" dirty="0"/>
              <a:t>核心方法</a:t>
            </a:r>
            <a:r>
              <a:rPr lang="en-US" altLang="zh-TW" dirty="0"/>
              <a:t>-</a:t>
            </a:r>
            <a:r>
              <a:rPr lang="zh-TW" altLang="en-US" dirty="0"/>
              <a:t>新增 </a:t>
            </a:r>
            <a:r>
              <a:rPr lang="en-US" altLang="zh-TW" dirty="0"/>
              <a:t>(Create)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998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int</a:t>
            </a:r>
            <a:r>
              <a:rPr lang="en-US" altLang="zh-TW" dirty="0"/>
              <a:t> </a:t>
            </a:r>
            <a:r>
              <a:rPr lang="en-US" altLang="zh-TW" dirty="0" err="1"/>
              <a:t>deleteById</a:t>
            </a:r>
            <a:r>
              <a:rPr lang="en-US" altLang="zh-TW" dirty="0"/>
              <a:t>(Serializable id)</a:t>
            </a:r>
            <a:r>
              <a:rPr lang="zh-TW" altLang="en-US" dirty="0"/>
              <a:t>：根據主鍵 </a:t>
            </a:r>
            <a:r>
              <a:rPr lang="en-US" altLang="zh-TW" dirty="0"/>
              <a:t>ID </a:t>
            </a:r>
            <a:r>
              <a:rPr lang="zh-TW" altLang="en-US" dirty="0"/>
              <a:t>刪除資料</a:t>
            </a:r>
            <a:endParaRPr lang="en-US" altLang="zh-TW" dirty="0"/>
          </a:p>
          <a:p>
            <a:r>
              <a:rPr lang="en-US" altLang="zh-TW" dirty="0" err="1"/>
              <a:t>int</a:t>
            </a:r>
            <a:r>
              <a:rPr lang="en-US" altLang="zh-TW" dirty="0"/>
              <a:t> </a:t>
            </a:r>
            <a:r>
              <a:rPr lang="en-US" altLang="zh-TW" dirty="0" err="1"/>
              <a:t>deleteByMap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Constants.COLUMN_MAP</a:t>
            </a:r>
            <a:r>
              <a:rPr lang="en-US" altLang="zh-TW" dirty="0"/>
              <a:t>) Map&lt;String, Object&gt; </a:t>
            </a:r>
            <a:r>
              <a:rPr lang="en-US" altLang="zh-TW" dirty="0" err="1"/>
              <a:t>columnMap</a:t>
            </a:r>
            <a:r>
              <a:rPr lang="en-US" altLang="zh-TW" dirty="0"/>
              <a:t>)</a:t>
            </a:r>
            <a:r>
              <a:rPr lang="zh-TW" altLang="en-US" dirty="0"/>
              <a:t>：根據 </a:t>
            </a:r>
            <a:r>
              <a:rPr lang="en-US" altLang="zh-TW" dirty="0"/>
              <a:t>Map </a:t>
            </a:r>
            <a:r>
              <a:rPr lang="zh-TW" altLang="en-US" dirty="0"/>
              <a:t>條件刪除資料</a:t>
            </a:r>
            <a:endParaRPr lang="en-US" altLang="zh-TW" dirty="0"/>
          </a:p>
          <a:p>
            <a:r>
              <a:rPr lang="en-US" altLang="zh-TW" dirty="0" err="1"/>
              <a:t>int</a:t>
            </a:r>
            <a:r>
              <a:rPr lang="en-US" altLang="zh-TW" dirty="0"/>
              <a:t> delete(@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wrapper)</a:t>
            </a:r>
            <a:r>
              <a:rPr lang="zh-TW" altLang="en-US" dirty="0"/>
              <a:t>：根據實體類條件構造器刪除資料</a:t>
            </a:r>
            <a:endParaRPr lang="en-US" altLang="zh-TW" dirty="0"/>
          </a:p>
          <a:p>
            <a:r>
              <a:rPr lang="en-US" altLang="zh-TW" dirty="0" err="1"/>
              <a:t>int</a:t>
            </a:r>
            <a:r>
              <a:rPr lang="en-US" altLang="zh-TW" dirty="0"/>
              <a:t> </a:t>
            </a:r>
            <a:r>
              <a:rPr lang="en-US" altLang="zh-TW" dirty="0" err="1"/>
              <a:t>deleteBatchIds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Constants.COLLECTION</a:t>
            </a:r>
            <a:r>
              <a:rPr lang="en-US" altLang="zh-TW" dirty="0"/>
              <a:t>) Collection&lt;? extends Serializable&gt; </a:t>
            </a:r>
            <a:r>
              <a:rPr lang="en-US" altLang="zh-TW" dirty="0" err="1"/>
              <a:t>idList</a:t>
            </a:r>
            <a:r>
              <a:rPr lang="en-US" altLang="zh-TW" dirty="0"/>
              <a:t>)</a:t>
            </a:r>
            <a:r>
              <a:rPr lang="zh-TW" altLang="en-US" dirty="0"/>
              <a:t>：根據多個 </a:t>
            </a:r>
            <a:r>
              <a:rPr lang="en-US" altLang="zh-TW" dirty="0"/>
              <a:t>ID </a:t>
            </a:r>
            <a:r>
              <a:rPr lang="zh-TW" altLang="en-US" dirty="0"/>
              <a:t>進行批量刪除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CRUD</a:t>
            </a:r>
            <a:r>
              <a:rPr lang="zh-TW" altLang="en-US" dirty="0"/>
              <a:t>核心方法</a:t>
            </a:r>
            <a:r>
              <a:rPr lang="en-US" altLang="zh-TW" dirty="0"/>
              <a:t>-</a:t>
            </a:r>
            <a:r>
              <a:rPr lang="zh-TW" altLang="en-US" dirty="0"/>
              <a:t>刪除 </a:t>
            </a:r>
            <a:r>
              <a:rPr lang="en-US" altLang="zh-TW" dirty="0"/>
              <a:t>(Delete)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64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int</a:t>
            </a:r>
            <a:r>
              <a:rPr lang="en-US" altLang="zh-TW" dirty="0"/>
              <a:t> </a:t>
            </a:r>
            <a:r>
              <a:rPr lang="en-US" altLang="zh-TW" dirty="0" err="1"/>
              <a:t>updateById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Constants.ENTITY</a:t>
            </a:r>
            <a:r>
              <a:rPr lang="en-US" altLang="zh-TW" dirty="0"/>
              <a:t>) T entity)</a:t>
            </a:r>
            <a:r>
              <a:rPr lang="zh-TW" altLang="en-US" dirty="0"/>
              <a:t>：根據主鍵 </a:t>
            </a:r>
            <a:r>
              <a:rPr lang="en-US" altLang="zh-TW" dirty="0"/>
              <a:t>ID </a:t>
            </a:r>
            <a:r>
              <a:rPr lang="zh-TW" altLang="en-US" dirty="0"/>
              <a:t>更新資料（自動忽略實體中的 </a:t>
            </a:r>
            <a:r>
              <a:rPr lang="en-US" altLang="zh-TW" dirty="0"/>
              <a:t>null </a:t>
            </a:r>
            <a:r>
              <a:rPr lang="zh-TW" altLang="en-US" dirty="0"/>
              <a:t>值欄位）</a:t>
            </a:r>
            <a:endParaRPr lang="en-US" altLang="zh-TW" dirty="0"/>
          </a:p>
          <a:p>
            <a:r>
              <a:rPr lang="en-US" altLang="zh-TW" dirty="0" err="1"/>
              <a:t>int</a:t>
            </a:r>
            <a:r>
              <a:rPr lang="en-US" altLang="zh-TW" dirty="0"/>
              <a:t> update(@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Constants.ENTITY</a:t>
            </a:r>
            <a:r>
              <a:rPr lang="en-US" altLang="zh-TW" dirty="0"/>
              <a:t>) T entity, 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</a:t>
            </a:r>
            <a:r>
              <a:rPr lang="en-US" altLang="zh-TW" dirty="0" err="1"/>
              <a:t>updateWrapper</a:t>
            </a:r>
            <a:r>
              <a:rPr lang="en-US" altLang="zh-TW" dirty="0"/>
              <a:t>)</a:t>
            </a:r>
            <a:r>
              <a:rPr lang="zh-TW" altLang="en-US" dirty="0"/>
              <a:t>：根據條件構造器更新資料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CRUD</a:t>
            </a:r>
            <a:r>
              <a:rPr lang="zh-TW" altLang="en-US" dirty="0"/>
              <a:t>核心方法</a:t>
            </a:r>
            <a:r>
              <a:rPr lang="en-US" altLang="zh-TW" dirty="0"/>
              <a:t>-</a:t>
            </a:r>
            <a:r>
              <a:rPr lang="zh-TW" altLang="en-US" dirty="0"/>
              <a:t>更新 </a:t>
            </a:r>
            <a:r>
              <a:rPr lang="en-US" altLang="zh-TW" dirty="0"/>
              <a:t>(Update)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21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 </a:t>
            </a:r>
            <a:r>
              <a:rPr lang="en-US" altLang="zh-TW" dirty="0" err="1"/>
              <a:t>selectById</a:t>
            </a:r>
            <a:r>
              <a:rPr lang="en-US" altLang="zh-TW" dirty="0"/>
              <a:t>(Serializable id)</a:t>
            </a:r>
            <a:r>
              <a:rPr lang="zh-TW" altLang="en-US" dirty="0"/>
              <a:t>：根據主鍵 </a:t>
            </a:r>
            <a:r>
              <a:rPr lang="en-US" altLang="zh-TW" dirty="0"/>
              <a:t>ID </a:t>
            </a:r>
            <a:r>
              <a:rPr lang="zh-TW" altLang="en-US" dirty="0"/>
              <a:t>查詢單筆資料</a:t>
            </a:r>
            <a:endParaRPr lang="en-US" altLang="zh-TW" dirty="0"/>
          </a:p>
          <a:p>
            <a:r>
              <a:rPr lang="en-US" altLang="zh-TW" dirty="0"/>
              <a:t>T </a:t>
            </a:r>
            <a:r>
              <a:rPr lang="en-US" altLang="zh-TW" dirty="0" err="1"/>
              <a:t>selectOne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</a:t>
            </a:r>
            <a:r>
              <a:rPr lang="en-US" altLang="zh-TW" dirty="0" err="1"/>
              <a:t>queryWrapper</a:t>
            </a:r>
            <a:r>
              <a:rPr lang="en-US" altLang="zh-TW" dirty="0"/>
              <a:t>)</a:t>
            </a:r>
            <a:r>
              <a:rPr lang="zh-TW" altLang="en-US" dirty="0"/>
              <a:t>：根據條件構造器查詢單筆資料（若結果超過一筆會報錯）</a:t>
            </a:r>
            <a:endParaRPr lang="en-US" altLang="zh-TW" dirty="0"/>
          </a:p>
          <a:p>
            <a:r>
              <a:rPr lang="en-US" altLang="zh-TW" dirty="0"/>
              <a:t>List&lt;T&gt; </a:t>
            </a:r>
            <a:r>
              <a:rPr lang="en-US" altLang="zh-TW" dirty="0" err="1"/>
              <a:t>selectBatchIds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Constants.COLLECTION</a:t>
            </a:r>
            <a:r>
              <a:rPr lang="en-US" altLang="zh-TW" dirty="0"/>
              <a:t>) Collection&lt;? extends Serializable&gt; </a:t>
            </a:r>
            <a:r>
              <a:rPr lang="en-US" altLang="zh-TW" dirty="0" err="1"/>
              <a:t>idList</a:t>
            </a:r>
            <a:r>
              <a:rPr lang="en-US" altLang="zh-TW" dirty="0"/>
              <a:t>)</a:t>
            </a:r>
            <a:r>
              <a:rPr lang="zh-TW" altLang="en-US" dirty="0"/>
              <a:t>：根據多個主鍵 </a:t>
            </a:r>
            <a:r>
              <a:rPr lang="en-US" altLang="zh-TW" dirty="0"/>
              <a:t>ID </a:t>
            </a:r>
            <a:r>
              <a:rPr lang="zh-TW" altLang="en-US" dirty="0"/>
              <a:t>批量查詢</a:t>
            </a:r>
            <a:endParaRPr lang="en-US" altLang="zh-TW" dirty="0"/>
          </a:p>
          <a:p>
            <a:r>
              <a:rPr lang="en-US" altLang="zh-TW" dirty="0"/>
              <a:t>List&lt;T&gt; </a:t>
            </a:r>
            <a:r>
              <a:rPr lang="en-US" altLang="zh-TW" dirty="0" err="1"/>
              <a:t>selectByMap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Constants.COLUMN_MAP</a:t>
            </a:r>
            <a:r>
              <a:rPr lang="en-US" altLang="zh-TW" dirty="0"/>
              <a:t>) Map&lt;String, Object&gt; </a:t>
            </a:r>
            <a:r>
              <a:rPr lang="en-US" altLang="zh-TW" dirty="0" err="1"/>
              <a:t>columnMap</a:t>
            </a:r>
            <a:r>
              <a:rPr lang="en-US" altLang="zh-TW" dirty="0"/>
              <a:t>)</a:t>
            </a:r>
            <a:r>
              <a:rPr lang="zh-TW" altLang="en-US" dirty="0"/>
              <a:t>：根據 </a:t>
            </a:r>
            <a:r>
              <a:rPr lang="en-US" altLang="zh-TW" dirty="0"/>
              <a:t>Map </a:t>
            </a:r>
            <a:r>
              <a:rPr lang="zh-TW" altLang="en-US" dirty="0"/>
              <a:t>條件查詢多筆資料</a:t>
            </a:r>
            <a:endParaRPr lang="en-US" altLang="zh-TW" dirty="0"/>
          </a:p>
          <a:p>
            <a:r>
              <a:rPr lang="en-US" altLang="zh-TW" dirty="0"/>
              <a:t>List&lt;T&gt; </a:t>
            </a:r>
            <a:r>
              <a:rPr lang="en-US" altLang="zh-TW" dirty="0" err="1"/>
              <a:t>selectList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</a:t>
            </a:r>
            <a:r>
              <a:rPr lang="en-US" altLang="zh-TW" dirty="0" err="1"/>
              <a:t>queryWrapper</a:t>
            </a:r>
            <a:r>
              <a:rPr lang="en-US" altLang="zh-TW" dirty="0"/>
              <a:t>)</a:t>
            </a:r>
            <a:r>
              <a:rPr lang="zh-TW" altLang="en-US" dirty="0"/>
              <a:t>：根據條件構造器查詢所有符合的資料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CRUD</a:t>
            </a:r>
            <a:r>
              <a:rPr lang="zh-TW" altLang="en-US" dirty="0"/>
              <a:t>核心方法</a:t>
            </a:r>
            <a:r>
              <a:rPr lang="en-US" altLang="zh-TW" dirty="0"/>
              <a:t>-</a:t>
            </a:r>
            <a:r>
              <a:rPr lang="zh-TW" altLang="en-US" dirty="0"/>
              <a:t>查詢 </a:t>
            </a:r>
            <a:r>
              <a:rPr lang="en-US" altLang="zh-TW" dirty="0"/>
              <a:t>(Read)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49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List&lt;Map&lt;String, Object&gt;&gt; </a:t>
            </a:r>
            <a:r>
              <a:rPr lang="en-US" altLang="zh-TW" dirty="0" err="1"/>
              <a:t>selectMaps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</a:t>
            </a:r>
            <a:r>
              <a:rPr lang="en-US" altLang="zh-TW" dirty="0" err="1"/>
              <a:t>queryWrapper</a:t>
            </a:r>
            <a:r>
              <a:rPr lang="en-US" altLang="zh-TW" dirty="0"/>
              <a:t>)</a:t>
            </a:r>
            <a:r>
              <a:rPr lang="zh-TW" altLang="en-US" dirty="0"/>
              <a:t>：根據條件查詢，並將結果封裝為 </a:t>
            </a:r>
            <a:r>
              <a:rPr lang="en-US" altLang="zh-TW" dirty="0"/>
              <a:t>Map </a:t>
            </a:r>
            <a:r>
              <a:rPr lang="zh-TW" altLang="en-US" dirty="0"/>
              <a:t>集合（適合查詢特定欄位）</a:t>
            </a:r>
          </a:p>
          <a:p>
            <a:r>
              <a:rPr lang="en-US" altLang="zh-TW" dirty="0"/>
              <a:t>Object </a:t>
            </a:r>
            <a:r>
              <a:rPr lang="en-US" altLang="zh-TW" dirty="0" err="1"/>
              <a:t>selectObjs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</a:t>
            </a:r>
            <a:r>
              <a:rPr lang="en-US" altLang="zh-TW" dirty="0" err="1"/>
              <a:t>queryWrapper</a:t>
            </a:r>
            <a:r>
              <a:rPr lang="en-US" altLang="zh-TW" dirty="0"/>
              <a:t>)</a:t>
            </a:r>
            <a:r>
              <a:rPr lang="zh-TW" altLang="en-US" dirty="0"/>
              <a:t>：根據條件查詢，只返回單一列的數據（通常取第一列）</a:t>
            </a:r>
          </a:p>
          <a:p>
            <a:r>
              <a:rPr lang="en-US" altLang="zh-TW" dirty="0" err="1"/>
              <a:t>IPage</a:t>
            </a:r>
            <a:r>
              <a:rPr lang="en-US" altLang="zh-TW" dirty="0"/>
              <a:t>&lt;T&gt; </a:t>
            </a:r>
            <a:r>
              <a:rPr lang="en-US" altLang="zh-TW" dirty="0" err="1"/>
              <a:t>selectPage</a:t>
            </a:r>
            <a:r>
              <a:rPr lang="en-US" altLang="zh-TW" dirty="0"/>
              <a:t>(</a:t>
            </a:r>
            <a:r>
              <a:rPr lang="en-US" altLang="zh-TW" dirty="0" err="1"/>
              <a:t>IPage</a:t>
            </a:r>
            <a:r>
              <a:rPr lang="en-US" altLang="zh-TW" dirty="0"/>
              <a:t>&lt;T&gt; page, 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</a:t>
            </a:r>
            <a:r>
              <a:rPr lang="en-US" altLang="zh-TW" dirty="0" err="1"/>
              <a:t>queryWrapper</a:t>
            </a:r>
            <a:r>
              <a:rPr lang="en-US" altLang="zh-TW" dirty="0"/>
              <a:t>)</a:t>
            </a:r>
            <a:r>
              <a:rPr lang="zh-TW" altLang="en-US" dirty="0"/>
              <a:t>：根據條件構造器進行分頁查詢</a:t>
            </a:r>
          </a:p>
          <a:p>
            <a:r>
              <a:rPr lang="en-US" altLang="zh-TW" dirty="0" err="1"/>
              <a:t>IPage</a:t>
            </a:r>
            <a:r>
              <a:rPr lang="en-US" altLang="zh-TW" dirty="0"/>
              <a:t>&lt;Map&lt;String, Object&gt;&gt; </a:t>
            </a:r>
            <a:r>
              <a:rPr lang="en-US" altLang="zh-TW" dirty="0" err="1"/>
              <a:t>selectMapsPage</a:t>
            </a:r>
            <a:r>
              <a:rPr lang="en-US" altLang="zh-TW" dirty="0"/>
              <a:t>(</a:t>
            </a:r>
            <a:r>
              <a:rPr lang="en-US" altLang="zh-TW" dirty="0" err="1"/>
              <a:t>IPage</a:t>
            </a:r>
            <a:r>
              <a:rPr lang="en-US" altLang="zh-TW" dirty="0"/>
              <a:t>&lt;T&gt; page, 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</a:t>
            </a:r>
            <a:r>
              <a:rPr lang="en-US" altLang="zh-TW" dirty="0" err="1"/>
              <a:t>queryWrapper</a:t>
            </a:r>
            <a:r>
              <a:rPr lang="en-US" altLang="zh-TW" dirty="0"/>
              <a:t>)</a:t>
            </a:r>
            <a:r>
              <a:rPr lang="zh-TW" altLang="en-US" dirty="0"/>
              <a:t>：根據條件分頁查詢，並將結果封裝為 </a:t>
            </a:r>
            <a:r>
              <a:rPr lang="en-US" altLang="zh-TW" dirty="0"/>
              <a:t>Map</a:t>
            </a:r>
          </a:p>
          <a:p>
            <a:r>
              <a:rPr lang="en-US" altLang="zh-TW" dirty="0"/>
              <a:t>Long </a:t>
            </a:r>
            <a:r>
              <a:rPr lang="en-US" altLang="zh-TW" dirty="0" err="1"/>
              <a:t>selectCount</a:t>
            </a:r>
            <a:r>
              <a:rPr lang="en-US" altLang="zh-TW" dirty="0"/>
              <a:t>(@</a:t>
            </a:r>
            <a:r>
              <a:rPr lang="en-US" altLang="zh-TW" dirty="0" err="1"/>
              <a:t>Param</a:t>
            </a:r>
            <a:r>
              <a:rPr lang="en-US" altLang="zh-TW" dirty="0"/>
              <a:t>(</a:t>
            </a:r>
            <a:r>
              <a:rPr lang="en-US" altLang="zh-TW" dirty="0" err="1"/>
              <a:t>Constants.WRAPPER</a:t>
            </a:r>
            <a:r>
              <a:rPr lang="en-US" altLang="zh-TW" dirty="0"/>
              <a:t>) Wrapper&lt;T&gt; </a:t>
            </a:r>
            <a:r>
              <a:rPr lang="en-US" altLang="zh-TW" dirty="0" err="1"/>
              <a:t>queryWrapper</a:t>
            </a:r>
            <a:r>
              <a:rPr lang="en-US" altLang="zh-TW" dirty="0"/>
              <a:t>)</a:t>
            </a:r>
            <a:r>
              <a:rPr lang="zh-TW" altLang="en-US" dirty="0"/>
              <a:t>：根據條件構造器查詢符合的總記錄數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CRUD</a:t>
            </a:r>
            <a:r>
              <a:rPr lang="zh-TW" altLang="en-US" dirty="0"/>
              <a:t>核心方法</a:t>
            </a:r>
            <a:r>
              <a:rPr lang="en-US" altLang="zh-TW" dirty="0"/>
              <a:t>-</a:t>
            </a:r>
            <a:r>
              <a:rPr lang="zh-TW" altLang="en-US" dirty="0"/>
              <a:t>查詢 </a:t>
            </a:r>
            <a:r>
              <a:rPr lang="en-US" altLang="zh-TW" dirty="0"/>
              <a:t>(Read)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87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/>
              <a:t>IService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/>
              <a:t>核心元件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148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IService</a:t>
            </a:r>
            <a:r>
              <a:rPr lang="en-US" altLang="zh-TW" dirty="0"/>
              <a:t> </a:t>
            </a:r>
            <a:r>
              <a:rPr lang="zh-TW" altLang="en-US" dirty="0"/>
              <a:t>是 </a:t>
            </a:r>
            <a:r>
              <a:rPr lang="en-US" altLang="zh-TW" dirty="0" err="1"/>
              <a:t>MyBatis</a:t>
            </a:r>
            <a:r>
              <a:rPr lang="en-US" altLang="zh-TW" dirty="0"/>
              <a:t>-Plus </a:t>
            </a:r>
            <a:r>
              <a:rPr lang="zh-TW" altLang="en-US" dirty="0"/>
              <a:t>提供的一個通用 </a:t>
            </a:r>
            <a:r>
              <a:rPr lang="en-US" altLang="zh-TW" dirty="0"/>
              <a:t>Service </a:t>
            </a:r>
            <a:r>
              <a:rPr lang="zh-TW" altLang="en-US" dirty="0"/>
              <a:t>層介面，旨在極大化簡化業務邏輯層（</a:t>
            </a:r>
            <a:r>
              <a:rPr lang="en-US" altLang="zh-TW" dirty="0"/>
              <a:t>Service </a:t>
            </a:r>
            <a:r>
              <a:rPr lang="zh-TW" altLang="en-US" dirty="0"/>
              <a:t>層）的開發。它預先封裝了常見的 </a:t>
            </a:r>
            <a:r>
              <a:rPr lang="en-US" altLang="zh-TW" dirty="0"/>
              <a:t>CRUD</a:t>
            </a:r>
            <a:r>
              <a:rPr lang="zh-TW" altLang="en-US" dirty="0"/>
              <a:t>（增、刪、改、查）、批量操作及分頁等標準資料庫訪問方法，讓開發者無需編寫冗長的重複代碼即可完成基礎操作。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Ref</a:t>
            </a:r>
            <a:r>
              <a:rPr lang="zh-TW" altLang="en-US" dirty="0"/>
              <a:t>：</a:t>
            </a:r>
            <a:r>
              <a:rPr lang="en-US" altLang="zh-TW" dirty="0">
                <a:hlinkClick r:id="rId2"/>
              </a:rPr>
              <a:t>https://blog.csdn.net/qq_57309855/article/details/139849470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IService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83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開箱即用：內建包含 </a:t>
            </a:r>
            <a:r>
              <a:rPr lang="en-US" altLang="zh-TW" dirty="0"/>
              <a:t>save</a:t>
            </a:r>
            <a:r>
              <a:rPr lang="zh-TW" altLang="en-US" dirty="0"/>
              <a:t>、</a:t>
            </a:r>
            <a:r>
              <a:rPr lang="en-US" altLang="zh-TW" dirty="0"/>
              <a:t>remove</a:t>
            </a:r>
            <a:r>
              <a:rPr lang="zh-TW" altLang="en-US" dirty="0"/>
              <a:t>、</a:t>
            </a:r>
            <a:r>
              <a:rPr lang="en-US" altLang="zh-TW" dirty="0"/>
              <a:t>update</a:t>
            </a:r>
            <a:r>
              <a:rPr lang="zh-TW" altLang="en-US" dirty="0"/>
              <a:t>、</a:t>
            </a:r>
            <a:r>
              <a:rPr lang="en-US" altLang="zh-TW" dirty="0"/>
              <a:t>get</a:t>
            </a:r>
            <a:r>
              <a:rPr lang="zh-TW" altLang="en-US" dirty="0"/>
              <a:t>、</a:t>
            </a:r>
            <a:r>
              <a:rPr lang="en-US" altLang="zh-TW" dirty="0"/>
              <a:t>list</a:t>
            </a:r>
            <a:r>
              <a:rPr lang="zh-TW" altLang="en-US" dirty="0"/>
              <a:t>、</a:t>
            </a:r>
            <a:r>
              <a:rPr lang="en-US" altLang="zh-TW" dirty="0"/>
              <a:t>page </a:t>
            </a:r>
            <a:r>
              <a:rPr lang="zh-TW" altLang="en-US" dirty="0"/>
              <a:t>等豐富的資料操作方法。</a:t>
            </a:r>
            <a:endParaRPr lang="en-US" altLang="zh-TW" dirty="0"/>
          </a:p>
          <a:p>
            <a:r>
              <a:rPr lang="zh-TW" altLang="en-US" dirty="0"/>
              <a:t>鏈式調用：支援 </a:t>
            </a:r>
            <a:r>
              <a:rPr lang="en-US" altLang="zh-TW" dirty="0" err="1"/>
              <a:t>QueryChainWrapper</a:t>
            </a:r>
            <a:r>
              <a:rPr lang="en-US" altLang="zh-TW" dirty="0"/>
              <a:t> </a:t>
            </a:r>
            <a:r>
              <a:rPr lang="zh-TW" altLang="en-US" dirty="0"/>
              <a:t>等鏈式寫法，讓查詢語句更易讀。</a:t>
            </a:r>
            <a:endParaRPr lang="en-US" altLang="zh-TW" dirty="0"/>
          </a:p>
          <a:p>
            <a:r>
              <a:rPr lang="zh-TW" altLang="en-US" dirty="0"/>
              <a:t>批量處理：提供強大的批量插入與更新方法（如 </a:t>
            </a:r>
            <a:r>
              <a:rPr lang="en-US" altLang="zh-TW" dirty="0" err="1"/>
              <a:t>saveBatch</a:t>
            </a:r>
            <a:r>
              <a:rPr lang="zh-TW" altLang="en-US" dirty="0"/>
              <a:t>），提升大量資料寫入效能。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Ref</a:t>
            </a:r>
            <a:r>
              <a:rPr lang="zh-TW" altLang="en-US" dirty="0"/>
              <a:t>：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https://zhuanlan.zhihu.com/p/375928804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核心功能特色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18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 </a:t>
            </a:r>
            <a:r>
              <a:rPr lang="en-US" altLang="zh-TW" dirty="0"/>
              <a:t>Service </a:t>
            </a:r>
            <a:r>
              <a:rPr lang="zh-TW" altLang="en-US" dirty="0"/>
              <a:t>介面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繼承 </a:t>
            </a:r>
            <a:r>
              <a:rPr lang="en-US" altLang="zh-TW" dirty="0" err="1"/>
              <a:t>IService</a:t>
            </a:r>
            <a:r>
              <a:rPr lang="en-US" altLang="zh-TW" dirty="0"/>
              <a:t>&lt;T&gt;</a:t>
            </a:r>
            <a:r>
              <a:rPr lang="zh-TW" altLang="en-US" dirty="0"/>
              <a:t>，其中 </a:t>
            </a:r>
            <a:r>
              <a:rPr lang="en-US" altLang="zh-TW" dirty="0"/>
              <a:t>&lt;T&gt; </a:t>
            </a:r>
            <a:r>
              <a:rPr lang="zh-TW" altLang="en-US" dirty="0"/>
              <a:t>為您的實體類。您可以在這裡宣告額外的自訂業務方法。</a:t>
            </a:r>
            <a:endParaRPr lang="en-US" altLang="zh-TW" dirty="0"/>
          </a:p>
          <a:p>
            <a:r>
              <a:rPr lang="en-US" altLang="zh-TW" b="0" i="0" dirty="0" err="1">
                <a:solidFill>
                  <a:srgbClr val="353841"/>
                </a:solidFill>
                <a:effectLst/>
                <a:latin typeface="ui-sans-serif"/>
              </a:rPr>
              <a:t>IService</a:t>
            </a:r>
            <a:r>
              <a:rPr lang="en-US" altLang="zh-TW" b="0" i="0" dirty="0">
                <a:solidFill>
                  <a:srgbClr val="353841"/>
                </a:solidFill>
                <a:effectLst/>
                <a:latin typeface="ui-sans-serif"/>
              </a:rPr>
              <a:t> </a:t>
            </a:r>
            <a:r>
              <a:rPr lang="zh-TW" altLang="en-US" b="0" i="0" dirty="0">
                <a:solidFill>
                  <a:srgbClr val="353841"/>
                </a:solidFill>
                <a:effectLst/>
                <a:latin typeface="ui-sans-serif"/>
              </a:rPr>
              <a:t>介面中的方法命名遵循了一定的規範，如 </a:t>
            </a:r>
            <a:r>
              <a:rPr lang="en-US" altLang="zh-TW" b="0" i="0" dirty="0">
                <a:solidFill>
                  <a:srgbClr val="353841"/>
                </a:solidFill>
                <a:effectLst/>
                <a:latin typeface="ui-sans-serif"/>
              </a:rPr>
              <a:t>get </a:t>
            </a:r>
            <a:r>
              <a:rPr lang="zh-TW" altLang="en-US" b="0" i="0" dirty="0">
                <a:solidFill>
                  <a:srgbClr val="353841"/>
                </a:solidFill>
                <a:effectLst/>
                <a:latin typeface="ui-sans-serif"/>
              </a:rPr>
              <a:t>用於查詢單行，</a:t>
            </a:r>
            <a:r>
              <a:rPr lang="en-US" altLang="zh-TW" b="0" i="0" dirty="0">
                <a:solidFill>
                  <a:srgbClr val="353841"/>
                </a:solidFill>
                <a:effectLst/>
                <a:latin typeface="ui-sans-serif"/>
              </a:rPr>
              <a:t>remove </a:t>
            </a:r>
            <a:r>
              <a:rPr lang="zh-TW" altLang="en-US" b="0" i="0" dirty="0">
                <a:solidFill>
                  <a:srgbClr val="353841"/>
                </a:solidFill>
                <a:effectLst/>
                <a:latin typeface="ui-sans-serif"/>
              </a:rPr>
              <a:t>用於刪除，</a:t>
            </a:r>
            <a:r>
              <a:rPr lang="en-US" altLang="zh-TW" b="0" i="0" dirty="0">
                <a:solidFill>
                  <a:srgbClr val="353841"/>
                </a:solidFill>
                <a:effectLst/>
                <a:latin typeface="ui-sans-serif"/>
              </a:rPr>
              <a:t>list </a:t>
            </a:r>
            <a:r>
              <a:rPr lang="zh-TW" altLang="en-US" b="0" i="0" dirty="0">
                <a:solidFill>
                  <a:srgbClr val="353841"/>
                </a:solidFill>
                <a:effectLst/>
                <a:latin typeface="ui-sans-serif"/>
              </a:rPr>
              <a:t>用於查詢集合，</a:t>
            </a:r>
            <a:r>
              <a:rPr lang="en-US" altLang="zh-TW" b="0" i="0" dirty="0">
                <a:solidFill>
                  <a:srgbClr val="353841"/>
                </a:solidFill>
                <a:effectLst/>
                <a:latin typeface="ui-sans-serif"/>
              </a:rPr>
              <a:t>page </a:t>
            </a:r>
            <a:r>
              <a:rPr lang="zh-TW" altLang="en-US" b="0" i="0" dirty="0">
                <a:solidFill>
                  <a:srgbClr val="353841"/>
                </a:solidFill>
                <a:effectLst/>
                <a:latin typeface="ui-sans-serif"/>
              </a:rPr>
              <a:t>用於分頁查詢，這樣可以避免與 </a:t>
            </a:r>
            <a:r>
              <a:rPr lang="en-US" altLang="zh-TW" b="0" i="0" dirty="0">
                <a:solidFill>
                  <a:srgbClr val="353841"/>
                </a:solidFill>
                <a:effectLst/>
                <a:latin typeface="ui-sans-serif"/>
              </a:rPr>
              <a:t>Mapper </a:t>
            </a:r>
            <a:r>
              <a:rPr lang="zh-TW" altLang="en-US" b="0" i="0" dirty="0">
                <a:solidFill>
                  <a:srgbClr val="353841"/>
                </a:solidFill>
                <a:effectLst/>
                <a:latin typeface="ui-sans-serif"/>
              </a:rPr>
              <a:t>層的方法混淆。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6555FA-2B46-4C1D-9933-35A76C1FC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364" y="3556208"/>
            <a:ext cx="5887272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7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繼承 </a:t>
            </a:r>
            <a:r>
              <a:rPr lang="en-US" altLang="zh-TW" dirty="0" err="1"/>
              <a:t>ServiceImpl</a:t>
            </a:r>
            <a:r>
              <a:rPr lang="en-US" altLang="zh-TW" dirty="0"/>
              <a:t>&lt;M, T&gt; </a:t>
            </a:r>
            <a:r>
              <a:rPr lang="zh-TW" altLang="en-US" dirty="0"/>
              <a:t>並實作您剛剛建立的 </a:t>
            </a:r>
            <a:r>
              <a:rPr lang="en-US" altLang="zh-TW" dirty="0" err="1"/>
              <a:t>CountryService</a:t>
            </a:r>
            <a:r>
              <a:rPr lang="en-US" altLang="zh-TW" dirty="0"/>
              <a:t> </a:t>
            </a:r>
            <a:r>
              <a:rPr lang="zh-TW" altLang="en-US" dirty="0"/>
              <a:t>介面。</a:t>
            </a:r>
            <a:endParaRPr lang="en-US" altLang="zh-TW" dirty="0"/>
          </a:p>
          <a:p>
            <a:pPr lvl="1"/>
            <a:r>
              <a:rPr lang="en-US" altLang="zh-TW" dirty="0"/>
              <a:t>M </a:t>
            </a:r>
            <a:r>
              <a:rPr lang="zh-TW" altLang="en-US" dirty="0"/>
              <a:t>代表您的 </a:t>
            </a:r>
            <a:r>
              <a:rPr lang="en-US" altLang="zh-TW" dirty="0"/>
              <a:t>Mapper </a:t>
            </a:r>
            <a:r>
              <a:rPr lang="zh-TW" altLang="en-US" dirty="0"/>
              <a:t>類別（例如 </a:t>
            </a:r>
            <a:r>
              <a:rPr lang="en-US" altLang="zh-TW" dirty="0" err="1"/>
              <a:t>CountryMapper</a:t>
            </a:r>
            <a:r>
              <a:rPr lang="zh-TW" altLang="en-US" dirty="0"/>
              <a:t>）。</a:t>
            </a:r>
            <a:endParaRPr lang="en-US" altLang="zh-TW" dirty="0"/>
          </a:p>
          <a:p>
            <a:pPr lvl="1"/>
            <a:r>
              <a:rPr lang="en-US" altLang="zh-TW" dirty="0"/>
              <a:t>T </a:t>
            </a:r>
            <a:r>
              <a:rPr lang="zh-TW" altLang="en-US" dirty="0"/>
              <a:t>代表實體類（例如 </a:t>
            </a:r>
            <a:r>
              <a:rPr lang="en-US" altLang="zh-TW" dirty="0"/>
              <a:t>Country</a:t>
            </a:r>
            <a:r>
              <a:rPr lang="zh-TW" altLang="en-US" dirty="0"/>
              <a:t>）。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Service</a:t>
            </a:r>
            <a:r>
              <a:rPr lang="zh-TW" altLang="en-US" dirty="0"/>
              <a:t>實作類別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93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繼承 </a:t>
            </a:r>
            <a:r>
              <a:rPr lang="en-US" altLang="zh-TW" dirty="0"/>
              <a:t>IService </a:t>
            </a:r>
            <a:r>
              <a:rPr lang="zh-TW" altLang="en-US" dirty="0"/>
              <a:t>後，您預設將直接獲得以下常用方法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zh-TW" altLang="en-US" dirty="0"/>
              <a:t>單筆查詢：</a:t>
            </a:r>
            <a:r>
              <a:rPr lang="en-US" altLang="zh-TW" dirty="0"/>
              <a:t>getById()</a:t>
            </a:r>
            <a:r>
              <a:rPr lang="zh-TW" altLang="en-US" dirty="0"/>
              <a:t>、</a:t>
            </a:r>
            <a:r>
              <a:rPr lang="en-US" altLang="zh-TW" dirty="0"/>
              <a:t>getOne()</a:t>
            </a:r>
          </a:p>
          <a:p>
            <a:pPr lvl="1"/>
            <a:r>
              <a:rPr lang="zh-TW" altLang="en-US" dirty="0"/>
              <a:t>列表查詢：</a:t>
            </a:r>
            <a:r>
              <a:rPr lang="en-US" altLang="zh-TW" dirty="0"/>
              <a:t>list()</a:t>
            </a:r>
            <a:r>
              <a:rPr lang="zh-TW" altLang="en-US" dirty="0"/>
              <a:t>、</a:t>
            </a:r>
            <a:r>
              <a:rPr lang="en-US" altLang="zh-TW" dirty="0"/>
              <a:t>listByIds</a:t>
            </a:r>
            <a:r>
              <a:rPr lang="en-US" altLang="zh-TW" dirty="0" smtClean="0"/>
              <a:t>()</a:t>
            </a:r>
            <a:r>
              <a:rPr lang="zh-TW" altLang="en-US" dirty="0" smtClean="0"/>
              <a:t>、</a:t>
            </a:r>
            <a:r>
              <a:rPr lang="en-US" altLang="zh-TW" dirty="0" smtClean="0"/>
              <a:t>listByMap()</a:t>
            </a:r>
            <a:endParaRPr lang="en-US" altLang="zh-TW" dirty="0"/>
          </a:p>
          <a:p>
            <a:pPr lvl="1"/>
            <a:r>
              <a:rPr lang="zh-TW" altLang="en-US" dirty="0"/>
              <a:t>分頁查詢：</a:t>
            </a:r>
            <a:r>
              <a:rPr lang="en-US" altLang="zh-TW" dirty="0"/>
              <a:t>page()</a:t>
            </a:r>
          </a:p>
          <a:p>
            <a:pPr lvl="1"/>
            <a:r>
              <a:rPr lang="zh-TW" altLang="en-US" dirty="0"/>
              <a:t>新增：</a:t>
            </a:r>
            <a:r>
              <a:rPr lang="en-US" altLang="zh-TW" dirty="0"/>
              <a:t>save()</a:t>
            </a:r>
            <a:r>
              <a:rPr lang="zh-TW" altLang="en-US" dirty="0"/>
              <a:t>、</a:t>
            </a:r>
            <a:r>
              <a:rPr lang="en-US" altLang="zh-TW" dirty="0"/>
              <a:t>saveBatch() (</a:t>
            </a:r>
            <a:r>
              <a:rPr lang="zh-TW" altLang="en-US" dirty="0"/>
              <a:t>批次新增</a:t>
            </a:r>
            <a:r>
              <a:rPr lang="en-US" altLang="zh-TW" dirty="0" smtClean="0"/>
              <a:t>)</a:t>
            </a:r>
            <a:r>
              <a:rPr lang="zh-TW" altLang="en-US" dirty="0" smtClean="0"/>
              <a:t>、</a:t>
            </a:r>
            <a:r>
              <a:rPr lang="en-US" altLang="zh-TW" dirty="0" smtClean="0"/>
              <a:t>saveOrUpdate()</a:t>
            </a:r>
            <a:r>
              <a:rPr lang="zh-TW" altLang="en-US" dirty="0" smtClean="0"/>
              <a:t>、</a:t>
            </a:r>
            <a:r>
              <a:rPr lang="en-US" altLang="zh-TW" dirty="0" smtClean="0"/>
              <a:t>saveOrUpdateBatch()</a:t>
            </a:r>
            <a:endParaRPr lang="en-US" altLang="zh-TW" dirty="0"/>
          </a:p>
          <a:p>
            <a:pPr lvl="1"/>
            <a:r>
              <a:rPr lang="zh-TW" altLang="en-US" dirty="0"/>
              <a:t>修改：</a:t>
            </a:r>
            <a:r>
              <a:rPr lang="en-US" altLang="zh-TW" dirty="0"/>
              <a:t>updateById()</a:t>
            </a:r>
            <a:r>
              <a:rPr lang="zh-TW" altLang="en-US" dirty="0"/>
              <a:t>、</a:t>
            </a:r>
            <a:r>
              <a:rPr lang="en-US" altLang="zh-TW" dirty="0"/>
              <a:t>update()</a:t>
            </a:r>
          </a:p>
          <a:p>
            <a:pPr lvl="1"/>
            <a:r>
              <a:rPr lang="zh-TW" altLang="en-US" dirty="0"/>
              <a:t>刪除：</a:t>
            </a:r>
            <a:r>
              <a:rPr lang="en-US" altLang="zh-TW" dirty="0"/>
              <a:t>removeById()</a:t>
            </a:r>
            <a:r>
              <a:rPr lang="zh-TW" altLang="en-US" dirty="0"/>
              <a:t>、</a:t>
            </a:r>
            <a:r>
              <a:rPr lang="en-US" altLang="zh-TW" dirty="0"/>
              <a:t>remove()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 </a:t>
            </a:r>
            <a:r>
              <a:rPr lang="en-US" altLang="zh-TW" dirty="0"/>
              <a:t>IService </a:t>
            </a:r>
            <a:r>
              <a:rPr lang="zh-TW" altLang="en-US" dirty="0"/>
              <a:t>內建方法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04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條件構造器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/>
              <a:t>核心元件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247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/>
              <a:t>在 </a:t>
            </a:r>
            <a:r>
              <a:rPr lang="en-US" altLang="zh-TW" dirty="0" err="1"/>
              <a:t>MyBatis</a:t>
            </a:r>
            <a:r>
              <a:rPr lang="en-US" altLang="zh-TW" dirty="0"/>
              <a:t>-Plus </a:t>
            </a:r>
            <a:r>
              <a:rPr lang="zh-TW" altLang="en-US" dirty="0"/>
              <a:t>中，</a:t>
            </a:r>
            <a:r>
              <a:rPr lang="en-US" altLang="zh-TW" dirty="0"/>
              <a:t>Wrapper </a:t>
            </a:r>
            <a:r>
              <a:rPr lang="zh-TW" altLang="en-US" dirty="0" smtClean="0"/>
              <a:t>類是構建查詢和更新條件的核心工具。以下是主要的 </a:t>
            </a:r>
            <a:r>
              <a:rPr lang="en-US" altLang="zh-TW" dirty="0" smtClean="0"/>
              <a:t>Wrapper </a:t>
            </a:r>
            <a:r>
              <a:rPr lang="zh-TW" altLang="en-US" dirty="0" smtClean="0"/>
              <a:t>類及其功能：</a:t>
            </a:r>
          </a:p>
          <a:p>
            <a:r>
              <a:rPr lang="en-US" altLang="zh-TW" dirty="0" err="1" smtClean="0"/>
              <a:t>AbstractWrapper</a:t>
            </a:r>
            <a:r>
              <a:rPr lang="zh-TW" altLang="en-US" dirty="0" smtClean="0"/>
              <a:t>：這是一個抽象基類，提供了所有 </a:t>
            </a:r>
            <a:r>
              <a:rPr lang="en-US" altLang="zh-TW" dirty="0" smtClean="0"/>
              <a:t>Wrapper </a:t>
            </a:r>
            <a:r>
              <a:rPr lang="zh-TW" altLang="en-US" dirty="0" smtClean="0"/>
              <a:t>類共有的方法和屬性。它定義了條件構造的基本邏輯，包括欄位（</a:t>
            </a:r>
            <a:r>
              <a:rPr lang="en-US" altLang="zh-TW" dirty="0" smtClean="0"/>
              <a:t>column</a:t>
            </a:r>
            <a:r>
              <a:rPr lang="zh-TW" altLang="en-US" dirty="0"/>
              <a:t>）、值（</a:t>
            </a:r>
            <a:r>
              <a:rPr lang="en-US" altLang="zh-TW" dirty="0"/>
              <a:t>value</a:t>
            </a:r>
            <a:r>
              <a:rPr lang="zh-TW" altLang="en-US" dirty="0"/>
              <a:t>）、操作符（</a:t>
            </a:r>
            <a:r>
              <a:rPr lang="en-US" altLang="zh-TW" dirty="0"/>
              <a:t>condition</a:t>
            </a:r>
            <a:r>
              <a:rPr lang="zh-TW" altLang="en-US" dirty="0"/>
              <a:t>）等。所有的 </a:t>
            </a:r>
            <a:r>
              <a:rPr lang="en-US" altLang="zh-TW" dirty="0" err="1"/>
              <a:t>QueryWrapper</a:t>
            </a:r>
            <a:r>
              <a:rPr lang="zh-TW" altLang="en-US" dirty="0"/>
              <a:t>、</a:t>
            </a:r>
            <a:r>
              <a:rPr lang="en-US" altLang="zh-TW" dirty="0" err="1"/>
              <a:t>UpdateWrapper</a:t>
            </a:r>
            <a:r>
              <a:rPr lang="zh-TW" altLang="en-US" dirty="0"/>
              <a:t>、</a:t>
            </a:r>
            <a:r>
              <a:rPr lang="en-US" altLang="zh-TW" dirty="0" err="1"/>
              <a:t>LambdaQueryWrapper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 err="1"/>
              <a:t>LambdaUpdateWrapper</a:t>
            </a:r>
            <a:r>
              <a:rPr lang="en-US" altLang="zh-TW" dirty="0"/>
              <a:t> </a:t>
            </a:r>
            <a:r>
              <a:rPr lang="zh-TW" altLang="en-US" dirty="0" smtClean="0"/>
              <a:t>都繼承自 </a:t>
            </a:r>
            <a:r>
              <a:rPr lang="en-US" altLang="zh-TW" dirty="0" err="1" smtClean="0"/>
              <a:t>AbstractWrapper</a:t>
            </a:r>
            <a:r>
              <a:rPr lang="zh-TW" altLang="en-US" dirty="0"/>
              <a:t>。</a:t>
            </a:r>
          </a:p>
          <a:p>
            <a:r>
              <a:rPr lang="en-US" altLang="zh-TW" dirty="0" err="1" smtClean="0"/>
              <a:t>QueryWrapper</a:t>
            </a:r>
            <a:r>
              <a:rPr lang="zh-TW" altLang="en-US" dirty="0" smtClean="0"/>
              <a:t>：專門用於構造查詢準則，支持基本的等於、不等於、大於、小於等各種常見操作。它允許你以鏈式調用的方式添加多個查詢準則，並且可以組合使用 </a:t>
            </a:r>
            <a:r>
              <a:rPr lang="en-US" altLang="zh-TW" dirty="0" smtClean="0"/>
              <a:t>and </a:t>
            </a:r>
            <a:r>
              <a:rPr lang="zh-TW" altLang="en-US" dirty="0"/>
              <a:t>和 </a:t>
            </a:r>
            <a:r>
              <a:rPr lang="en-US" altLang="zh-TW" dirty="0"/>
              <a:t>or </a:t>
            </a:r>
            <a:r>
              <a:rPr lang="zh-TW" altLang="en-US" dirty="0" smtClean="0"/>
              <a:t>邏輯。</a:t>
            </a:r>
          </a:p>
          <a:p>
            <a:r>
              <a:rPr lang="en-US" altLang="zh-TW" dirty="0" err="1" smtClean="0"/>
              <a:t>UpdateWrapper</a:t>
            </a:r>
            <a:r>
              <a:rPr lang="zh-TW" altLang="en-US" dirty="0" smtClean="0"/>
              <a:t>：用於構造更新條件，可以在更新資料時指定條件。與 </a:t>
            </a:r>
            <a:r>
              <a:rPr lang="en-US" altLang="zh-TW" dirty="0" err="1" smtClean="0"/>
              <a:t>QueryWrapper</a:t>
            </a:r>
            <a:r>
              <a:rPr lang="en-US" altLang="zh-TW" dirty="0" smtClean="0"/>
              <a:t> </a:t>
            </a:r>
            <a:r>
              <a:rPr lang="zh-TW" altLang="en-US" dirty="0" smtClean="0"/>
              <a:t>類似，它也支援鏈式調用和邏輯組合。使用 </a:t>
            </a:r>
            <a:r>
              <a:rPr lang="en-US" altLang="zh-TW" dirty="0" err="1" smtClean="0"/>
              <a:t>UpdateWrapper</a:t>
            </a:r>
            <a:r>
              <a:rPr lang="en-US" altLang="zh-TW" dirty="0" smtClean="0"/>
              <a:t> </a:t>
            </a:r>
            <a:r>
              <a:rPr lang="zh-TW" altLang="en-US" dirty="0" smtClean="0"/>
              <a:t>可以在不創建實體物件的情況下，直接設置更新欄位和條件。</a:t>
            </a:r>
          </a:p>
          <a:p>
            <a:r>
              <a:rPr lang="en-US" altLang="zh-TW" dirty="0" err="1" smtClean="0"/>
              <a:t>LambdaQueryWrapper</a:t>
            </a:r>
            <a:r>
              <a:rPr lang="zh-TW" altLang="en-US" dirty="0" smtClean="0"/>
              <a:t>：這是一個基於 </a:t>
            </a:r>
            <a:r>
              <a:rPr lang="en-US" altLang="zh-TW" dirty="0" smtClean="0"/>
              <a:t>Lambda </a:t>
            </a:r>
            <a:r>
              <a:rPr lang="zh-TW" altLang="en-US" dirty="0" smtClean="0"/>
              <a:t>運算式的查詢準則構造器，它通過 </a:t>
            </a:r>
            <a:r>
              <a:rPr lang="en-US" altLang="zh-TW" dirty="0" smtClean="0"/>
              <a:t>Lambda </a:t>
            </a:r>
            <a:r>
              <a:rPr lang="zh-TW" altLang="en-US" dirty="0" smtClean="0"/>
              <a:t>運算式來引用實體類的屬性，從而避免了硬編碼欄位名。這種方式提高了代碼的可讀性和可維護性，尤其是在欄位名可能發生變化的情況下。</a:t>
            </a:r>
          </a:p>
          <a:p>
            <a:r>
              <a:rPr lang="en-US" altLang="zh-TW" dirty="0" err="1" smtClean="0"/>
              <a:t>LambdaUpdateWrapper</a:t>
            </a:r>
            <a:r>
              <a:rPr lang="zh-TW" altLang="en-US" dirty="0" smtClean="0"/>
              <a:t>：類似於 </a:t>
            </a:r>
            <a:r>
              <a:rPr lang="en-US" altLang="zh-TW" dirty="0" err="1" smtClean="0"/>
              <a:t>LambdaQueryWrapper</a:t>
            </a:r>
            <a:r>
              <a:rPr lang="zh-TW" altLang="en-US" dirty="0"/>
              <a:t>，</a:t>
            </a:r>
            <a:r>
              <a:rPr lang="en-US" altLang="zh-TW" dirty="0" err="1"/>
              <a:t>LambdaUpdateWrapper</a:t>
            </a:r>
            <a:r>
              <a:rPr lang="en-US" altLang="zh-TW" dirty="0"/>
              <a:t> </a:t>
            </a:r>
            <a:r>
              <a:rPr lang="zh-TW" altLang="en-US" dirty="0" smtClean="0"/>
              <a:t>是基於 </a:t>
            </a:r>
            <a:r>
              <a:rPr lang="en-US" altLang="zh-TW" dirty="0" smtClean="0"/>
              <a:t>Lambda </a:t>
            </a:r>
            <a:r>
              <a:rPr lang="zh-TW" altLang="en-US" dirty="0" smtClean="0"/>
              <a:t>運算式的更新條件構造器。它允許你使用 </a:t>
            </a:r>
            <a:r>
              <a:rPr lang="en-US" altLang="zh-TW" dirty="0" smtClean="0"/>
              <a:t>Lambda </a:t>
            </a:r>
            <a:r>
              <a:rPr lang="zh-TW" altLang="en-US" dirty="0" smtClean="0"/>
              <a:t>運算式來指定更新欄位和條件，同樣避免了硬編碼欄位名的問題。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325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我們在現代開發中，為了避免欄位名稱寫錯（</a:t>
            </a:r>
            <a:r>
              <a:rPr lang="en-US" altLang="zh-TW" dirty="0"/>
              <a:t>Hardcoded String</a:t>
            </a:r>
            <a:r>
              <a:rPr lang="zh-TW" altLang="en-US" dirty="0"/>
              <a:t>），一律推薦使用型態安全（</a:t>
            </a:r>
            <a:r>
              <a:rPr lang="en-US" altLang="zh-TW" dirty="0"/>
              <a:t>Type-safe</a:t>
            </a:r>
            <a:r>
              <a:rPr lang="zh-TW" altLang="en-US" dirty="0"/>
              <a:t>）的 </a:t>
            </a:r>
            <a:r>
              <a:rPr lang="en-US" altLang="zh-TW" dirty="0" err="1"/>
              <a:t>LambdaQueryWrapper</a:t>
            </a:r>
            <a:r>
              <a:rPr lang="zh-TW" altLang="en-US" dirty="0"/>
              <a:t>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75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e</a:t>
            </a:r>
            <a:r>
              <a:rPr lang="en-US" altLang="zh-TW" dirty="0" err="1" smtClean="0"/>
              <a:t>q</a:t>
            </a:r>
            <a:r>
              <a:rPr lang="en-US" altLang="zh-TW" dirty="0" smtClean="0"/>
              <a:t>(</a:t>
            </a:r>
            <a:r>
              <a:rPr lang="zh-TW" altLang="en-US" dirty="0" smtClean="0"/>
              <a:t>等於</a:t>
            </a:r>
            <a:r>
              <a:rPr lang="en-US" altLang="zh-TW" dirty="0" smtClean="0"/>
              <a:t>=)</a:t>
            </a:r>
          </a:p>
          <a:p>
            <a:pPr lvl="1"/>
            <a:r>
              <a:rPr lang="zh-TW" altLang="en-US" b="1" dirty="0"/>
              <a:t>說明</a:t>
            </a:r>
            <a:r>
              <a:rPr lang="zh-TW" altLang="en-US" dirty="0"/>
              <a:t>：最常用的等值查詢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：查詢城市名稱為 </a:t>
            </a:r>
            <a:r>
              <a:rPr lang="en-US" altLang="zh-TW" dirty="0"/>
              <a:t>"Taipei" </a:t>
            </a:r>
            <a:r>
              <a:rPr lang="zh-TW" altLang="en-US" dirty="0"/>
              <a:t>的資料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err="1"/>
              <a:t>LambdaQueryWrapper</a:t>
            </a:r>
            <a:r>
              <a:rPr lang="en-US" altLang="zh-TW" dirty="0"/>
              <a:t>&lt;City&gt; wrapper = new </a:t>
            </a:r>
            <a:r>
              <a:rPr lang="en-US" altLang="zh-TW" dirty="0" err="1"/>
              <a:t>LambdaQueryWrapper</a:t>
            </a:r>
            <a:r>
              <a:rPr lang="en-US" altLang="zh-TW" dirty="0"/>
              <a:t>&lt;&gt;();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wrapper.eq</a:t>
            </a:r>
            <a:r>
              <a:rPr lang="en-US" altLang="zh-TW" dirty="0" smtClean="0"/>
              <a:t>(City</a:t>
            </a:r>
            <a:r>
              <a:rPr lang="en-US" altLang="zh-TW" dirty="0"/>
              <a:t>::</a:t>
            </a:r>
            <a:r>
              <a:rPr lang="en-US" altLang="zh-TW" dirty="0" err="1"/>
              <a:t>getName</a:t>
            </a:r>
            <a:r>
              <a:rPr lang="en-US" altLang="zh-TW" dirty="0"/>
              <a:t>, "Taipei");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List&lt;City</a:t>
            </a:r>
            <a:r>
              <a:rPr lang="en-US" altLang="zh-TW" dirty="0"/>
              <a:t>&gt; list = </a:t>
            </a:r>
            <a:r>
              <a:rPr lang="en-US" altLang="zh-TW" dirty="0" err="1"/>
              <a:t>cityMapper.selectList</a:t>
            </a:r>
            <a:r>
              <a:rPr lang="en-US" altLang="zh-TW" dirty="0"/>
              <a:t>(wrapper);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// </a:t>
            </a:r>
            <a:r>
              <a:rPr lang="en-US" altLang="zh-TW" dirty="0"/>
              <a:t>SQL: SELECT * FROM city WHERE name = 'Taipei'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基礎</a:t>
            </a:r>
            <a:r>
              <a:rPr lang="zh-TW" altLang="en-US" dirty="0"/>
              <a:t>比較運算（</a:t>
            </a:r>
            <a:r>
              <a:rPr lang="en-US" altLang="zh-TW" dirty="0"/>
              <a:t>Equal / Not Equal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254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Ne(</a:t>
            </a:r>
            <a:r>
              <a:rPr lang="zh-TW" altLang="en-US" dirty="0" smtClean="0"/>
              <a:t>不等於</a:t>
            </a:r>
            <a:r>
              <a:rPr lang="en-US" altLang="zh-TW" dirty="0" smtClean="0"/>
              <a:t>&lt;&gt;)</a:t>
            </a:r>
          </a:p>
          <a:p>
            <a:pPr lvl="1"/>
            <a:r>
              <a:rPr lang="zh-TW" altLang="en-US" b="1" dirty="0"/>
              <a:t>說明</a:t>
            </a:r>
            <a:r>
              <a:rPr lang="zh-TW" altLang="en-US" dirty="0"/>
              <a:t>：排除特定條件的資料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：查詢國家代碼不是 </a:t>
            </a:r>
            <a:r>
              <a:rPr lang="en-US" altLang="zh-TW" dirty="0"/>
              <a:t>"USA" </a:t>
            </a:r>
            <a:r>
              <a:rPr lang="zh-TW" altLang="en-US" dirty="0"/>
              <a:t>的城市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wrapper.ne(City::</a:t>
            </a:r>
            <a:r>
              <a:rPr lang="en-US" altLang="zh-TW" dirty="0" err="1"/>
              <a:t>getCountryCode</a:t>
            </a:r>
            <a:r>
              <a:rPr lang="en-US" altLang="zh-TW" dirty="0"/>
              <a:t>, "USA");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// </a:t>
            </a:r>
            <a:r>
              <a:rPr lang="en-US" altLang="zh-TW" dirty="0"/>
              <a:t>SQL: SELECT * FROM city WHERE </a:t>
            </a:r>
            <a:r>
              <a:rPr lang="en-US" altLang="zh-TW" dirty="0" err="1"/>
              <a:t>country_code</a:t>
            </a:r>
            <a:r>
              <a:rPr lang="en-US" altLang="zh-TW" dirty="0"/>
              <a:t> &lt;&gt; 'USA'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086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gt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ge</a:t>
            </a:r>
            <a:r>
              <a:rPr lang="en-US" altLang="zh-TW" dirty="0" smtClean="0"/>
              <a:t>(</a:t>
            </a:r>
            <a:r>
              <a:rPr lang="zh-TW" altLang="en-US" dirty="0" smtClean="0"/>
              <a:t>大於</a:t>
            </a:r>
            <a:r>
              <a:rPr lang="en-US" altLang="zh-TW" dirty="0" smtClean="0"/>
              <a:t>&gt;/</a:t>
            </a:r>
            <a:r>
              <a:rPr lang="zh-TW" altLang="en-US" dirty="0" smtClean="0"/>
              <a:t>大於等於</a:t>
            </a:r>
            <a:r>
              <a:rPr lang="en-US" altLang="zh-TW" dirty="0" smtClean="0"/>
              <a:t>&gt;=)</a:t>
            </a:r>
          </a:p>
          <a:p>
            <a:pPr lvl="1"/>
            <a:r>
              <a:rPr lang="zh-TW" altLang="en-US" dirty="0"/>
              <a:t>說明：</a:t>
            </a:r>
            <a:r>
              <a:rPr lang="en-US" altLang="zh-TW" dirty="0" err="1"/>
              <a:t>gt</a:t>
            </a:r>
            <a:r>
              <a:rPr lang="en-US" altLang="zh-TW" dirty="0"/>
              <a:t> = Greater Than</a:t>
            </a:r>
            <a:r>
              <a:rPr lang="zh-TW" altLang="en-US" dirty="0"/>
              <a:t>，</a:t>
            </a:r>
            <a:r>
              <a:rPr lang="en-US" altLang="zh-TW" dirty="0" err="1"/>
              <a:t>ge</a:t>
            </a:r>
            <a:r>
              <a:rPr lang="en-US" altLang="zh-TW" dirty="0"/>
              <a:t> = Greater Equal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/>
              <a:t>範例：查詢人口數大於 </a:t>
            </a:r>
            <a:r>
              <a:rPr lang="en-US" altLang="zh-TW" dirty="0"/>
              <a:t>5,000,000 </a:t>
            </a:r>
            <a:r>
              <a:rPr lang="zh-TW" altLang="en-US" dirty="0"/>
              <a:t>的大城市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wrapper.gt(City::</a:t>
            </a:r>
            <a:r>
              <a:rPr lang="en-US" altLang="zh-TW" dirty="0" err="1"/>
              <a:t>getPopulation</a:t>
            </a:r>
            <a:r>
              <a:rPr lang="en-US" altLang="zh-TW" dirty="0"/>
              <a:t>, 5000000);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// </a:t>
            </a:r>
            <a:r>
              <a:rPr lang="en-US" altLang="zh-TW" dirty="0"/>
              <a:t>SQL: SELECT * FROM city WHERE population &gt; 5000000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數值與範圍比較（</a:t>
            </a:r>
            <a:r>
              <a:rPr lang="en-US" altLang="zh-TW" dirty="0"/>
              <a:t>Comparison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89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lt</a:t>
            </a:r>
            <a:r>
              <a:rPr lang="en-US" altLang="zh-TW" dirty="0" smtClean="0"/>
              <a:t>/le(</a:t>
            </a:r>
            <a:r>
              <a:rPr lang="zh-TW" altLang="en-US" dirty="0" smtClean="0"/>
              <a:t>小於</a:t>
            </a:r>
            <a:r>
              <a:rPr lang="en-US" altLang="zh-TW" dirty="0" smtClean="0"/>
              <a:t>&lt;/</a:t>
            </a:r>
            <a:r>
              <a:rPr lang="zh-TW" altLang="en-US" dirty="0" smtClean="0"/>
              <a:t>小於等於</a:t>
            </a:r>
            <a:r>
              <a:rPr lang="en-US" altLang="zh-TW" dirty="0" smtClean="0"/>
              <a:t>&lt;=)</a:t>
            </a:r>
          </a:p>
          <a:p>
            <a:pPr lvl="1"/>
            <a:r>
              <a:rPr lang="zh-TW" altLang="en-US" dirty="0"/>
              <a:t>說明：</a:t>
            </a:r>
            <a:r>
              <a:rPr lang="en-US" altLang="zh-TW" dirty="0" err="1"/>
              <a:t>lt</a:t>
            </a:r>
            <a:r>
              <a:rPr lang="en-US" altLang="zh-TW" dirty="0"/>
              <a:t> = Less Than</a:t>
            </a:r>
            <a:r>
              <a:rPr lang="zh-TW" altLang="en-US" dirty="0"/>
              <a:t>，</a:t>
            </a:r>
            <a:r>
              <a:rPr lang="en-US" altLang="zh-TW" dirty="0"/>
              <a:t>le = Less Equal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：查詢人口數小於等於 </a:t>
            </a:r>
            <a:r>
              <a:rPr lang="en-US" altLang="zh-TW" dirty="0"/>
              <a:t>100,000 </a:t>
            </a:r>
            <a:r>
              <a:rPr lang="zh-TW" altLang="en-US" dirty="0"/>
              <a:t>的城鎮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wrapper.le</a:t>
            </a:r>
            <a:r>
              <a:rPr lang="en-US" altLang="zh-TW" dirty="0"/>
              <a:t>(City::</a:t>
            </a:r>
            <a:r>
              <a:rPr lang="en-US" altLang="zh-TW" dirty="0" err="1"/>
              <a:t>getPopulation</a:t>
            </a:r>
            <a:r>
              <a:rPr lang="en-US" altLang="zh-TW" dirty="0"/>
              <a:t>, 100000);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// </a:t>
            </a:r>
            <a:r>
              <a:rPr lang="en-US" altLang="zh-TW" dirty="0"/>
              <a:t>SQL: SELECT * FROM city WHERE population &lt;= 100000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32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like(</a:t>
            </a:r>
            <a:r>
              <a:rPr lang="zh-TW" altLang="en-US" dirty="0" smtClean="0"/>
              <a:t>全模糊</a:t>
            </a:r>
            <a:r>
              <a:rPr lang="en-US" altLang="zh-TW" dirty="0" smtClean="0"/>
              <a:t>%%)</a:t>
            </a:r>
          </a:p>
          <a:p>
            <a:pPr lvl="1"/>
            <a:r>
              <a:rPr lang="zh-TW" altLang="en-US" dirty="0"/>
              <a:t>說明：前後都加上 </a:t>
            </a:r>
            <a:r>
              <a:rPr lang="en-US" altLang="zh-TW" dirty="0"/>
              <a:t>% </a:t>
            </a:r>
            <a:r>
              <a:rPr lang="zh-TW" altLang="en-US" dirty="0"/>
              <a:t>符號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：查詢城市名稱包含 </a:t>
            </a:r>
            <a:r>
              <a:rPr lang="en-US" altLang="zh-TW" dirty="0"/>
              <a:t>"New" </a:t>
            </a:r>
            <a:r>
              <a:rPr lang="zh-TW" altLang="en-US" dirty="0"/>
              <a:t>的城市（如 </a:t>
            </a:r>
            <a:r>
              <a:rPr lang="en-US" altLang="zh-TW" dirty="0"/>
              <a:t>New York, New Delhi</a:t>
            </a:r>
            <a:r>
              <a:rPr lang="zh-TW" altLang="en-US" dirty="0" smtClean="0"/>
              <a:t>）。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wrapper.like</a:t>
            </a:r>
            <a:r>
              <a:rPr lang="en-US" altLang="zh-TW" dirty="0"/>
              <a:t>(City::</a:t>
            </a:r>
            <a:r>
              <a:rPr lang="en-US" altLang="zh-TW" dirty="0" err="1"/>
              <a:t>getName</a:t>
            </a:r>
            <a:r>
              <a:rPr lang="en-US" altLang="zh-TW" dirty="0"/>
              <a:t>, "New");</a:t>
            </a:r>
          </a:p>
          <a:p>
            <a:pPr lvl="1"/>
            <a:r>
              <a:rPr lang="en-US" altLang="zh-TW" dirty="0"/>
              <a:t>// SQL: SELECT * FROM city WHERE name LIKE '%New%'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模糊查詢（</a:t>
            </a:r>
            <a:r>
              <a:rPr lang="en-US" altLang="zh-TW" dirty="0"/>
              <a:t>Like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90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LikeLeft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LikeRight</a:t>
            </a:r>
            <a:r>
              <a:rPr lang="en-US" altLang="zh-TW" dirty="0" smtClean="0"/>
              <a:t>(</a:t>
            </a:r>
            <a:r>
              <a:rPr lang="zh-TW" altLang="en-US" dirty="0" smtClean="0"/>
              <a:t>左模糊</a:t>
            </a:r>
            <a:r>
              <a:rPr lang="en-US" altLang="zh-TW" dirty="0" smtClean="0"/>
              <a:t>%</a:t>
            </a:r>
            <a:r>
              <a:rPr lang="en-US" altLang="zh-TW" dirty="0" err="1" smtClean="0"/>
              <a:t>val</a:t>
            </a:r>
            <a:r>
              <a:rPr lang="en-US" altLang="zh-TW" dirty="0" smtClean="0"/>
              <a:t>/</a:t>
            </a:r>
            <a:r>
              <a:rPr lang="zh-TW" altLang="en-US" dirty="0"/>
              <a:t>右</a:t>
            </a:r>
            <a:r>
              <a:rPr lang="zh-TW" altLang="en-US" dirty="0" smtClean="0"/>
              <a:t>模糊</a:t>
            </a:r>
            <a:r>
              <a:rPr lang="en-US" altLang="zh-TW" dirty="0" err="1" smtClean="0"/>
              <a:t>val</a:t>
            </a:r>
            <a:r>
              <a:rPr lang="en-US" altLang="zh-TW" dirty="0" smtClean="0"/>
              <a:t>%)</a:t>
            </a:r>
          </a:p>
          <a:p>
            <a:pPr lvl="1"/>
            <a:r>
              <a:rPr lang="zh-TW" altLang="en-US" dirty="0"/>
              <a:t>說明：</a:t>
            </a:r>
            <a:r>
              <a:rPr lang="en-US" altLang="zh-TW" dirty="0" err="1"/>
              <a:t>likeRight</a:t>
            </a:r>
            <a:r>
              <a:rPr lang="en-US" altLang="zh-TW" dirty="0"/>
              <a:t> </a:t>
            </a:r>
            <a:r>
              <a:rPr lang="zh-TW" altLang="en-US" dirty="0"/>
              <a:t>最常用，因為它可以走資料庫索引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：查詢以 </a:t>
            </a:r>
            <a:r>
              <a:rPr lang="en-US" altLang="zh-TW" dirty="0"/>
              <a:t>"San" </a:t>
            </a:r>
            <a:r>
              <a:rPr lang="zh-TW" altLang="en-US" dirty="0"/>
              <a:t>開頭的城市（如 </a:t>
            </a:r>
            <a:r>
              <a:rPr lang="en-US" altLang="zh-TW" dirty="0"/>
              <a:t>San Francisco, San Diego</a:t>
            </a:r>
            <a:r>
              <a:rPr lang="zh-TW" altLang="en-US" dirty="0" smtClean="0"/>
              <a:t>）。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wrapper.likeRight</a:t>
            </a:r>
            <a:r>
              <a:rPr lang="en-US" altLang="zh-TW" dirty="0"/>
              <a:t>(City::</a:t>
            </a:r>
            <a:r>
              <a:rPr lang="en-US" altLang="zh-TW" dirty="0" err="1"/>
              <a:t>getName</a:t>
            </a:r>
            <a:r>
              <a:rPr lang="en-US" altLang="zh-TW" dirty="0"/>
              <a:t>, "San");</a:t>
            </a:r>
          </a:p>
          <a:p>
            <a:pPr lvl="1"/>
            <a:r>
              <a:rPr lang="en-US" altLang="zh-TW" dirty="0"/>
              <a:t>// SQL: SELECT * FROM city WHERE name LIKE 'San%'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088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notLike</a:t>
            </a:r>
            <a:r>
              <a:rPr lang="en-US" altLang="zh-TW" dirty="0" smtClean="0"/>
              <a:t>(</a:t>
            </a:r>
            <a:r>
              <a:rPr lang="zh-TW" altLang="en-US" dirty="0" smtClean="0"/>
              <a:t>不包含</a:t>
            </a:r>
            <a:r>
              <a:rPr lang="en-US" altLang="zh-TW" dirty="0" smtClean="0"/>
              <a:t>NOT LIKE)</a:t>
            </a:r>
          </a:p>
          <a:p>
            <a:pPr lvl="1"/>
            <a:r>
              <a:rPr lang="zh-TW" altLang="en-US" b="1" dirty="0"/>
              <a:t>說明</a:t>
            </a:r>
            <a:r>
              <a:rPr lang="zh-TW" altLang="en-US" dirty="0"/>
              <a:t>：排除包含特定關鍵字的資料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wrapper.notLike</a:t>
            </a:r>
            <a:r>
              <a:rPr lang="en-US" altLang="zh-TW" dirty="0"/>
              <a:t>(City::</a:t>
            </a:r>
            <a:r>
              <a:rPr lang="en-US" altLang="zh-TW" dirty="0" err="1"/>
              <a:t>getName</a:t>
            </a:r>
            <a:r>
              <a:rPr lang="en-US" altLang="zh-TW" dirty="0"/>
              <a:t>, "test");</a:t>
            </a:r>
          </a:p>
          <a:p>
            <a:pPr lvl="1"/>
            <a:r>
              <a:rPr lang="en-US" altLang="zh-TW" dirty="0"/>
              <a:t>// SQL: SELECT * FROM city WHERE name NOT LIKE '%test%'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8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isNull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isNotNull</a:t>
            </a:r>
            <a:r>
              <a:rPr lang="en-US" altLang="zh-TW" dirty="0" smtClean="0"/>
              <a:t>(</a:t>
            </a:r>
            <a:r>
              <a:rPr lang="zh-TW" altLang="en-US" dirty="0" smtClean="0"/>
              <a:t>空值</a:t>
            </a:r>
            <a:r>
              <a:rPr lang="en-US" altLang="zh-TW" dirty="0" smtClean="0"/>
              <a:t>/</a:t>
            </a:r>
            <a:r>
              <a:rPr lang="zh-TW" altLang="en-US" dirty="0" smtClean="0"/>
              <a:t>非空值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/>
              <a:t>說明：判斷欄位是否為 </a:t>
            </a:r>
            <a:r>
              <a:rPr lang="en-US" altLang="zh-TW" dirty="0"/>
              <a:t>NULL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：查詢區域（</a:t>
            </a:r>
            <a:r>
              <a:rPr lang="en-US" altLang="zh-TW" dirty="0"/>
              <a:t>District</a:t>
            </a:r>
            <a:r>
              <a:rPr lang="zh-TW" altLang="en-US" dirty="0"/>
              <a:t>）欄位有填寫內容的城市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wrapper.isNotNull</a:t>
            </a:r>
            <a:r>
              <a:rPr lang="en-US" altLang="zh-TW" dirty="0"/>
              <a:t>(City::</a:t>
            </a:r>
            <a:r>
              <a:rPr lang="en-US" altLang="zh-TW" dirty="0" err="1"/>
              <a:t>getDistrict</a:t>
            </a:r>
            <a:r>
              <a:rPr lang="en-US" altLang="zh-TW" dirty="0"/>
              <a:t>);</a:t>
            </a:r>
          </a:p>
          <a:p>
            <a:pPr lvl="1"/>
            <a:r>
              <a:rPr lang="en-US" altLang="zh-TW" dirty="0"/>
              <a:t>// SQL: SELECT * FROM city WHERE district IS NOT NULL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空值判斷（</a:t>
            </a:r>
            <a:r>
              <a:rPr lang="en-US" altLang="zh-TW" dirty="0"/>
              <a:t>Null Check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37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in/</a:t>
            </a:r>
            <a:r>
              <a:rPr lang="en-US" altLang="zh-TW" dirty="0" err="1" smtClean="0"/>
              <a:t>notIn</a:t>
            </a:r>
            <a:endParaRPr lang="en-US" altLang="zh-TW" dirty="0" smtClean="0"/>
          </a:p>
          <a:p>
            <a:pPr lvl="1"/>
            <a:r>
              <a:rPr lang="zh-TW" altLang="en-US" dirty="0"/>
              <a:t>說明：傳入一個 </a:t>
            </a:r>
            <a:r>
              <a:rPr lang="en-US" altLang="zh-TW" dirty="0"/>
              <a:t>Collection </a:t>
            </a:r>
            <a:r>
              <a:rPr lang="zh-TW" altLang="en-US" dirty="0"/>
              <a:t>集合或可變參數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：查詢台灣、日本、韓國的城市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List&lt;String&gt; codes = </a:t>
            </a:r>
            <a:r>
              <a:rPr lang="en-US" altLang="zh-TW" dirty="0" err="1"/>
              <a:t>Arrays.asList</a:t>
            </a:r>
            <a:r>
              <a:rPr lang="en-US" altLang="zh-TW" dirty="0"/>
              <a:t>("TWN", "JPN", "KOR");</a:t>
            </a:r>
          </a:p>
          <a:p>
            <a:pPr lvl="1"/>
            <a:r>
              <a:rPr lang="en-US" altLang="zh-TW" dirty="0"/>
              <a:t>wrapper.in(City::</a:t>
            </a:r>
            <a:r>
              <a:rPr lang="en-US" altLang="zh-TW" dirty="0" err="1"/>
              <a:t>getCountryCode</a:t>
            </a:r>
            <a:r>
              <a:rPr lang="en-US" altLang="zh-TW" dirty="0"/>
              <a:t>, codes);</a:t>
            </a:r>
          </a:p>
          <a:p>
            <a:pPr lvl="1"/>
            <a:r>
              <a:rPr lang="en-US" altLang="zh-TW" dirty="0"/>
              <a:t>// SQL: SELECT * FROM city WHERE </a:t>
            </a:r>
            <a:r>
              <a:rPr lang="en-US" altLang="zh-TW" dirty="0" err="1"/>
              <a:t>country_code</a:t>
            </a:r>
            <a:r>
              <a:rPr lang="en-US" altLang="zh-TW" dirty="0"/>
              <a:t> IN ('TWN', 'JPN', 'KOR')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集合遍歷（</a:t>
            </a:r>
            <a:r>
              <a:rPr lang="en-US" altLang="zh-TW" dirty="0"/>
              <a:t>In / Not In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148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inSQL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notInSQL</a:t>
            </a:r>
            <a:r>
              <a:rPr lang="en-US" altLang="zh-TW" dirty="0" smtClean="0"/>
              <a:t>(</a:t>
            </a:r>
            <a:r>
              <a:rPr lang="zh-TW" altLang="en-US" dirty="0" smtClean="0"/>
              <a:t>子查詢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b="1" dirty="0"/>
              <a:t>說明</a:t>
            </a:r>
            <a:r>
              <a:rPr lang="zh-TW" altLang="en-US" dirty="0"/>
              <a:t>：直接嵌入一段子查詢 </a:t>
            </a:r>
            <a:r>
              <a:rPr lang="en-US" altLang="zh-TW" dirty="0"/>
              <a:t>SQL</a:t>
            </a:r>
            <a:r>
              <a:rPr lang="zh-TW" altLang="en-US" dirty="0"/>
              <a:t>（注意：慎用以防 </a:t>
            </a:r>
            <a:r>
              <a:rPr lang="en-US" altLang="zh-TW" dirty="0"/>
              <a:t>SQL </a:t>
            </a:r>
            <a:r>
              <a:rPr lang="zh-TW" altLang="en-US" dirty="0"/>
              <a:t>注入）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：查詢人口數大於特定標準的國家程式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wrapper.inSql</a:t>
            </a:r>
            <a:r>
              <a:rPr lang="en-US" altLang="zh-TW" dirty="0"/>
              <a:t>(City::</a:t>
            </a:r>
            <a:r>
              <a:rPr lang="en-US" altLang="zh-TW" dirty="0" err="1"/>
              <a:t>getCountryCode</a:t>
            </a:r>
            <a:r>
              <a:rPr lang="en-US" altLang="zh-TW" dirty="0"/>
              <a:t>, "SELECT code FROM country WHERE </a:t>
            </a:r>
            <a:r>
              <a:rPr lang="en-US" altLang="zh-TW" dirty="0" err="1"/>
              <a:t>life_expectancy</a:t>
            </a:r>
            <a:r>
              <a:rPr lang="en-US" altLang="zh-TW" dirty="0"/>
              <a:t> &gt; 80");</a:t>
            </a:r>
          </a:p>
          <a:p>
            <a:pPr lvl="1"/>
            <a:r>
              <a:rPr lang="en-US" altLang="zh-TW" dirty="0"/>
              <a:t>// SQL: SELECT * FROM city WHERE </a:t>
            </a:r>
            <a:r>
              <a:rPr lang="en-US" altLang="zh-TW" dirty="0" err="1"/>
              <a:t>country_code</a:t>
            </a:r>
            <a:r>
              <a:rPr lang="en-US" altLang="zh-TW" dirty="0"/>
              <a:t> IN (SELECT code FROM country WHERE </a:t>
            </a:r>
            <a:r>
              <a:rPr lang="en-US" altLang="zh-TW" dirty="0" err="1"/>
              <a:t>life_expectancy</a:t>
            </a:r>
            <a:r>
              <a:rPr lang="en-US" altLang="zh-TW" dirty="0"/>
              <a:t> &gt; 80)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92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orderByAsc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orderByDesc</a:t>
            </a:r>
            <a:r>
              <a:rPr lang="en-US" altLang="zh-TW" dirty="0" smtClean="0"/>
              <a:t>(</a:t>
            </a:r>
            <a:r>
              <a:rPr lang="zh-TW" altLang="en-US" dirty="0" smtClean="0"/>
              <a:t>排序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b="1" dirty="0"/>
              <a:t>說明</a:t>
            </a:r>
            <a:r>
              <a:rPr lang="zh-TW" altLang="en-US" dirty="0"/>
              <a:t>：將結果正序或倒序排列，可傳入多個欄位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：按照人口數由大到小排序；若人口相同，按城市名稱正序排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wrapper.orderByDesc</a:t>
            </a:r>
            <a:r>
              <a:rPr lang="en-US" altLang="zh-TW" dirty="0"/>
              <a:t>(City::</a:t>
            </a:r>
            <a:r>
              <a:rPr lang="en-US" altLang="zh-TW" dirty="0" err="1"/>
              <a:t>getPopulation</a:t>
            </a:r>
            <a:r>
              <a:rPr lang="en-US" altLang="zh-TW" dirty="0"/>
              <a:t>).</a:t>
            </a:r>
            <a:r>
              <a:rPr lang="en-US" altLang="zh-TW" dirty="0" err="1"/>
              <a:t>orderByAsc</a:t>
            </a:r>
            <a:r>
              <a:rPr lang="en-US" altLang="zh-TW" dirty="0"/>
              <a:t>(City::</a:t>
            </a:r>
            <a:r>
              <a:rPr lang="en-US" altLang="zh-TW" dirty="0" err="1"/>
              <a:t>getName</a:t>
            </a:r>
            <a:r>
              <a:rPr lang="en-US" altLang="zh-TW" dirty="0"/>
              <a:t>);</a:t>
            </a:r>
          </a:p>
          <a:p>
            <a:pPr lvl="1"/>
            <a:r>
              <a:rPr lang="en-US" altLang="zh-TW" dirty="0"/>
              <a:t>// SQL: SELECT * FROM city ORDER BY population DESC, name ASC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排序與分組（</a:t>
            </a:r>
            <a:r>
              <a:rPr lang="en-US" altLang="zh-TW" dirty="0"/>
              <a:t>Order / Group By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13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err="1" smtClean="0"/>
              <a:t>groupBy</a:t>
            </a:r>
            <a:r>
              <a:rPr lang="en-US" altLang="zh-TW" dirty="0" smtClean="0"/>
              <a:t>/having(</a:t>
            </a:r>
            <a:r>
              <a:rPr lang="zh-TW" altLang="en-US" dirty="0" smtClean="0"/>
              <a:t>分組聚合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b="1" dirty="0"/>
              <a:t>說明</a:t>
            </a:r>
            <a:r>
              <a:rPr lang="zh-TW" altLang="en-US" dirty="0"/>
              <a:t>：多用於統計分析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：計算每個國家代碼的城市人口總和，且只篩選總人口大於 </a:t>
            </a:r>
            <a:r>
              <a:rPr lang="en-US" altLang="zh-TW" dirty="0"/>
              <a:t>1,000,000 </a:t>
            </a:r>
            <a:r>
              <a:rPr lang="zh-TW" altLang="en-US" dirty="0"/>
              <a:t>的國家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// </a:t>
            </a:r>
            <a:r>
              <a:rPr lang="zh-TW" altLang="en-US" dirty="0"/>
              <a:t>提示：如果要查詢聚合結果（如 </a:t>
            </a:r>
            <a:r>
              <a:rPr lang="en-US" altLang="zh-TW" dirty="0"/>
              <a:t>SUM</a:t>
            </a:r>
            <a:r>
              <a:rPr lang="zh-TW" altLang="en-US" dirty="0"/>
              <a:t>），建議改用 </a:t>
            </a:r>
            <a:r>
              <a:rPr lang="en-US" altLang="zh-TW" dirty="0" err="1"/>
              <a:t>QueryWrapper</a:t>
            </a:r>
            <a:r>
              <a:rPr lang="zh-TW" altLang="en-US" dirty="0"/>
              <a:t>，因為 </a:t>
            </a:r>
            <a:r>
              <a:rPr lang="en-US" altLang="zh-TW" dirty="0" err="1"/>
              <a:t>LambdaQueryWrapper</a:t>
            </a:r>
            <a:r>
              <a:rPr lang="en-US" altLang="zh-TW" dirty="0"/>
              <a:t> </a:t>
            </a:r>
            <a:r>
              <a:rPr lang="zh-TW" altLang="en-US" dirty="0"/>
              <a:t>預設只會映射實體欄位</a:t>
            </a:r>
          </a:p>
          <a:p>
            <a:pPr lvl="1"/>
            <a:r>
              <a:rPr lang="en-US" altLang="zh-TW" dirty="0" err="1"/>
              <a:t>QueryWrapper</a:t>
            </a:r>
            <a:r>
              <a:rPr lang="en-US" altLang="zh-TW" dirty="0"/>
              <a:t>&lt;City&gt; </a:t>
            </a:r>
            <a:r>
              <a:rPr lang="en-US" altLang="zh-TW" dirty="0" err="1"/>
              <a:t>queryWrapper</a:t>
            </a:r>
            <a:r>
              <a:rPr lang="en-US" altLang="zh-TW" dirty="0"/>
              <a:t> = new </a:t>
            </a:r>
            <a:r>
              <a:rPr lang="en-US" altLang="zh-TW" dirty="0" err="1"/>
              <a:t>QueryWrapper</a:t>
            </a:r>
            <a:r>
              <a:rPr lang="en-US" altLang="zh-TW" dirty="0"/>
              <a:t>&lt;&gt;();</a:t>
            </a:r>
          </a:p>
          <a:p>
            <a:pPr lvl="1"/>
            <a:r>
              <a:rPr lang="en-US" altLang="zh-TW" dirty="0" err="1"/>
              <a:t>queryWrapper.select</a:t>
            </a:r>
            <a:r>
              <a:rPr lang="en-US" altLang="zh-TW" dirty="0"/>
              <a:t>("</a:t>
            </a:r>
            <a:r>
              <a:rPr lang="en-US" altLang="zh-TW" dirty="0" err="1"/>
              <a:t>country_code</a:t>
            </a:r>
            <a:r>
              <a:rPr lang="en-US" altLang="zh-TW" dirty="0"/>
              <a:t>", "SUM(population) as </a:t>
            </a:r>
            <a:r>
              <a:rPr lang="en-US" altLang="zh-TW" dirty="0" err="1"/>
              <a:t>total_pop</a:t>
            </a:r>
            <a:r>
              <a:rPr lang="en-US" altLang="zh-TW" dirty="0"/>
              <a:t>")</a:t>
            </a:r>
          </a:p>
          <a:p>
            <a:pPr lvl="1"/>
            <a:r>
              <a:rPr lang="en-US" altLang="zh-TW" dirty="0"/>
              <a:t>            .</a:t>
            </a:r>
            <a:r>
              <a:rPr lang="en-US" altLang="zh-TW" dirty="0" err="1"/>
              <a:t>groupBy</a:t>
            </a:r>
            <a:r>
              <a:rPr lang="en-US" altLang="zh-TW" dirty="0"/>
              <a:t>("</a:t>
            </a:r>
            <a:r>
              <a:rPr lang="en-US" altLang="zh-TW" dirty="0" err="1"/>
              <a:t>country_code</a:t>
            </a:r>
            <a:r>
              <a:rPr lang="en-US" altLang="zh-TW" dirty="0"/>
              <a:t>")</a:t>
            </a:r>
          </a:p>
          <a:p>
            <a:pPr lvl="1"/>
            <a:r>
              <a:rPr lang="en-US" altLang="zh-TW" dirty="0"/>
              <a:t>            .having("SUM(population) &gt; {0}", 1000000);</a:t>
            </a:r>
          </a:p>
          <a:p>
            <a:pPr lvl="1"/>
            <a:r>
              <a:rPr lang="en-US" altLang="zh-TW" dirty="0"/>
              <a:t>List&lt;Map&lt;String, Object&gt;&gt; maps = </a:t>
            </a:r>
            <a:r>
              <a:rPr lang="en-US" altLang="zh-TW" dirty="0" err="1"/>
              <a:t>cityMapper.selectMaps</a:t>
            </a:r>
            <a:r>
              <a:rPr lang="en-US" altLang="zh-TW" dirty="0"/>
              <a:t>(</a:t>
            </a:r>
            <a:r>
              <a:rPr lang="en-US" altLang="zh-TW" dirty="0" err="1"/>
              <a:t>queryWrapper</a:t>
            </a:r>
            <a:r>
              <a:rPr lang="en-US" altLang="zh-TW" dirty="0"/>
              <a:t>);</a:t>
            </a:r>
          </a:p>
          <a:p>
            <a:pPr lvl="1"/>
            <a:r>
              <a:rPr lang="en-US" altLang="zh-TW" dirty="0"/>
              <a:t>// SQL: SELECT </a:t>
            </a:r>
            <a:r>
              <a:rPr lang="en-US" altLang="zh-TW" dirty="0" err="1"/>
              <a:t>country_code</a:t>
            </a:r>
            <a:r>
              <a:rPr lang="en-US" altLang="zh-TW" dirty="0"/>
              <a:t>, SUM(population) as </a:t>
            </a:r>
            <a:r>
              <a:rPr lang="en-US" altLang="zh-TW" dirty="0" err="1"/>
              <a:t>total_pop</a:t>
            </a:r>
            <a:r>
              <a:rPr lang="en-US" altLang="zh-TW" dirty="0"/>
              <a:t> FROM city GROUP BY </a:t>
            </a:r>
            <a:r>
              <a:rPr lang="en-US" altLang="zh-TW" dirty="0" err="1"/>
              <a:t>country_code</a:t>
            </a:r>
            <a:r>
              <a:rPr lang="en-US" altLang="zh-TW" dirty="0"/>
              <a:t> HAVING SUM(population) &gt; 1000000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210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en-US" altLang="zh-TW" dirty="0" smtClean="0"/>
              <a:t>r(</a:t>
            </a:r>
            <a:r>
              <a:rPr lang="zh-TW" altLang="en-US" dirty="0" smtClean="0"/>
              <a:t>預設是</a:t>
            </a:r>
            <a:r>
              <a:rPr lang="en-US" altLang="zh-TW" dirty="0" smtClean="0"/>
              <a:t>AND</a:t>
            </a:r>
            <a:r>
              <a:rPr lang="zh-TW" altLang="en-US" dirty="0" smtClean="0"/>
              <a:t>，可改切換為</a:t>
            </a:r>
            <a:r>
              <a:rPr lang="en-US" altLang="zh-TW" dirty="0" smtClean="0"/>
              <a:t>or)</a:t>
            </a:r>
          </a:p>
          <a:p>
            <a:pPr lvl="1"/>
            <a:r>
              <a:rPr lang="zh-TW" altLang="en-US" dirty="0"/>
              <a:t>說明：若不寫 </a:t>
            </a:r>
            <a:r>
              <a:rPr lang="en-US" altLang="zh-TW" dirty="0"/>
              <a:t>or()</a:t>
            </a:r>
            <a:r>
              <a:rPr lang="zh-TW" altLang="en-US" dirty="0"/>
              <a:t>，多個鏈式方法之間預設是用 </a:t>
            </a:r>
            <a:r>
              <a:rPr lang="en-US" altLang="zh-TW" dirty="0"/>
              <a:t>AND </a:t>
            </a:r>
            <a:r>
              <a:rPr lang="zh-TW" altLang="en-US" dirty="0"/>
              <a:t>連接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/>
              <a:t>：查詢國家是 </a:t>
            </a:r>
            <a:r>
              <a:rPr lang="en-US" altLang="zh-TW" dirty="0"/>
              <a:t>"TWN" </a:t>
            </a:r>
            <a:r>
              <a:rPr lang="zh-TW" altLang="en-US" b="1" dirty="0"/>
              <a:t>或者</a:t>
            </a:r>
            <a:r>
              <a:rPr lang="zh-TW" altLang="en-US" dirty="0"/>
              <a:t> 城市名字是 </a:t>
            </a:r>
            <a:r>
              <a:rPr lang="en-US" altLang="zh-TW" dirty="0"/>
              <a:t>"Paris" </a:t>
            </a:r>
            <a:r>
              <a:rPr lang="zh-TW" altLang="en-US" dirty="0"/>
              <a:t>的資料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wrapper.eq</a:t>
            </a:r>
            <a:r>
              <a:rPr lang="en-US" altLang="zh-TW" dirty="0"/>
              <a:t>(City::</a:t>
            </a:r>
            <a:r>
              <a:rPr lang="en-US" altLang="zh-TW" dirty="0" err="1"/>
              <a:t>getCountryCode</a:t>
            </a:r>
            <a:r>
              <a:rPr lang="en-US" altLang="zh-TW" dirty="0"/>
              <a:t>, "TWN")</a:t>
            </a:r>
          </a:p>
          <a:p>
            <a:pPr lvl="1"/>
            <a:r>
              <a:rPr lang="en-US" altLang="zh-TW" dirty="0"/>
              <a:t>       .or()</a:t>
            </a:r>
          </a:p>
          <a:p>
            <a:pPr lvl="1"/>
            <a:r>
              <a:rPr lang="en-US" altLang="zh-TW" dirty="0"/>
              <a:t>       .</a:t>
            </a:r>
            <a:r>
              <a:rPr lang="en-US" altLang="zh-TW" dirty="0" err="1"/>
              <a:t>eq</a:t>
            </a:r>
            <a:r>
              <a:rPr lang="en-US" altLang="zh-TW" dirty="0"/>
              <a:t>(City::</a:t>
            </a:r>
            <a:r>
              <a:rPr lang="en-US" altLang="zh-TW" dirty="0" err="1"/>
              <a:t>getName</a:t>
            </a:r>
            <a:r>
              <a:rPr lang="en-US" altLang="zh-TW" dirty="0"/>
              <a:t>, "Paris");</a:t>
            </a:r>
          </a:p>
          <a:p>
            <a:pPr lvl="1"/>
            <a:r>
              <a:rPr lang="en-US" altLang="zh-TW" dirty="0"/>
              <a:t>// SQL: SELECT * FROM city WHERE </a:t>
            </a:r>
            <a:r>
              <a:rPr lang="en-US" altLang="zh-TW" dirty="0" err="1"/>
              <a:t>country_code</a:t>
            </a:r>
            <a:r>
              <a:rPr lang="en-US" altLang="zh-TW" dirty="0"/>
              <a:t> = 'TWN' OR name = 'Paris'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高級邏輯控制（</a:t>
            </a:r>
            <a:r>
              <a:rPr lang="en-US" altLang="zh-TW" dirty="0"/>
              <a:t>And / Or / Nesting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9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巢狀邏輯（帶括號的 </a:t>
            </a:r>
            <a:r>
              <a:rPr lang="en-US" altLang="zh-TW" dirty="0"/>
              <a:t>AND / OR</a:t>
            </a:r>
            <a:r>
              <a:rPr lang="zh-TW" altLang="en-US" dirty="0" smtClean="0"/>
              <a:t>）</a:t>
            </a:r>
            <a:endParaRPr lang="en-US" altLang="zh-TW" dirty="0" smtClean="0"/>
          </a:p>
          <a:p>
            <a:pPr lvl="1"/>
            <a:r>
              <a:rPr lang="zh-TW" altLang="en-US" dirty="0"/>
              <a:t>說明：當你需要寫出類似 </a:t>
            </a:r>
            <a:r>
              <a:rPr lang="en-US" altLang="zh-TW" dirty="0"/>
              <a:t>WHERE </a:t>
            </a:r>
            <a:r>
              <a:rPr lang="en-US" altLang="zh-TW" dirty="0" err="1"/>
              <a:t>country_code</a:t>
            </a:r>
            <a:r>
              <a:rPr lang="en-US" altLang="zh-TW" dirty="0"/>
              <a:t> = 'TWN' AND (population &gt; 500000 OR district = 'Taipei') </a:t>
            </a:r>
            <a:r>
              <a:rPr lang="zh-TW" altLang="en-US" dirty="0"/>
              <a:t>這種帶括號的複雜條件時，需要傳入一個 </a:t>
            </a:r>
            <a:r>
              <a:rPr lang="en-US" altLang="zh-TW" dirty="0"/>
              <a:t>Consumer </a:t>
            </a:r>
            <a:r>
              <a:rPr lang="zh-TW" altLang="en-US" dirty="0"/>
              <a:t>函數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b="1" dirty="0"/>
              <a:t>範例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wrapper.eq</a:t>
            </a:r>
            <a:r>
              <a:rPr lang="en-US" altLang="zh-TW" dirty="0"/>
              <a:t>(City::</a:t>
            </a:r>
            <a:r>
              <a:rPr lang="en-US" altLang="zh-TW" dirty="0" err="1"/>
              <a:t>getCountryCode</a:t>
            </a:r>
            <a:r>
              <a:rPr lang="en-US" altLang="zh-TW" dirty="0"/>
              <a:t>, "TWN")</a:t>
            </a:r>
          </a:p>
          <a:p>
            <a:pPr lvl="1"/>
            <a:r>
              <a:rPr lang="en-US" altLang="zh-TW" dirty="0"/>
              <a:t>       .and(</a:t>
            </a:r>
            <a:r>
              <a:rPr lang="en-US" altLang="zh-TW" dirty="0" err="1"/>
              <a:t>qw</a:t>
            </a:r>
            <a:r>
              <a:rPr lang="en-US" altLang="zh-TW" dirty="0"/>
              <a:t> -&gt; qw.gt(City::</a:t>
            </a:r>
            <a:r>
              <a:rPr lang="en-US" altLang="zh-TW" dirty="0" err="1"/>
              <a:t>getPopulation</a:t>
            </a:r>
            <a:r>
              <a:rPr lang="en-US" altLang="zh-TW" dirty="0"/>
              <a:t>, 500000).or().</a:t>
            </a:r>
            <a:r>
              <a:rPr lang="en-US" altLang="zh-TW" dirty="0" err="1"/>
              <a:t>eq</a:t>
            </a:r>
            <a:r>
              <a:rPr lang="en-US" altLang="zh-TW" dirty="0"/>
              <a:t>(City::</a:t>
            </a:r>
            <a:r>
              <a:rPr lang="en-US" altLang="zh-TW" dirty="0" err="1"/>
              <a:t>getDistrict</a:t>
            </a:r>
            <a:r>
              <a:rPr lang="en-US" altLang="zh-TW" dirty="0"/>
              <a:t>, "Taipei"));</a:t>
            </a:r>
          </a:p>
          <a:p>
            <a:pPr lvl="1"/>
            <a:r>
              <a:rPr lang="en-US" altLang="zh-TW" dirty="0"/>
              <a:t>// SQL: SELECT * FROM city WHERE </a:t>
            </a:r>
            <a:r>
              <a:rPr lang="en-US" altLang="zh-TW" dirty="0" err="1"/>
              <a:t>country_code</a:t>
            </a:r>
            <a:r>
              <a:rPr lang="en-US" altLang="zh-TW" dirty="0"/>
              <a:t> = 'TWN' AND (population &gt; 500000 OR district = 'Taipei')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03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條件構造器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Mapper.xml</a:t>
            </a:r>
            <a:r>
              <a:rPr lang="zh-TW" altLang="en-US" dirty="0" smtClean="0"/>
              <a:t>語法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277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主要用於擴充或覆寫內建的 </a:t>
            </a:r>
            <a:r>
              <a:rPr lang="en-US" altLang="zh-TW" dirty="0"/>
              <a:t>CRUD </a:t>
            </a:r>
            <a:r>
              <a:rPr lang="zh-TW" altLang="en-US" dirty="0"/>
              <a:t>方法，並編寫複雜的動態 </a:t>
            </a:r>
            <a:r>
              <a:rPr lang="en-US" altLang="zh-TW" dirty="0"/>
              <a:t>SQL</a:t>
            </a:r>
            <a:r>
              <a:rPr lang="zh-TW" altLang="en-US" dirty="0"/>
              <a:t>。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32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XML </a:t>
            </a:r>
            <a:r>
              <a:rPr lang="zh-TW" altLang="en-US" dirty="0"/>
              <a:t>檔案以 </a:t>
            </a:r>
            <a:r>
              <a:rPr lang="en-US" altLang="zh-TW" dirty="0"/>
              <a:t>&lt;mapper&gt; </a:t>
            </a:r>
            <a:r>
              <a:rPr lang="zh-TW" altLang="en-US" dirty="0"/>
              <a:t>開頭，</a:t>
            </a:r>
            <a:r>
              <a:rPr lang="en-US" altLang="zh-TW" dirty="0"/>
              <a:t>namespace </a:t>
            </a:r>
            <a:r>
              <a:rPr lang="zh-TW" altLang="en-US" dirty="0"/>
              <a:t>需綁定對應的 </a:t>
            </a:r>
            <a:r>
              <a:rPr lang="en-US" altLang="zh-TW" dirty="0"/>
              <a:t>Mapper </a:t>
            </a:r>
            <a:r>
              <a:rPr lang="zh-TW" altLang="en-US" dirty="0"/>
              <a:t>介面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&lt;</a:t>
            </a:r>
            <a:r>
              <a:rPr lang="en-US" altLang="zh-TW" dirty="0"/>
              <a:t>resultMap&gt; </a:t>
            </a:r>
            <a:r>
              <a:rPr lang="zh-TW" altLang="en-US" dirty="0"/>
              <a:t>則用於將資料庫欄位對應至 </a:t>
            </a:r>
            <a:r>
              <a:rPr lang="en-US" altLang="zh-TW" dirty="0"/>
              <a:t>Java </a:t>
            </a:r>
            <a:r>
              <a:rPr lang="zh-TW" altLang="en-US" dirty="0"/>
              <a:t>實體屬性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</a:t>
            </a:r>
            <a:r>
              <a:rPr lang="zh-TW" altLang="en-US" dirty="0" smtClean="0"/>
              <a:t>基礎</a:t>
            </a:r>
            <a:r>
              <a:rPr lang="zh-TW" altLang="en-US" dirty="0"/>
              <a:t>結構 </a:t>
            </a:r>
            <a:r>
              <a:rPr lang="en-US" altLang="zh-TW" dirty="0"/>
              <a:t>(&lt;mapper&gt; </a:t>
            </a:r>
            <a:r>
              <a:rPr lang="zh-TW" altLang="en-US" dirty="0"/>
              <a:t>與 </a:t>
            </a:r>
            <a:r>
              <a:rPr lang="en-US" altLang="zh-TW" dirty="0"/>
              <a:t>&lt;resultMap&gt;)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96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653" y="1235816"/>
            <a:ext cx="6220693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8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透過 </a:t>
            </a:r>
            <a:r>
              <a:rPr lang="en-US" altLang="zh-TW" dirty="0"/>
              <a:t>id </a:t>
            </a:r>
            <a:r>
              <a:rPr lang="zh-TW" altLang="en-US" dirty="0"/>
              <a:t>屬性與 </a:t>
            </a:r>
            <a:r>
              <a:rPr lang="en-US" altLang="zh-TW" dirty="0"/>
              <a:t>Mapper </a:t>
            </a:r>
            <a:r>
              <a:rPr lang="zh-TW" altLang="en-US" dirty="0"/>
              <a:t>介面中的方法名稱對應；</a:t>
            </a:r>
            <a:r>
              <a:rPr lang="en-US" altLang="zh-TW" dirty="0"/>
              <a:t>resultType </a:t>
            </a:r>
            <a:r>
              <a:rPr lang="zh-TW" altLang="en-US" dirty="0"/>
              <a:t>指定回傳型別，或使用 </a:t>
            </a:r>
            <a:r>
              <a:rPr lang="en-US" altLang="zh-TW" dirty="0"/>
              <a:t>resultMap</a:t>
            </a:r>
            <a:r>
              <a:rPr lang="zh-TW" altLang="en-US" dirty="0"/>
              <a:t>。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</a:t>
            </a:r>
            <a:r>
              <a:rPr lang="zh-TW" altLang="en-US" dirty="0" smtClean="0"/>
              <a:t>增</a:t>
            </a:r>
            <a:r>
              <a:rPr lang="zh-TW" altLang="en-US" dirty="0"/>
              <a:t>刪改查標籤 </a:t>
            </a:r>
            <a:r>
              <a:rPr lang="en-US" altLang="zh-TW" dirty="0"/>
              <a:t>(CRUD)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23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&lt;select id="selectByUsername" resultMap="UserMap</a:t>
            </a:r>
            <a:r>
              <a:rPr lang="en-US" altLang="zh-TW" dirty="0" smtClean="0"/>
              <a:t>"&gt;</a:t>
            </a:r>
          </a:p>
          <a:p>
            <a:pPr lvl="1"/>
            <a:r>
              <a:rPr lang="en-US" altLang="zh-TW" dirty="0" smtClean="0"/>
              <a:t>SELECT </a:t>
            </a:r>
            <a:r>
              <a:rPr lang="en-US" altLang="zh-TW" dirty="0"/>
              <a:t>* FROM sys_user WHERE user_name = #{username} </a:t>
            </a:r>
            <a:endParaRPr lang="en-US" altLang="zh-TW" dirty="0" smtClean="0"/>
          </a:p>
          <a:p>
            <a:r>
              <a:rPr lang="en-US" altLang="zh-TW" dirty="0" smtClean="0"/>
              <a:t>&lt;/</a:t>
            </a:r>
            <a:r>
              <a:rPr lang="en-US" altLang="zh-TW" dirty="0"/>
              <a:t>select&gt;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&lt;select&gt; (</a:t>
            </a:r>
            <a:r>
              <a:rPr lang="zh-TW" altLang="en-US" dirty="0"/>
              <a:t>查詢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711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&lt;insert id="insertUser" </a:t>
            </a:r>
            <a:r>
              <a:rPr lang="en-US" altLang="zh-TW" dirty="0" smtClean="0"/>
              <a:t>&gt;</a:t>
            </a:r>
          </a:p>
          <a:p>
            <a:pPr lvl="1"/>
            <a:r>
              <a:rPr lang="en-US" altLang="zh-TW" dirty="0" smtClean="0"/>
              <a:t>INSERT </a:t>
            </a:r>
            <a:r>
              <a:rPr lang="en-US" altLang="zh-TW" dirty="0"/>
              <a:t>INTO sys_user (user_name, email) VALUES (#{username}, #{email</a:t>
            </a:r>
            <a:r>
              <a:rPr lang="en-US" altLang="zh-TW" dirty="0" smtClean="0"/>
              <a:t>})</a:t>
            </a:r>
          </a:p>
          <a:p>
            <a:r>
              <a:rPr lang="en-US" altLang="zh-TW" dirty="0" smtClean="0"/>
              <a:t>&lt;/</a:t>
            </a:r>
            <a:r>
              <a:rPr lang="en-US" altLang="zh-TW" dirty="0"/>
              <a:t>insert&gt;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&lt;insert&gt; (</a:t>
            </a:r>
            <a:r>
              <a:rPr lang="zh-TW" altLang="en-US" dirty="0"/>
              <a:t>新增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789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&lt;update id="updateEmail</a:t>
            </a:r>
            <a:r>
              <a:rPr lang="en-US" altLang="zh-TW" dirty="0" smtClean="0"/>
              <a:t>"&gt;</a:t>
            </a:r>
          </a:p>
          <a:p>
            <a:pPr lvl="1"/>
            <a:r>
              <a:rPr lang="en-US" altLang="zh-TW" dirty="0" smtClean="0"/>
              <a:t>UPDATE </a:t>
            </a:r>
            <a:r>
              <a:rPr lang="en-US" altLang="zh-TW" dirty="0"/>
              <a:t>sys_user SET email = #{email} WHERE id = #{id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&lt;/</a:t>
            </a:r>
            <a:r>
              <a:rPr lang="en-US" altLang="zh-TW" dirty="0"/>
              <a:t>update&gt;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&lt;update&gt; (</a:t>
            </a:r>
            <a:r>
              <a:rPr lang="zh-TW" altLang="en-US" dirty="0"/>
              <a:t>修改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28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&lt;delete id="deleteUser</a:t>
            </a:r>
            <a:r>
              <a:rPr lang="en-US" altLang="zh-TW" dirty="0" smtClean="0"/>
              <a:t>"&gt;</a:t>
            </a:r>
          </a:p>
          <a:p>
            <a:pPr lvl="1"/>
            <a:r>
              <a:rPr lang="en-US" altLang="zh-TW" dirty="0" smtClean="0"/>
              <a:t>DELETE </a:t>
            </a:r>
            <a:r>
              <a:rPr lang="en-US" altLang="zh-TW" dirty="0"/>
              <a:t>FROM sys_user WHERE id = #{id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&lt;/</a:t>
            </a:r>
            <a:r>
              <a:rPr lang="en-US" altLang="zh-TW" dirty="0"/>
              <a:t>delete&gt;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&lt;delete&gt; (</a:t>
            </a:r>
            <a:r>
              <a:rPr lang="zh-TW" altLang="en-US" dirty="0"/>
              <a:t>刪除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33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這是 </a:t>
            </a:r>
            <a:r>
              <a:rPr lang="en-US" altLang="zh-TW" dirty="0"/>
              <a:t>mapper.xml </a:t>
            </a:r>
            <a:r>
              <a:rPr lang="zh-TW" altLang="en-US" dirty="0"/>
              <a:t>最強大的地方，能根據條件動態拼接 </a:t>
            </a:r>
            <a:r>
              <a:rPr lang="en-US" altLang="zh-TW" dirty="0"/>
              <a:t>SQL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3.</a:t>
            </a:r>
            <a:r>
              <a:rPr lang="zh-TW" altLang="en-US" dirty="0" smtClean="0"/>
              <a:t>動態 </a:t>
            </a:r>
            <a:r>
              <a:rPr lang="en-US" altLang="zh-TW" dirty="0"/>
              <a:t>SQL </a:t>
            </a:r>
            <a:r>
              <a:rPr lang="zh-TW" altLang="en-US" dirty="0"/>
              <a:t>語法 </a:t>
            </a:r>
            <a:r>
              <a:rPr lang="en-US" altLang="zh-TW" dirty="0"/>
              <a:t>(Dynamic SQL)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55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&lt;select id="selectUserList" resultMap="UserMap</a:t>
            </a:r>
            <a:r>
              <a:rPr lang="en-US" altLang="zh-TW" dirty="0" smtClean="0"/>
              <a:t>"&gt;</a:t>
            </a:r>
          </a:p>
          <a:p>
            <a:pPr lvl="1"/>
            <a:r>
              <a:rPr lang="en-US" altLang="zh-TW" dirty="0" smtClean="0"/>
              <a:t>SELECT </a:t>
            </a:r>
            <a:r>
              <a:rPr lang="en-US" altLang="zh-TW" dirty="0"/>
              <a:t>* FROM </a:t>
            </a:r>
            <a:r>
              <a:rPr lang="en-US" altLang="zh-TW" dirty="0" smtClean="0"/>
              <a:t>sys_user</a:t>
            </a:r>
          </a:p>
          <a:p>
            <a:pPr lvl="2"/>
            <a:r>
              <a:rPr lang="en-US" altLang="zh-TW" dirty="0" smtClean="0"/>
              <a:t>&lt;where&gt;</a:t>
            </a:r>
          </a:p>
          <a:p>
            <a:pPr lvl="3"/>
            <a:r>
              <a:rPr lang="en-US" altLang="zh-TW" dirty="0" smtClean="0"/>
              <a:t>&lt;</a:t>
            </a:r>
            <a:r>
              <a:rPr lang="en-US" altLang="zh-TW" dirty="0"/>
              <a:t>if test="username != null and username != </a:t>
            </a:r>
            <a:r>
              <a:rPr lang="en-US" altLang="zh-TW" dirty="0" smtClean="0"/>
              <a:t>''"&gt;</a:t>
            </a:r>
          </a:p>
          <a:p>
            <a:pPr lvl="4"/>
            <a:r>
              <a:rPr lang="en-US" altLang="zh-TW" dirty="0" smtClean="0"/>
              <a:t>AND </a:t>
            </a:r>
            <a:r>
              <a:rPr lang="en-US" altLang="zh-TW" dirty="0"/>
              <a:t>user_name LIKE CONCAT('%', #{username}, </a:t>
            </a:r>
            <a:r>
              <a:rPr lang="en-US" altLang="zh-TW" dirty="0" smtClean="0"/>
              <a:t>'%')</a:t>
            </a:r>
          </a:p>
          <a:p>
            <a:pPr lvl="3"/>
            <a:r>
              <a:rPr lang="en-US" altLang="zh-TW" dirty="0" smtClean="0"/>
              <a:t>&lt;/</a:t>
            </a:r>
            <a:r>
              <a:rPr lang="en-US" altLang="zh-TW" dirty="0"/>
              <a:t>if</a:t>
            </a:r>
            <a:r>
              <a:rPr lang="en-US" altLang="zh-TW" dirty="0" smtClean="0"/>
              <a:t>&gt;</a:t>
            </a:r>
          </a:p>
          <a:p>
            <a:pPr lvl="3"/>
            <a:r>
              <a:rPr lang="en-US" altLang="zh-TW" dirty="0" smtClean="0"/>
              <a:t>&lt;</a:t>
            </a:r>
            <a:r>
              <a:rPr lang="en-US" altLang="zh-TW" dirty="0"/>
              <a:t>if test="email != null</a:t>
            </a:r>
            <a:r>
              <a:rPr lang="en-US" altLang="zh-TW" dirty="0" smtClean="0"/>
              <a:t>"&gt;</a:t>
            </a:r>
          </a:p>
          <a:p>
            <a:pPr lvl="4"/>
            <a:r>
              <a:rPr lang="en-US" altLang="zh-TW" dirty="0" smtClean="0"/>
              <a:t>AND </a:t>
            </a:r>
            <a:r>
              <a:rPr lang="en-US" altLang="zh-TW" dirty="0"/>
              <a:t>email = #{email</a:t>
            </a:r>
            <a:r>
              <a:rPr lang="en-US" altLang="zh-TW" dirty="0" smtClean="0"/>
              <a:t>}</a:t>
            </a:r>
          </a:p>
          <a:p>
            <a:pPr lvl="3"/>
            <a:r>
              <a:rPr lang="en-US" altLang="zh-TW" dirty="0" smtClean="0"/>
              <a:t>&lt;/</a:t>
            </a:r>
            <a:r>
              <a:rPr lang="en-US" altLang="zh-TW" dirty="0"/>
              <a:t>if</a:t>
            </a:r>
            <a:r>
              <a:rPr lang="en-US" altLang="zh-TW" dirty="0" smtClean="0"/>
              <a:t>&gt;</a:t>
            </a:r>
          </a:p>
          <a:p>
            <a:pPr lvl="2"/>
            <a:r>
              <a:rPr lang="en-US" altLang="zh-TW" dirty="0" smtClean="0"/>
              <a:t>&lt;/</a:t>
            </a:r>
            <a:r>
              <a:rPr lang="en-US" altLang="zh-TW" dirty="0"/>
              <a:t>where</a:t>
            </a:r>
            <a:r>
              <a:rPr lang="en-US" altLang="zh-TW" dirty="0" smtClean="0"/>
              <a:t>&gt;</a:t>
            </a:r>
          </a:p>
          <a:p>
            <a:pPr lvl="1"/>
            <a:r>
              <a:rPr lang="en-US" altLang="zh-TW" dirty="0" smtClean="0"/>
              <a:t>&lt;/</a:t>
            </a:r>
            <a:r>
              <a:rPr lang="en-US" altLang="zh-TW" dirty="0"/>
              <a:t>select&gt;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&lt;if&gt;</a:t>
            </a:r>
            <a:r>
              <a:rPr lang="zh-TW" altLang="en-US" dirty="0"/>
              <a:t>：單一條件判斷，常配合 </a:t>
            </a:r>
            <a:r>
              <a:rPr lang="en-US" altLang="zh-TW" dirty="0"/>
              <a:t>&lt;where&gt; </a:t>
            </a:r>
            <a:r>
              <a:rPr lang="zh-TW" altLang="en-US" dirty="0"/>
              <a:t>或 </a:t>
            </a:r>
            <a:r>
              <a:rPr lang="en-US" altLang="zh-TW" dirty="0"/>
              <a:t>&lt;set&gt; </a:t>
            </a:r>
            <a:r>
              <a:rPr lang="zh-TW" altLang="en-US" dirty="0"/>
              <a:t>使用。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11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&lt;choose&gt;, &lt;when&gt;, &lt;otherwise&gt;</a:t>
            </a:r>
            <a:r>
              <a:rPr lang="zh-TW" altLang="en-US" dirty="0"/>
              <a:t>：類似 </a:t>
            </a:r>
            <a:r>
              <a:rPr lang="en-US" altLang="zh-TW" dirty="0"/>
              <a:t>Java </a:t>
            </a:r>
            <a:r>
              <a:rPr lang="zh-TW" altLang="en-US" dirty="0"/>
              <a:t>的 </a:t>
            </a:r>
            <a:r>
              <a:rPr lang="en-US" altLang="zh-TW" dirty="0"/>
              <a:t>switch</a:t>
            </a:r>
            <a:r>
              <a:rPr lang="zh-TW" altLang="en-US" dirty="0"/>
              <a:t>，只會進入符合條件的第一個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66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&lt;foreach&gt;</a:t>
            </a:r>
            <a:r>
              <a:rPr lang="zh-TW" altLang="en-US" dirty="0"/>
              <a:t>：用於遍歷集合（如 </a:t>
            </a:r>
            <a:r>
              <a:rPr lang="en-US" altLang="zh-TW" dirty="0"/>
              <a:t>List, </a:t>
            </a:r>
            <a:r>
              <a:rPr lang="zh-TW" altLang="en-US" dirty="0"/>
              <a:t>陣列），常處理 </a:t>
            </a:r>
            <a:r>
              <a:rPr lang="en-US" altLang="zh-TW" dirty="0"/>
              <a:t>IN </a:t>
            </a:r>
            <a:r>
              <a:rPr lang="zh-TW" altLang="en-US" dirty="0"/>
              <a:t>查詢或批次操作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>&lt;select id="selectBatchIds" resultMap="UserMap</a:t>
            </a:r>
            <a:r>
              <a:rPr lang="en-US" altLang="zh-TW" dirty="0" smtClean="0"/>
              <a:t>"&gt;</a:t>
            </a:r>
          </a:p>
          <a:p>
            <a:pPr lvl="1"/>
            <a:r>
              <a:rPr lang="en-US" altLang="zh-TW" dirty="0" smtClean="0"/>
              <a:t>SELECT </a:t>
            </a:r>
            <a:r>
              <a:rPr lang="en-US" altLang="zh-TW" dirty="0"/>
              <a:t>* FROM sys_user WHERE id </a:t>
            </a:r>
            <a:r>
              <a:rPr lang="en-US" altLang="zh-TW" dirty="0" smtClean="0"/>
              <a:t>IN</a:t>
            </a:r>
          </a:p>
          <a:p>
            <a:pPr lvl="1"/>
            <a:r>
              <a:rPr lang="en-US" altLang="zh-TW" dirty="0" smtClean="0"/>
              <a:t>&lt;</a:t>
            </a:r>
            <a:r>
              <a:rPr lang="en-US" altLang="zh-TW" dirty="0"/>
              <a:t>foreach item="item" index="index" collection="idList" open="(" separator="," close</a:t>
            </a:r>
            <a:r>
              <a:rPr lang="en-US" altLang="zh-TW" dirty="0" smtClean="0"/>
              <a:t>=")"&gt;</a:t>
            </a:r>
          </a:p>
          <a:p>
            <a:pPr lvl="2"/>
            <a:r>
              <a:rPr lang="en-US" altLang="zh-TW" dirty="0" smtClean="0"/>
              <a:t>#{</a:t>
            </a:r>
            <a:r>
              <a:rPr lang="en-US" altLang="zh-TW" dirty="0"/>
              <a:t>item</a:t>
            </a:r>
            <a:r>
              <a:rPr lang="en-US" altLang="zh-TW" dirty="0" smtClean="0"/>
              <a:t>}</a:t>
            </a:r>
          </a:p>
          <a:p>
            <a:pPr lvl="1"/>
            <a:r>
              <a:rPr lang="en-US" altLang="zh-TW" dirty="0" smtClean="0"/>
              <a:t>&lt;/</a:t>
            </a:r>
            <a:r>
              <a:rPr lang="en-US" altLang="zh-TW" dirty="0"/>
              <a:t>foreach</a:t>
            </a:r>
            <a:r>
              <a:rPr lang="en-US" altLang="zh-TW" dirty="0" smtClean="0"/>
              <a:t>&gt;</a:t>
            </a:r>
          </a:p>
          <a:p>
            <a:r>
              <a:rPr lang="en-US" altLang="zh-TW" dirty="0" smtClean="0"/>
              <a:t>&lt;/</a:t>
            </a:r>
            <a:r>
              <a:rPr lang="en-US" altLang="zh-TW" dirty="0"/>
              <a:t>select&gt;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175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&lt;sql&gt; </a:t>
            </a:r>
            <a:r>
              <a:rPr lang="zh-TW" altLang="en-US" dirty="0"/>
              <a:t>片段：將重複的欄位或 </a:t>
            </a:r>
            <a:r>
              <a:rPr lang="en-US" altLang="zh-TW" dirty="0"/>
              <a:t>SQL </a:t>
            </a:r>
            <a:r>
              <a:rPr lang="zh-TW" altLang="en-US" dirty="0"/>
              <a:t>片段抽取出來，使用 </a:t>
            </a:r>
            <a:r>
              <a:rPr lang="en-US" altLang="zh-TW" dirty="0"/>
              <a:t>&lt;include&gt; </a:t>
            </a:r>
            <a:r>
              <a:rPr lang="zh-TW" altLang="en-US" dirty="0"/>
              <a:t>引入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&lt;select&gt;</a:t>
            </a:r>
            <a:endParaRPr lang="en-US" altLang="zh-TW" dirty="0"/>
          </a:p>
          <a:p>
            <a:pPr lvl="1"/>
            <a:r>
              <a:rPr lang="en-US" altLang="zh-TW" dirty="0"/>
              <a:t>&lt;sql id="Base_Column_List</a:t>
            </a:r>
            <a:r>
              <a:rPr lang="en-US" altLang="zh-TW" dirty="0" smtClean="0"/>
              <a:t>"&gt;</a:t>
            </a:r>
          </a:p>
          <a:p>
            <a:pPr lvl="2"/>
            <a:r>
              <a:rPr lang="en-US" altLang="zh-TW" dirty="0" smtClean="0"/>
              <a:t>id</a:t>
            </a:r>
            <a:r>
              <a:rPr lang="en-US" altLang="zh-TW" dirty="0"/>
              <a:t>, user_name, email, </a:t>
            </a:r>
            <a:r>
              <a:rPr lang="en-US" altLang="zh-TW" dirty="0" smtClean="0"/>
              <a:t>create_time</a:t>
            </a:r>
          </a:p>
          <a:p>
            <a:pPr lvl="1"/>
            <a:r>
              <a:rPr lang="en-US" altLang="zh-TW" dirty="0" smtClean="0"/>
              <a:t>&lt;/</a:t>
            </a:r>
            <a:r>
              <a:rPr lang="en-US" altLang="zh-TW" dirty="0"/>
              <a:t>sql</a:t>
            </a:r>
            <a:r>
              <a:rPr lang="en-US" altLang="zh-TW" dirty="0" smtClean="0"/>
              <a:t>&gt;</a:t>
            </a:r>
          </a:p>
          <a:p>
            <a:pPr lvl="1"/>
            <a:r>
              <a:rPr lang="en-US" altLang="zh-TW" dirty="0" smtClean="0"/>
              <a:t>SELECT </a:t>
            </a:r>
            <a:r>
              <a:rPr lang="en-US" altLang="zh-TW" dirty="0"/>
              <a:t>&lt;include refid="Base_Column_List"/&gt; FROM </a:t>
            </a:r>
            <a:r>
              <a:rPr lang="en-US" altLang="zh-TW" dirty="0" smtClean="0"/>
              <a:t>sys_user</a:t>
            </a:r>
          </a:p>
          <a:p>
            <a:r>
              <a:rPr lang="en-US" altLang="zh-TW" dirty="0" smtClean="0"/>
              <a:t>&lt;/</a:t>
            </a:r>
            <a:r>
              <a:rPr lang="en-US" altLang="zh-TW" dirty="0"/>
              <a:t>select&gt;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 </a:t>
            </a:r>
            <a:r>
              <a:rPr lang="zh-TW" altLang="en-US" dirty="0"/>
              <a:t>實用進階技巧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83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特殊字元處理：</a:t>
            </a:r>
            <a:r>
              <a:rPr lang="en-US" altLang="zh-TW" dirty="0"/>
              <a:t>SQL </a:t>
            </a:r>
            <a:r>
              <a:rPr lang="zh-TW" altLang="en-US" dirty="0"/>
              <a:t>中的 </a:t>
            </a:r>
            <a:r>
              <a:rPr lang="en-US" altLang="zh-TW" dirty="0"/>
              <a:t>&lt;</a:t>
            </a:r>
            <a:r>
              <a:rPr lang="zh-TW" altLang="en-US" dirty="0"/>
              <a:t>、</a:t>
            </a:r>
            <a:r>
              <a:rPr lang="en-US" altLang="zh-TW" dirty="0"/>
              <a:t>&gt;</a:t>
            </a:r>
            <a:r>
              <a:rPr lang="zh-TW" altLang="en-US" dirty="0"/>
              <a:t>、</a:t>
            </a:r>
            <a:r>
              <a:rPr lang="en-US" altLang="zh-TW" dirty="0"/>
              <a:t>&amp; </a:t>
            </a:r>
            <a:r>
              <a:rPr lang="zh-TW" altLang="en-US" dirty="0"/>
              <a:t>等字元在 </a:t>
            </a:r>
            <a:r>
              <a:rPr lang="en-US" altLang="zh-TW" dirty="0"/>
              <a:t>XML </a:t>
            </a:r>
            <a:r>
              <a:rPr lang="zh-TW" altLang="en-US" dirty="0"/>
              <a:t>中需轉義。您可以使用原樣輸出標籤 </a:t>
            </a:r>
            <a:r>
              <a:rPr lang="en-US" altLang="zh-TW" dirty="0"/>
              <a:t>&lt;![CDATA[ ... ]]&gt; </a:t>
            </a:r>
            <a:r>
              <a:rPr lang="zh-TW" altLang="en-US" dirty="0"/>
              <a:t>避免解析錯誤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>&lt;select id="selectByAge" resultMap="UserMap</a:t>
            </a:r>
            <a:r>
              <a:rPr lang="en-US" altLang="zh-TW" dirty="0" smtClean="0"/>
              <a:t>"&gt;</a:t>
            </a:r>
          </a:p>
          <a:p>
            <a:pPr lvl="1"/>
            <a:r>
              <a:rPr lang="en-US" altLang="zh-TW" dirty="0" smtClean="0"/>
              <a:t>SELECT </a:t>
            </a:r>
            <a:r>
              <a:rPr lang="en-US" altLang="zh-TW" dirty="0"/>
              <a:t>* FROM </a:t>
            </a:r>
            <a:r>
              <a:rPr lang="en-US" altLang="zh-TW" dirty="0" smtClean="0"/>
              <a:t>sys_user</a:t>
            </a:r>
          </a:p>
          <a:p>
            <a:pPr lvl="1"/>
            <a:r>
              <a:rPr lang="en-US" altLang="zh-TW" dirty="0" smtClean="0"/>
              <a:t>&lt;![</a:t>
            </a:r>
            <a:r>
              <a:rPr lang="en-US" altLang="zh-TW" dirty="0"/>
              <a:t>CDATA[ WHERE age &lt; #{maxAge} AND age &gt;= #{minAge} </a:t>
            </a:r>
            <a:r>
              <a:rPr lang="en-US" altLang="zh-TW" dirty="0" smtClean="0"/>
              <a:t>]]&gt;</a:t>
            </a:r>
          </a:p>
          <a:p>
            <a:r>
              <a:rPr lang="en-US" altLang="zh-TW" dirty="0" smtClean="0"/>
              <a:t>&lt;/</a:t>
            </a:r>
            <a:r>
              <a:rPr lang="en-US" altLang="zh-TW" dirty="0"/>
              <a:t>select&gt;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EA59-826A-4FB0-BF3A-D1F923F9F4E7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34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8134</TotalTime>
  <Words>3155</Words>
  <Application>Microsoft Office PowerPoint</Application>
  <PresentationFormat>寬螢幕</PresentationFormat>
  <Paragraphs>336</Paragraphs>
  <Slides>56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56</vt:i4>
      </vt:variant>
    </vt:vector>
  </HeadingPairs>
  <TitlesOfParts>
    <vt:vector size="62" baseType="lpstr">
      <vt:lpstr>ui-sans-serif</vt:lpstr>
      <vt:lpstr>微軟正黑體</vt:lpstr>
      <vt:lpstr>新細明體</vt:lpstr>
      <vt:lpstr>Arial</vt:lpstr>
      <vt:lpstr>Calibri</vt:lpstr>
      <vt:lpstr>Office 佈景主題</vt:lpstr>
      <vt:lpstr>MyBatis-Plus</vt:lpstr>
      <vt:lpstr>MyBatis-Plus應用</vt:lpstr>
      <vt:lpstr>PowerPoint 簡報</vt:lpstr>
      <vt:lpstr>核心特性</vt:lpstr>
      <vt:lpstr>核心元件</vt:lpstr>
      <vt:lpstr>安裝</vt:lpstr>
      <vt:lpstr>配置</vt:lpstr>
      <vt:lpstr>配置-使用 @MapperScan</vt:lpstr>
      <vt:lpstr>配置-使用 @Mapper</vt:lpstr>
      <vt:lpstr>配置-補充</vt:lpstr>
      <vt:lpstr>核心元件</vt:lpstr>
      <vt:lpstr>BaseMapper</vt:lpstr>
      <vt:lpstr>CRUD核心方法-新增 (Create)</vt:lpstr>
      <vt:lpstr>CRUD核心方法-刪除 (Delete)</vt:lpstr>
      <vt:lpstr>CRUD核心方法-更新 (Update)</vt:lpstr>
      <vt:lpstr>CRUD核心方法-查詢 (Read)</vt:lpstr>
      <vt:lpstr>CRUD核心方法-查詢 (Read)</vt:lpstr>
      <vt:lpstr>核心元件</vt:lpstr>
      <vt:lpstr>IService</vt:lpstr>
      <vt:lpstr>核心功能特色</vt:lpstr>
      <vt:lpstr>建立 Service 介面</vt:lpstr>
      <vt:lpstr>建立Service實作類別</vt:lpstr>
      <vt:lpstr>常用 IService 內建方法</vt:lpstr>
      <vt:lpstr>核心元件</vt:lpstr>
      <vt:lpstr>PowerPoint 簡報</vt:lpstr>
      <vt:lpstr>PowerPoint 簡報</vt:lpstr>
      <vt:lpstr>基礎比較運算（Equal / Not Equal）</vt:lpstr>
      <vt:lpstr>PowerPoint 簡報</vt:lpstr>
      <vt:lpstr>數值與範圍比較（Comparison）</vt:lpstr>
      <vt:lpstr>PowerPoint 簡報</vt:lpstr>
      <vt:lpstr>模糊查詢（Like）</vt:lpstr>
      <vt:lpstr>PowerPoint 簡報</vt:lpstr>
      <vt:lpstr>PowerPoint 簡報</vt:lpstr>
      <vt:lpstr>空值判斷（Null Check）</vt:lpstr>
      <vt:lpstr>集合遍歷（In / Not In）</vt:lpstr>
      <vt:lpstr>PowerPoint 簡報</vt:lpstr>
      <vt:lpstr>排序與分組（Order / Group By）</vt:lpstr>
      <vt:lpstr>PowerPoint 簡報</vt:lpstr>
      <vt:lpstr>高級邏輯控制（And / Or / Nesting）</vt:lpstr>
      <vt:lpstr>PowerPoint 簡報</vt:lpstr>
      <vt:lpstr>Mapper.xml語法</vt:lpstr>
      <vt:lpstr>PowerPoint 簡報</vt:lpstr>
      <vt:lpstr>1.基礎結構 (&lt;mapper&gt; 與 &lt;resultMap&gt;)</vt:lpstr>
      <vt:lpstr>PowerPoint 簡報</vt:lpstr>
      <vt:lpstr>2.增刪改查標籤 (CRUD)</vt:lpstr>
      <vt:lpstr>&lt;select&gt; (查詢)</vt:lpstr>
      <vt:lpstr>&lt;insert&gt; (新增)</vt:lpstr>
      <vt:lpstr>&lt;update&gt; (修改)</vt:lpstr>
      <vt:lpstr>&lt;delete&gt; (刪除)</vt:lpstr>
      <vt:lpstr>3.動態 SQL 語法 (Dynamic SQL)</vt:lpstr>
      <vt:lpstr>&lt;if&gt;：單一條件判斷，常配合 &lt;where&gt; 或 &lt;set&gt; 使用。</vt:lpstr>
      <vt:lpstr>PowerPoint 簡報</vt:lpstr>
      <vt:lpstr>PowerPoint 簡報</vt:lpstr>
      <vt:lpstr>4. 實用進階技巧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MaggieLee(TP-李禎惠)#8816</dc:creator>
  <cp:lastModifiedBy>Wistronits</cp:lastModifiedBy>
  <cp:revision>252</cp:revision>
  <dcterms:created xsi:type="dcterms:W3CDTF">2022-07-27T08:25:46Z</dcterms:created>
  <dcterms:modified xsi:type="dcterms:W3CDTF">2026-06-03T15:55:25Z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FF07B8458B19DFD0277DCE62D738DF18</vt:lpwstr>
  </property>
  <property fmtid="{D5CDD505-2E9C-101B-9397-08002B2CF9AE}" pid="3" name="KSOProductBuildVer">
    <vt:lpwstr>2052-4.4.1.7360</vt:lpwstr>
  </property>
</Properties>
</file>